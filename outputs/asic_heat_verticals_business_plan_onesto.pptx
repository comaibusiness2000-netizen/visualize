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e52c6ec9e44f96" /><Relationship Type="http://schemas.openxmlformats.org/officeDocument/2006/relationships/extended-properties" Target="/docProps/app.xml" Id="R551f28dd42e742cc" /><Relationship Type="http://schemas.openxmlformats.org/officeDocument/2006/relationships/officeDocument" Target="/ppt/presentation.xml" Id="R798556aad9d744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540925ff8344c6"/>
  </p:sldMasterIdLst>
  <p:notesMasterIdLst>
    <p:notesMasterId xmlns:r="http://schemas.openxmlformats.org/officeDocument/2006/relationships" r:id="R5d471edeb5a040d4"/>
  </p:notesMasterIdLst>
  <p:sldIdLst>
    <p:sldId xmlns:r="http://schemas.openxmlformats.org/officeDocument/2006/relationships" id="256" r:id="R78da6b4c0806427c"/>
    <p:sldId xmlns:r="http://schemas.openxmlformats.org/officeDocument/2006/relationships" id="257" r:id="R3b4fda27874643f7"/>
    <p:sldId xmlns:r="http://schemas.openxmlformats.org/officeDocument/2006/relationships" id="258" r:id="R7b4264a820884793"/>
    <p:sldId xmlns:r="http://schemas.openxmlformats.org/officeDocument/2006/relationships" id="259" r:id="R88344f7db2a948de"/>
    <p:sldId xmlns:r="http://schemas.openxmlformats.org/officeDocument/2006/relationships" id="260" r:id="Rf4e0a15bda8c4358"/>
    <p:sldId xmlns:r="http://schemas.openxmlformats.org/officeDocument/2006/relationships" id="261" r:id="R2b0ab576d6cf4550"/>
    <p:sldId xmlns:r="http://schemas.openxmlformats.org/officeDocument/2006/relationships" id="262" r:id="R9a426ae3d51b4e1c"/>
    <p:sldId xmlns:r="http://schemas.openxmlformats.org/officeDocument/2006/relationships" id="263" r:id="Re0abdf80d7b54ec7"/>
    <p:sldId xmlns:r="http://schemas.openxmlformats.org/officeDocument/2006/relationships" id="264" r:id="R82938173853b4843"/>
    <p:sldId xmlns:r="http://schemas.openxmlformats.org/officeDocument/2006/relationships" id="265" r:id="Rb1a4153fe85e4692"/>
    <p:sldId xmlns:r="http://schemas.openxmlformats.org/officeDocument/2006/relationships" id="266" r:id="R10851aa535014f61"/>
    <p:sldId xmlns:r="http://schemas.openxmlformats.org/officeDocument/2006/relationships" id="267" r:id="R6d6e62646c694d54"/>
    <p:sldId xmlns:r="http://schemas.openxmlformats.org/officeDocument/2006/relationships" id="268" r:id="R2eacc398e54b4fb2"/>
    <p:sldId xmlns:r="http://schemas.openxmlformats.org/officeDocument/2006/relationships" id="269" r:id="Rbe887eb4877e4576"/>
    <p:sldId xmlns:r="http://schemas.openxmlformats.org/officeDocument/2006/relationships" id="270" r:id="Rcfd5ef36e58f4108"/>
    <p:sldId xmlns:r="http://schemas.openxmlformats.org/officeDocument/2006/relationships" id="271" r:id="Ree0768a226db4938"/>
    <p:sldId xmlns:r="http://schemas.openxmlformats.org/officeDocument/2006/relationships" id="272" r:id="R99be8af342c74b76"/>
    <p:sldId xmlns:r="http://schemas.openxmlformats.org/officeDocument/2006/relationships" id="273" r:id="Reffe8f8820264798"/>
    <p:sldId xmlns:r="http://schemas.openxmlformats.org/officeDocument/2006/relationships" id="274" r:id="R239c8bb8a718441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98789eee5c47fd" /><Relationship Type="http://schemas.openxmlformats.org/officeDocument/2006/relationships/slideMaster" Target="/ppt/slideMasters/slideMaster1.xml" Id="Rfd540925ff8344c6" /><Relationship Type="http://schemas.openxmlformats.org/officeDocument/2006/relationships/notesMaster" Target="/ppt/notesMasters/notesMaster1.xml" Id="R5d471edeb5a040d4" /><Relationship Type="http://schemas.openxmlformats.org/officeDocument/2006/relationships/presProps" Target="/ppt/presProps.xml" Id="R8edf91f556464c97" /><Relationship Type="http://schemas.openxmlformats.org/officeDocument/2006/relationships/tableStyles" Target="/ppt/tableStyles.xml" Id="R35a902b1231f440c" /><Relationship Type="http://schemas.openxmlformats.org/officeDocument/2006/relationships/slide" Target="/ppt/slides/slide1.xml" Id="R78da6b4c0806427c" /><Relationship Type="http://schemas.openxmlformats.org/officeDocument/2006/relationships/slide" Target="/ppt/slides/slide2.xml" Id="R3b4fda27874643f7" /><Relationship Type="http://schemas.openxmlformats.org/officeDocument/2006/relationships/slide" Target="/ppt/slides/slide3.xml" Id="R7b4264a820884793" /><Relationship Type="http://schemas.openxmlformats.org/officeDocument/2006/relationships/slide" Target="/ppt/slides/slide4.xml" Id="R88344f7db2a948de" /><Relationship Type="http://schemas.openxmlformats.org/officeDocument/2006/relationships/slide" Target="/ppt/slides/slide5.xml" Id="Rf4e0a15bda8c4358" /><Relationship Type="http://schemas.openxmlformats.org/officeDocument/2006/relationships/slide" Target="/ppt/slides/slide6.xml" Id="R2b0ab576d6cf4550" /><Relationship Type="http://schemas.openxmlformats.org/officeDocument/2006/relationships/slide" Target="/ppt/slides/slide7.xml" Id="R9a426ae3d51b4e1c" /><Relationship Type="http://schemas.openxmlformats.org/officeDocument/2006/relationships/slide" Target="/ppt/slides/slide8.xml" Id="Re0abdf80d7b54ec7" /><Relationship Type="http://schemas.openxmlformats.org/officeDocument/2006/relationships/slide" Target="/ppt/slides/slide9.xml" Id="R82938173853b4843" /><Relationship Type="http://schemas.openxmlformats.org/officeDocument/2006/relationships/slide" Target="/ppt/slides/slide10.xml" Id="Rb1a4153fe85e4692" /><Relationship Type="http://schemas.openxmlformats.org/officeDocument/2006/relationships/slide" Target="/ppt/slides/slide11.xml" Id="R10851aa535014f61" /><Relationship Type="http://schemas.openxmlformats.org/officeDocument/2006/relationships/slide" Target="/ppt/slides/slide12.xml" Id="R6d6e62646c694d54" /><Relationship Type="http://schemas.openxmlformats.org/officeDocument/2006/relationships/slide" Target="/ppt/slides/slide13.xml" Id="R2eacc398e54b4fb2" /><Relationship Type="http://schemas.openxmlformats.org/officeDocument/2006/relationships/slide" Target="/ppt/slides/slide14.xml" Id="Rbe887eb4877e4576" /><Relationship Type="http://schemas.openxmlformats.org/officeDocument/2006/relationships/slide" Target="/ppt/slides/slide15.xml" Id="Rcfd5ef36e58f4108" /><Relationship Type="http://schemas.openxmlformats.org/officeDocument/2006/relationships/slide" Target="/ppt/slides/slide16.xml" Id="Ree0768a226db4938" /><Relationship Type="http://schemas.openxmlformats.org/officeDocument/2006/relationships/slide" Target="/ppt/slides/slide17.xml" Id="R99be8af342c74b76" /><Relationship Type="http://schemas.openxmlformats.org/officeDocument/2006/relationships/slide" Target="/ppt/slides/slide18.xml" Id="Reffe8f8820264798" /><Relationship Type="http://schemas.openxmlformats.org/officeDocument/2006/relationships/slide" Target="/ppt/slides/slide19.xml" Id="R239c8bb8a71844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b5918098c641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7359569cde4015" /><Relationship Type="http://schemas.openxmlformats.org/officeDocument/2006/relationships/notesMaster" Target="/ppt/notesMasters/notesMaster1.xml" Id="Raff2910b8c9740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32eceeff014cd8" /><Relationship Type="http://schemas.openxmlformats.org/officeDocument/2006/relationships/notesMaster" Target="/ppt/notesMasters/notesMaster1.xml" Id="R43e259971a5c47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47ef81f86249e0" /><Relationship Type="http://schemas.openxmlformats.org/officeDocument/2006/relationships/notesMaster" Target="/ppt/notesMasters/notesMaster1.xml" Id="Reb06025307a344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f7d870f4da49e9" /><Relationship Type="http://schemas.openxmlformats.org/officeDocument/2006/relationships/notesMaster" Target="/ppt/notesMasters/notesMaster1.xml" Id="Rcde197199ddc4e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48df8dcf344e7f" /><Relationship Type="http://schemas.openxmlformats.org/officeDocument/2006/relationships/notesMaster" Target="/ppt/notesMasters/notesMaster1.xml" Id="R63dfa49ae49444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89bdb8a93640fa" /><Relationship Type="http://schemas.openxmlformats.org/officeDocument/2006/relationships/notesMaster" Target="/ppt/notesMasters/notesMaster1.xml" Id="R765c84fe0b584e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56cba16cbe4472" /><Relationship Type="http://schemas.openxmlformats.org/officeDocument/2006/relationships/notesMaster" Target="/ppt/notesMasters/notesMaster1.xml" Id="Raf30c8a19dc04d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0ff3a9be2f4bf8" /><Relationship Type="http://schemas.openxmlformats.org/officeDocument/2006/relationships/notesMaster" Target="/ppt/notesMasters/notesMaster1.xml" Id="Rac7e597b217f43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b594b3a7a6469a" /><Relationship Type="http://schemas.openxmlformats.org/officeDocument/2006/relationships/notesMaster" Target="/ppt/notesMasters/notesMaster1.xml" Id="Rd04874665d634d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2d7c5eaab045b9" /><Relationship Type="http://schemas.openxmlformats.org/officeDocument/2006/relationships/notesMaster" Target="/ppt/notesMasters/notesMaster1.xml" Id="Refdbc55ecbb642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d40ae5227d478f" /><Relationship Type="http://schemas.openxmlformats.org/officeDocument/2006/relationships/notesMaster" Target="/ppt/notesMasters/notesMaster1.xml" Id="Rb58814f89b3a49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72a76cd07c4e45" /><Relationship Type="http://schemas.openxmlformats.org/officeDocument/2006/relationships/notesMaster" Target="/ppt/notesMasters/notesMaster1.xml" Id="R68f1d02e44514a4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5156bbe5554138" /><Relationship Type="http://schemas.openxmlformats.org/officeDocument/2006/relationships/notesMaster" Target="/ppt/notesMasters/notesMaster1.xml" Id="R9b8e98242ccb4c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5e69ef706d43ac" /><Relationship Type="http://schemas.openxmlformats.org/officeDocument/2006/relationships/notesMaster" Target="/ppt/notesMasters/notesMaster1.xml" Id="R42ad129ef8fd41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5279eb61d854203" /><Relationship Type="http://schemas.openxmlformats.org/officeDocument/2006/relationships/notesMaster" Target="/ppt/notesMasters/notesMaster1.xml" Id="R8b96a4b6483549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df04d275f884a75" /><Relationship Type="http://schemas.openxmlformats.org/officeDocument/2006/relationships/notesMaster" Target="/ppt/notesMasters/notesMaster1.xml" Id="R1b1c91ec035146d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ca7f490e7e64736" /><Relationship Type="http://schemas.openxmlformats.org/officeDocument/2006/relationships/notesMaster" Target="/ppt/notesMasters/notesMaster1.xml" Id="Rda8366ac01454ee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9316f1f544240d9" /><Relationship Type="http://schemas.openxmlformats.org/officeDocument/2006/relationships/notesMaster" Target="/ppt/notesMasters/notesMaster1.xml" Id="R6e3b3f823c9a437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1b80b3161594e68" /><Relationship Type="http://schemas.openxmlformats.org/officeDocument/2006/relationships/notesMaster" Target="/ppt/notesMasters/notesMaster1.xml" Id="Rffa506f04d3a44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spiegando il cambio rispetto alla famiglia media: qui non vendiamo acqua calda gratis, vendiamo un generatore di calore digitale per clienti che consumano calore molte ore.</a:t>
            </a:r>
          </a:p>
          <a:p xmlns:a="http://schemas.openxmlformats.org/drawingml/2006/main">
            <a:r>
              <a:t>Il deck confronta due modelli: hospitality/lavanderia/spa e processi di essiccazione agricola/legno/erbe.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e la sintesi brutale: la tecnologia e plausibile, ma il business non e provato.</a:t>
            </a:r>
          </a:p>
          <a:p xmlns:a="http://schemas.openxmlformats.org/drawingml/2006/main">
            <a:r>
              <a:t>Con 25-50k possiamo validare, non costruire una societa con magazzino, certificazioni proprietarie e rete installatori nazionale.</a:t>
            </a:r>
          </a:p>
          <a:p xmlns:a="http://schemas.openxmlformats.org/drawingml/2006/main">
            <a:r>
              <a:t>Se un partner interpreta questa slide come 'siamo pronti a scalare', bisogna fermarlo subito.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deve mettere a terra la conversazione: non stiamo dicendo che il business e gia fattibile, stiamo dicendo che e abbastanza plausibile da testare.</a:t>
            </a:r>
          </a:p>
          <a:p xmlns:a="http://schemas.openxmlformats.org/drawingml/2006/main">
            <a:r>
              <a:t>La parte piu debole oggi e la scalabilita: ogni installazione custom uccide margini e velocita.</a:t>
            </a:r>
          </a:p>
          <a:p xmlns:a="http://schemas.openxmlformats.org/drawingml/2006/main">
            <a:r>
              <a:t>La condizione per proseguire e avere dati misurati, non entusiasmo.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una frase semplice: un miner e una resistenza elettrica intelligente. Produce calore e contemporaneamente partecipa al mining.</a:t>
            </a:r>
          </a:p>
          <a:p xmlns:a="http://schemas.openxmlformats.org/drawingml/2006/main">
            <a:r>
              <a:t>Il recupero non crea energia gratis: sposta calore che altrimenti sarebbe buttato via. Il vantaggio nasce se quel calore sostituisce un costo reale.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rende il modello comprensibile: il cliente compra kWh elettrici e riceve BTC piu calore.</a:t>
            </a:r>
          </a:p>
          <a:p xmlns:a="http://schemas.openxmlformats.org/drawingml/2006/main">
            <a:r>
              <a:t>La soglia dipende da hashprice, rendimento termico e valore del calore sostituito. Se il cliente scalda gia a basso costo, il progetto diventa debole.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25-50k non devi inventare un miner. Devi mettere insieme componenti esistenti, sicurezza, dashboard e un sito pilota pagante.</a:t>
            </a:r>
          </a:p>
          <a:p xmlns:a="http://schemas.openxmlformats.org/drawingml/2006/main">
            <a:r>
              <a:t>Il rischio non e solo tecnico: se allaghi un locale tecnico o fai saltare un quadro, il prodotto e morto.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Questo e il modello piu semplice da spiegare a un partner commerciale: il cliente ha acqua calda e biancheria, noi riduciamo una parte del costo creando BTC come sottoprodotto.</a:t>
            </a:r>
          </a:p>
          <a:p xmlns:a="http://schemas.openxmlformats.org/drawingml/2006/main">
            <a:r>
              <a:t>Il vero prodotto e un servizio misurato, non il miner.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Qui devi essere netto: se l'impianto lavora 3.000 ore o meno, il modello e fragile.</a:t>
            </a:r>
          </a:p>
          <a:p xmlns:a="http://schemas.openxmlformats.org/drawingml/2006/main">
            <a:r>
              <a:t>Con 4.500 ore diventa una proposta borderline ma spiegabile; con 6.500 ore e buona energia diventa interessante.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i numeri ISTAT per mostrare che il mercato generale esiste.</a:t>
            </a:r>
          </a:p>
          <a:p xmlns:a="http://schemas.openxmlformats.org/drawingml/2006/main">
            <a:r>
              <a:t>Poi restringi subito: il nostro mercato servibile non sono 265 mila strutture, ma poche migliaia con profilo tecnico e commerciale adatto.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la differenza: nel modello hospitality vendiamo calore ricorrente; nel modello essiccazione vendiamo capacita produttiva.</a:t>
            </a:r>
          </a:p>
          <a:p xmlns:a="http://schemas.openxmlformats.org/drawingml/2006/main">
            <a:r>
              <a:t>Il cliente compra se l'essiccazione gli aumenta margine, velocita o qualita, non solo se risparmia energia.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conclusione e meno comoda ma piu vera: l'essiccazione e ottima solo se il ciclo e lungo o il valore del prodotto e alto.</a:t>
            </a:r>
          </a:p>
          <a:p xmlns:a="http://schemas.openxmlformats.org/drawingml/2006/main">
            <a:r>
              <a:t>Per un agricoltore stagionale con 500-1000 ore, non venderlo come impianto: al massimo noleggio stagionale o servizio condiviso.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numero grande delle aziende agricole non va venduto come TAM vero: la maggior parte non ha bisogno o capitale.</a:t>
            </a:r>
          </a:p>
          <a:p xmlns:a="http://schemas.openxmlformats.org/drawingml/2006/main">
            <a:r>
              <a:t>La parte interessante e il 6% che gia fa attivita connesse: trasformazione, energia, agriturismo, filiere locali.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aiuta il partner a scegliere focus: non si devono lanciare due mercati insieme con 50k.</a:t>
            </a:r>
          </a:p>
          <a:p xmlns:a="http://schemas.openxmlformats.org/drawingml/2006/main">
            <a:r>
              <a:t>Consiglio pragmatico: hospitality come wedge, essiccazione come opzione pilota dove c'e gia processo e alto valore prodotto.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startup guadagna su installazione, standardizzazione e servizio ricorrente. Non deve speculare sui BTC del cliente.</a:t>
            </a:r>
          </a:p>
          <a:p xmlns:a="http://schemas.openxmlformats.org/drawingml/2006/main">
            <a:r>
              <a:t>Il margine lordo deve stare sopra il 30%, altrimenti l'assistenza mangia tutto.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serve correre: il vincolo e fare installazioni ripetibili e sicure.</a:t>
            </a:r>
          </a:p>
          <a:p xmlns:a="http://schemas.openxmlformats.org/drawingml/2006/main">
            <a:r>
              <a:t>La scalabilita arriva quando un installatore terzo puo montare il kit senza il founder in cantiere.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proiezione e volutamente non da pitch gonfiato: Y1 perde soldi, Y2 pareggia solo se si vendono 30 impianti mixati.</a:t>
            </a:r>
          </a:p>
          <a:p xmlns:a="http://schemas.openxmlformats.org/drawingml/2006/main">
            <a:r>
              <a:t>La leva e vendere ticket piu alti a clienti B2B, non fare micro-installazioni domestiche.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serve a far vedere maturita: il business ha rischi fisici, non solo finanziari.</a:t>
            </a:r>
          </a:p>
          <a:p xmlns:a="http://schemas.openxmlformats.org/drawingml/2006/main">
            <a:r>
              <a:t>Non bisogna mai toccare custodia BTC o promettere rendimenti: diventerebbe un altro mestiere e un altro budget.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Chiudi chiedendo risorse concrete: clienti, installatore e budget. Se il partner porta solo entusiasmo, non basta.</a:t>
            </a:r>
          </a:p>
          <a:p xmlns:a="http://schemas.openxmlformats.org/drawingml/2006/main">
            <a:r>
              <a:t>La domanda finale e: abbiamo 5 siti adatti da misurare entro 90 giorni?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il partner chiede precisione assoluta, ribadisci che il deck e un business plan per decidere un pilota, non un'offerta tecnica definitiva.</a:t>
            </a:r>
          </a:p>
          <a:p xmlns:a="http://schemas.openxmlformats.org/drawingml/2006/main">
            <a:r>
              <a:t>Ogni cliente va modellato con la sua bolletta e il suo carico termico.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e04f4d433546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103707159d4fba" /><Relationship Type="http://schemas.openxmlformats.org/officeDocument/2006/relationships/slideLayout" Target="/ppt/slideLayouts/slideLayout1.xml" Id="R802d63848b5145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2d63848b5145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56da7180b490f" /><Relationship Type="http://schemas.openxmlformats.org/officeDocument/2006/relationships/notesSlide" Target="/ppt/notesSlides/notesSlide1.xml" Id="Rd8f2448fed4a47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88e4a79b8438e" /><Relationship Type="http://schemas.openxmlformats.org/officeDocument/2006/relationships/notesSlide" Target="/ppt/notesSlides/notesSlide2.xml" Id="R2081b27dbfaf4e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5b0f0a86f4a80" /><Relationship Type="http://schemas.openxmlformats.org/officeDocument/2006/relationships/notesSlide" Target="/ppt/notesSlides/notesSlide3.xml" Id="Rd708b12dd65d4f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638e5ea1d4757" /><Relationship Type="http://schemas.openxmlformats.org/officeDocument/2006/relationships/notesSlide" Target="/ppt/notesSlides/notesSlide4.xml" Id="Rbe17217576f844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1ef0189cc4231" /><Relationship Type="http://schemas.openxmlformats.org/officeDocument/2006/relationships/notesSlide" Target="/ppt/notesSlides/notesSlide5.xml" Id="Rc1eda9723b854e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7daf0f98045df" /><Relationship Type="http://schemas.openxmlformats.org/officeDocument/2006/relationships/notesSlide" Target="/ppt/notesSlides/notesSlide6.xml" Id="R3b5d5c7098824b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efc64a8c040d9" /><Relationship Type="http://schemas.openxmlformats.org/officeDocument/2006/relationships/notesSlide" Target="/ppt/notesSlides/notesSlide7.xml" Id="Rd4d38faffd6942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91b7064e64a70" /><Relationship Type="http://schemas.openxmlformats.org/officeDocument/2006/relationships/notesSlide" Target="/ppt/notesSlides/notesSlide8.xml" Id="Ra32ddd3736bb49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ea9c8d9404e04" /><Relationship Type="http://schemas.openxmlformats.org/officeDocument/2006/relationships/notesSlide" Target="/ppt/notesSlides/notesSlide9.xml" Id="Rdcf61ab883fb48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3a882111d4653" /><Relationship Type="http://schemas.openxmlformats.org/officeDocument/2006/relationships/notesSlide" Target="/ppt/notesSlides/notesSlide10.xml" Id="Rc587d687b56f42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27d08f23a43c6" /><Relationship Type="http://schemas.openxmlformats.org/officeDocument/2006/relationships/notesSlide" Target="/ppt/notesSlides/notesSlide11.xml" Id="Rf0a9f391df5741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064c4afb549b0" /><Relationship Type="http://schemas.openxmlformats.org/officeDocument/2006/relationships/notesSlide" Target="/ppt/notesSlides/notesSlide12.xml" Id="R6f9260bac0d048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2a537e3954bf2" /><Relationship Type="http://schemas.openxmlformats.org/officeDocument/2006/relationships/notesSlide" Target="/ppt/notesSlides/notesSlide13.xml" Id="R135a33374c2b4f8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98ed3c5084156" /><Relationship Type="http://schemas.openxmlformats.org/officeDocument/2006/relationships/notesSlide" Target="/ppt/notesSlides/notesSlide14.xml" Id="Rbf0c2d89028444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2f6157cc34cfe" /><Relationship Type="http://schemas.openxmlformats.org/officeDocument/2006/relationships/notesSlide" Target="/ppt/notesSlides/notesSlide15.xml" Id="R2a8819f640f64e7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c0e4c8d294e21" /><Relationship Type="http://schemas.openxmlformats.org/officeDocument/2006/relationships/notesSlide" Target="/ppt/notesSlides/notesSlide16.xml" Id="Rf66186554d414d9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2e353fa2846b8" /><Relationship Type="http://schemas.openxmlformats.org/officeDocument/2006/relationships/notesSlide" Target="/ppt/notesSlides/notesSlide17.xml" Id="R980583290f1e461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3e40b05fb4c1f" /><Relationship Type="http://schemas.openxmlformats.org/officeDocument/2006/relationships/notesSlide" Target="/ppt/notesSlides/notesSlide18.xml" Id="R9ecfac28c78641d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38eb9e61c4a13" /><Relationship Type="http://schemas.openxmlformats.org/officeDocument/2006/relationships/notesSlide" Target="/ppt/notesSlides/notesSlide19.xml" Id="R5d04dbe909ec47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0FCB74-238C-46E2-BC62-D509B12F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A646B"/>
                </a:solidFill>
              </a:defRPr>
            </a:pPr>
            <a:r>
              <a:rPr sz="1500" b="1">
                <a:solidFill>
                  <a:srgbClr val="5A646B"/>
                </a:solidFill>
              </a:rPr>
              <a:t>Business plan verticale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127CB-97B0-41BE-881D-2AF99AC2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9334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11111"/>
                </a:solidFill>
              </a:defRPr>
            </a:pPr>
            <a:r>
              <a:rPr sz="4050" b="0">
                <a:solidFill>
                  <a:srgbClr val="111111"/>
                </a:solidFill>
              </a:rPr>
              <a:t>ASIC heat per hospitality e processi di essiccazione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D1951-9E8C-4F29-8F54-6889AC78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6B"/>
                </a:solidFill>
              </a:defRPr>
            </a:pPr>
            <a:r>
              <a:rPr sz="1800" b="0">
                <a:solidFill>
                  <a:srgbClr val="5A646B"/>
                </a:solidFill>
              </a:rPr>
              <a:t>Due servizi reali in Italia: calore da mining Bitcoin usato dove serve molte ore, non come gadget domestico.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41D21-D4B3-4186-9D20-2B8013AC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6B"/>
                </a:solidFill>
              </a:defRPr>
            </a:pPr>
            <a:r>
              <a:rPr sz="1200" b="0">
                <a:solidFill>
                  <a:srgbClr val="5A646B"/>
                </a:solidFill>
              </a:rPr>
              <a:t>Preparato per partner non tecnico + discussione business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E401A-3090-41B3-87CC-9005DB10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867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A646B"/>
                </a:solidFill>
              </a:defRPr>
            </a:pPr>
            <a:r>
              <a:rPr sz="1200" b="0">
                <a:solidFill>
                  <a:srgbClr val="5A646B"/>
                </a:solidFill>
              </a:rPr>
              <a:t>2026-06-21</a:t>
            </a:r>
          </a:p>
        </p:txBody>
      </p:sp>
    </p:spTree>
    <p:extLst>
      <p:ext uri="{BB962C8B-B14F-4D97-AF65-F5344CB8AC3E}">
        <p14:creationId xmlns:p14="http://schemas.microsoft.com/office/powerpoint/2010/main" val="1203867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BAC756-7841-438C-8132-74224086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453E2-6DE7-4AA0-8DE8-DEE0EBEC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Verdetto: testabile, ma non ancora un business dimostrato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DCD25-09A3-4D39-8F2C-C7A3F2CB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La fattibilita non va confusa con il fatto che la tecnologia funzioni. Il punto critico e trovare clienti che usano abbastanza calore e pagano abbastanza margine.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540EF-EE2D-40F1-81D0-4A7BB4B5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095E6-11A3-432E-BEB6-55813642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76C62"/>
                </a:solidFill>
              </a:defRPr>
            </a:pPr>
            <a:r>
              <a:rPr sz="3150" b="0">
                <a:solidFill>
                  <a:srgbClr val="176C62"/>
                </a:solidFill>
              </a:rPr>
              <a:t>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8799C-A71F-4DCA-B6F9-D00F736E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Ha senso fare un pilota pagante: hospitality e lavanderie sono il primo target.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4501B-15C3-430F-8E85-80F7BEC0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48EB1-6AC9-4B64-90B0-E79CEC88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098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D27A29"/>
                </a:solidFill>
              </a:defRPr>
            </a:pPr>
            <a:r>
              <a:rPr sz="3150" b="0">
                <a:solidFill>
                  <a:srgbClr val="D27A29"/>
                </a:solidFill>
              </a:rPr>
              <a:t>Forse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E5725-8D3D-4572-9197-788B6D07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0040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Essiccazione: interessante solo con molte ore annue o prodotto ad alto valore.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8231F-300F-44BB-B7B4-86BE656C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F421D-DF82-4627-B10E-CFDD24BC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B84B3A"/>
                </a:solidFill>
              </a:defRPr>
            </a:pPr>
            <a:r>
              <a:rPr sz="3150" b="0">
                <a:solidFill>
                  <a:srgbClr val="B84B3A"/>
                </a:solidFill>
              </a:rPr>
              <a:t>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7469C-1238-45E2-A903-75768D74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0040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Non e pronta per vendita larga, famiglia media o promessa di rendita BTC.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CAAE3-FB0F-436A-A358-652161A6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6B86F-5D0B-4984-9E70-503C1ACF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098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F4C9B"/>
                </a:solidFill>
              </a:defRPr>
            </a:pPr>
            <a:r>
              <a:rPr sz="2700" b="0">
                <a:solidFill>
                  <a:srgbClr val="2F4C9B"/>
                </a:solidFill>
              </a:rPr>
              <a:t>MVP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9D9840-8418-485C-8732-4A825872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040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EUR 25-50k = dimostratore + LOI. Non e lancio commerciale.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108BD2-B138-4226-994B-54B96A01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Tesi onesta: validare il mercato con 5 siti paganti prima di investire in hardware, team o rete installatori.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536A0-69A2-430B-8559-7846F9A1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5C5A61-FFBB-4FB5-AA52-A5DE1CB6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14908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696110-39AC-40AF-BF6A-B46514F9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2220E-2DC9-426B-B88F-19CA343C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Fattibilita brutale: cosa e vero oggi e cosa 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6E154-F81B-454D-8938-C0026B65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Il progetto va trattato come esperimento commerciale misurato. Non e ancora un business plan bancabile senza dati pilota reali.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D84AB-2BCD-446F-B8A3-BDC29266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20E25-C8F3-4AD3-AADF-ED703F56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907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93FB1-CC55-4BC4-A64B-0A1D37AB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907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Valutazione onesta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C77BB-840F-443B-AB1A-5D9FA9BB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Perche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51BB6-4301-4401-80C4-C8E240D4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3EC38-A638-4728-AEE7-135AFBF6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Tecnologia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BB287-E53B-4512-91F9-E41E8E7C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7/10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5965A2-330C-4FB9-AFF7-520554D3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recuperare calore e fattibile con componenti esistenti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32A85E-124D-4CB0-9B40-69325F16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B054B-2019-4BE5-A2A2-751497D7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Hospitality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361C1-42D3-4EC0-8A92-F5013208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55/100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B469C-872C-4508-80CD-06254CD4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primo target, ma servono &gt;4.000 ore utili/anno e bollette reali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68C7B1-FD47-455B-B5E4-6001DF0C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C01C75-9C07-4C09-814A-DD9EE38D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Essiccazione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5830AB-235A-4EDB-B031-C5F4A6E6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195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40/100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317C86-418B-43EC-B0C9-583D7811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upside alto, ma piu stagionale e processo-specifico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248E88-35F9-42F6-95AA-AE5326B1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955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5D949F-6348-4F07-8519-AE632468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Scalabilita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B5C218-F92D-450D-8DA2-252E29B1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957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3/10 oggi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541845-A913-4DFC-840C-2912FCAE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troppo custom finche non esiste kit ripetibile e installatori formati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E56B8E-213B-429C-8CAA-CD13C563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342EC3-489F-4F80-A949-39E6DB36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Budget 25-50k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726597-6801-4A86-986B-FE7FC577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720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6/10 per validare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E991AD-EAAC-4BA4-861B-D0211C30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7200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basta per MVP e LOI, non per lanciare societa industriale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C84D6A-C830-40BD-B961-7CC36E61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209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2C6B58-6B45-4077-807C-7D38B05B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14550"/>
            <a:ext cx="2190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B367CD-E7F5-41E2-9A68-9751B692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14550"/>
            <a:ext cx="71056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90658C-EBBC-4017-ADA9-888993B2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B3A"/>
                </a:solidFill>
              </a:defRPr>
            </a:pPr>
            <a:r>
              <a:rPr sz="1650" b="1">
                <a:solidFill>
                  <a:srgbClr val="B84B3A"/>
                </a:solidFill>
              </a:rPr>
              <a:t>Decisione corretta: partire solo se il partner accetta metriche di stop/go e non vuole vendere una storia piu forte dei dati.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E50EBB-7470-4902-AB1B-28564102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B230EA-C956-410C-B859-CE776BAE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340611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352C57-5EEF-48D2-9B49-4FF41335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6E288-51EC-4537-A98E-7712973A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Spiegazione da zero: un ASIC e una stufa che produce anche Bitcoin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090CE-D8E3-4213-B78C-21C79635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Un ASIC usa elettricita per fare calcoli della rete Bitcoin. Quasi tutta quell'elettricita diventa calore. Il nostro servizio cattura il calore e lo manda dove serve.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CFEA9-ABBD-4D23-BBB4-0EA4D20F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8130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63CF1-F1AE-4852-B444-397ADA54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Elettricita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3ECC4-5A48-4F2E-8482-40909793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da rete, FV o mix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79C1D-45B3-4B35-9FA7-02DEC527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86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A646B"/>
                </a:solidFill>
              </a:defRPr>
            </a:pPr>
            <a:r>
              <a:rPr sz="2100" b="0">
                <a:solidFill>
                  <a:srgbClr val="5A646B"/>
                </a:solidFill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49C07-18A8-48C4-824D-52D9AF7B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8130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B1360-6DE8-4B4B-B851-2E0ABE51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099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ASIC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DECF8-C307-4DF0-89CF-053A0F90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433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calcolo Bitcoin + calore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A44F3-AAA9-40A4-8D10-5D32F0CC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86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A646B"/>
                </a:solidFill>
              </a:defRPr>
            </a:pPr>
            <a:r>
              <a:rPr sz="2100" b="0">
                <a:solidFill>
                  <a:srgbClr val="5A646B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FAA14-85E9-4C19-8C4E-CE9E644B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B6AA8-AF18-4691-8855-149D6F14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099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Scambio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A51CF-BAB3-4D2B-A8A9-CA7A7A74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433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separa miner e impianto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2EE49-EAC4-44A6-99FF-3E4A7077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86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A646B"/>
                </a:solidFill>
              </a:defRPr>
            </a:pPr>
            <a:r>
              <a:rPr sz="2100" b="0">
                <a:solidFill>
                  <a:srgbClr val="5A646B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74233-299B-4302-80F2-339C4083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948EEF-AE02-42FA-A88A-D8C3B106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99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Accumulo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D349C9-08B4-4F68-B5EF-1CA59251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433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acqua o aria calda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80DEC6-0E0C-45A3-8D07-AC0EEAF3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86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A646B"/>
                </a:solidFill>
              </a:defRPr>
            </a:pPr>
            <a:r>
              <a:rPr sz="2100" b="0">
                <a:solidFill>
                  <a:srgbClr val="5A646B"/>
                </a:solidFill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80138B-7694-4CC9-A415-32565CA1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81300"/>
            <a:ext cx="180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36B905-081D-4EA9-AC8D-660B0FC8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099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Cliente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47F287-2D6D-4EB6-B5A6-A93971B3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4330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ACS, lavanderia, spa, essiccazione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0FCD6B-110D-4D62-8A55-1E8AE812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Un S21 assorbe 3.56 kW: circa 3 kW diventano calore utile se il recupero rende 85%.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194704-F504-479E-A1D7-29EBF5B9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24215F-1C80-4E3A-9F63-3C97679E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304512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9C4D02-A733-4401-BE88-3C66AF6C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026BA-F7B7-492E-8B65-40FA6EE9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La regola economica: elettricita sotto la soglia, oppure non funziona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99A6C-7CB8-4B1B-90EE-C69E9B1E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Ogni kWh elettrico speso produce due ritorni: BTC e calore utile. Se il costo del kWh supera questi ritorni, il cliente perde soldi.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4746E-09AB-4D6A-A9C6-D74BB94D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85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1FB88-5445-4065-B0CD-3B3F92EA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F4C9B"/>
                </a:solidFill>
              </a:defRPr>
            </a:pPr>
            <a:r>
              <a:rPr sz="2550" b="0">
                <a:solidFill>
                  <a:srgbClr val="2F4C9B"/>
                </a:solidFill>
              </a:rPr>
              <a:t>BTC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AC50D-153B-4FA3-B587-EA85CFA8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2400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EUR 62 per MWh elettrico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alle condizioni modello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FD50B-E382-4DB7-AAD2-E145ACAA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480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5A646B"/>
                </a:solidFill>
              </a:defRPr>
            </a:pPr>
            <a:r>
              <a:rPr sz="3150" b="0">
                <a:solidFill>
                  <a:srgbClr val="5A646B"/>
                </a:solidFill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B9F48-C800-4109-9CBC-2E0AB124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62200"/>
            <a:ext cx="285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C913DB-1591-4ACB-A212-1DCEE621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9080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76C62"/>
                </a:solidFill>
              </a:defRPr>
            </a:pPr>
            <a:r>
              <a:rPr sz="2550" b="0">
                <a:solidFill>
                  <a:srgbClr val="176C62"/>
                </a:solidFill>
              </a:rPr>
              <a:t>Calore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88A70-88E3-476D-90C8-9541351C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81350"/>
            <a:ext cx="2400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85% del kWh diventa calore utile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se il sito lo assorbe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0ECA3-5834-4251-A209-A5150DDC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480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5A646B"/>
                </a:solidFill>
              </a:defRPr>
            </a:pPr>
            <a:r>
              <a:rPr sz="3150" b="0">
                <a:solidFill>
                  <a:srgbClr val="5A646B"/>
                </a:solidFill>
              </a:rPr>
              <a:t>=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C1CDC-3055-4343-A01D-222F090F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2571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5634E-78A6-4981-BB2F-1BD09DAF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908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B84B3A"/>
                </a:solidFill>
              </a:defRPr>
            </a:pPr>
            <a:r>
              <a:rPr sz="2550" b="0">
                <a:solidFill>
                  <a:srgbClr val="B84B3A"/>
                </a:solidFill>
              </a:rPr>
              <a:t>Soglia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F67EE-6CF1-4F73-9F4F-42808A5E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81350"/>
            <a:ext cx="2114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Con calore a EUR 0,16/kWh: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energia max 19,8 cent/kWh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3E1110-6746-492E-BD2A-86437C25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Tradotto: con energia industriale a 18-25 cent/kWh serve calore molto prezioso; con FV/surplus o contratti buoni diventa molto piu realistico.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28A8C3-29E1-4C88-B3A0-DE9CCF0B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D002F-966F-43D4-8AB2-0DF7F50A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488104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3597C2-6FF8-44F6-B871-B918DD30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692A4-AF27-4822-9DEE-F5960833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Cosa serve per iniziare: non hardware proprietario, ma un kit integrato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E43F5-8A27-47F1-9E4D-DBAB2EE1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54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E817D-609E-4855-BF58-C828C671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943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Blocco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8176D-DA70-4A76-9C05-6792961F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52600"/>
            <a:ext cx="6896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Cosa include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060AE-C5CD-43E1-9AB3-66C8F9A8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52600"/>
            <a:ext cx="20955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Costo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3D301-F79E-46C9-B003-B17E8129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5675"/>
            <a:ext cx="11391900" cy="54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B0B20-326F-4712-B3BA-DB077010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01875"/>
            <a:ext cx="1943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Miner + raffreddamento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7AAB7-4E06-4154-B3FF-C090C24D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01875"/>
            <a:ext cx="6896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1-2 ASIC, airflow/hydro/immersione leggera, isolamento acustico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1A484-47A6-4655-90E4-7C1950B1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1875"/>
            <a:ext cx="20955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4-10k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37E82-570D-4321-82C5-6724C914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74950"/>
            <a:ext cx="11391900" cy="54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A3A85-C01E-4A8A-AA0A-6B3C675B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1150"/>
            <a:ext cx="1943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Termotecnica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9E5457-55D8-416E-A409-4D28038E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1150"/>
            <a:ext cx="6896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Scambiatore, pompe, valvole, puffer/boiler, sensori temperatura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3A2D97-D285-4773-BC68-844798CC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1150"/>
            <a:ext cx="20955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6-14k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19395-A786-49C6-8D0B-3EBA7AC7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24225"/>
            <a:ext cx="11391900" cy="54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95E28-B4D3-42F1-A5C9-46268155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00425"/>
            <a:ext cx="1943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Elettrico/sicurezza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628FC9-5F80-4A2C-A89C-DCC0F4E0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00425"/>
            <a:ext cx="6896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Linea dedicata, quadro, protezioni, sezionamento, allarmi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BE1205-9662-49E2-89FE-1655EAC6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00425"/>
            <a:ext cx="20955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3-8k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C432BB-CDC5-4B9F-AC88-584C706B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73500"/>
            <a:ext cx="11391900" cy="54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C2518D-CF85-4B4B-B514-29895B48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49700"/>
            <a:ext cx="1943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Software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2238B9-785E-4E0A-87EC-3574E584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49700"/>
            <a:ext cx="6896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Dashboard, log energia, allarmi, spegnimento automatico, 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1EF77D-80C9-43B4-B55A-16AB3C6A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49700"/>
            <a:ext cx="20955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5-15k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9FDD69-AB41-4556-A476-4FFEB421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22775"/>
            <a:ext cx="11391900" cy="54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BD2BD0-814F-4C04-A76E-75BAAA0E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98975"/>
            <a:ext cx="1943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Assicurazione/legale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7B8278-1590-4114-8869-E839BF8E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98975"/>
            <a:ext cx="68961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RC installazione, contratti, privacy, non-custody BTC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B1C5B4-F1C7-461D-9860-E96F2C85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8975"/>
            <a:ext cx="2095500" cy="43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3-8k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B595B6-0BA1-4E70-A1CA-52BE3712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0955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F69CC5-3DD0-4B0A-940D-7E1E6FE1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76400"/>
            <a:ext cx="70485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B6342F-8D99-4194-BA9B-CDEF89EF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76400"/>
            <a:ext cx="224790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B5D79E-A927-42FA-9D7E-222860AE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Budget 25-50k: un dimostratore serio + telemetria + vendita pilota. Lancio commerciale minimo: 120-250k.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A212E6-8222-4F1F-9914-49A5706C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6EE532-4AE8-4383-B900-FF951765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687931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759EC4-E5E8-4DD5-8982-A236CE46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1812A-9901-4E47-A703-2DD1132B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Modello 1: agriturismi, B&amp;B, spa e lavanderie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C09AA-B057-4CDB-BFDF-BAC3F7E6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Il servizio installa uno o piu moduli ASIC termici per coprire acqua calda, lavanderia, spa/piscina o integrazione di puffer esistenti.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49DCD-69E6-4405-B855-65687E79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571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99C26-B789-4C08-BD92-C6235255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6C62"/>
                </a:solidFill>
              </a:defRPr>
            </a:pPr>
            <a:r>
              <a:rPr sz="2100" b="0">
                <a:solidFill>
                  <a:srgbClr val="176C62"/>
                </a:solidFill>
              </a:rPr>
              <a:t>Cliente ideale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428EA-8A10-4D95-BC9D-713C4C07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21145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Proprietario presente, FV o energia buona, ACS alta, lavanderia, locale tecnico e sensibilita a costi energia.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D36F5-46F5-4805-8873-8C20466C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2571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C92D1-70B8-497B-B3BC-0EAE11D2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F4C9B"/>
                </a:solidFill>
              </a:defRPr>
            </a:pPr>
            <a:r>
              <a:rPr sz="2100" b="0">
                <a:solidFill>
                  <a:srgbClr val="2F4C9B"/>
                </a:solidFill>
              </a:rPr>
              <a:t>Offerta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C4C0F-4449-4B76-87C6-49D74588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86100"/>
            <a:ext cx="21145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Vendita/installazione kit + dashboard + manutenzione mensile. Nessuna custodia BTC.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A9DBD-5ADD-4171-A82F-F19125B4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2571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655B7-8363-4488-A2F4-FE030286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27A29"/>
                </a:solidFill>
              </a:defRPr>
            </a:pPr>
            <a:r>
              <a:rPr sz="2100" b="0">
                <a:solidFill>
                  <a:srgbClr val="D27A29"/>
                </a:solidFill>
              </a:rPr>
              <a:t>Prezzo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B054E-3446-47BC-9191-9B7173EA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86100"/>
            <a:ext cx="21145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EUR 18-30k per 1-2 ASIC installati; EUR 99-250/mese monitoring e assistenza.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2A22E-7AC2-4E6E-A28F-A0224381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66950"/>
            <a:ext cx="2571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E2B5E-96D8-4A45-8ECF-DBDBBD83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D4B96"/>
                </a:solidFill>
              </a:defRPr>
            </a:pPr>
            <a:r>
              <a:rPr sz="2100" b="0">
                <a:solidFill>
                  <a:srgbClr val="6D4B96"/>
                </a:solidFill>
              </a:rPr>
              <a:t>Perche ora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9F9F1-FFE6-46F3-84C9-AEBDE2A2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86100"/>
            <a:ext cx="21145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Turismo record, extra-alberghiero in crescita, costi energia ancora sensibili.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37B5E5-2BBD-44CA-B0AB-A9737717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Go-to-market iniziale: 5 piloti in strutture con bollette reali e contatore termico. Senza dati kWh, niente promessa commerciale.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5D7602-44AB-417F-90C1-F93F42BC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 mercato: ISTAT ASI 2025 Turismo; modello economico interno BTC/ASIC.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09E429-3CE0-4570-BCFA-16D68106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978670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4817DC-54B6-4B62-A719-256640DC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0DE60-1DA6-42F4-BB34-10E92BFF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Economics cliente hospitality: funziona solo sopra 4.000 ore utili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B1596-C250-4609-A090-5689AF6F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8638C-B1E7-4BE5-A04B-297440EB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Caso 2 ASIC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7C16E-BD14-4456-BE6E-BF123337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379" y="1752600"/>
            <a:ext cx="1297478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Ore utili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FE92E-54C8-4484-85F7-82F2B259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257" y="1752600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Energia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FA9B9-89A1-44FE-AA4E-BCB011E4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075" y="1752600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Calore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78CF4-7019-45B1-853C-64937AF5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204" y="1752600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Netto annuo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F0146-C056-4890-9279-1EC2CFDF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021" y="1752600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Payback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DE739-8CE8-418A-8F32-72A7D65C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86025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C0E7E-23A0-47DB-8B82-99958D27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62225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Debole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949E3-C6BF-4CAC-91B7-6C6269C1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379" y="2562225"/>
            <a:ext cx="1297478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3.000 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D3430-AF85-443C-ADDC-6EE516B0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257" y="2562225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21.360 kWh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8136B-248E-4B45-AB0B-033B72BD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075" y="2562225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18,2 MWh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CB182-3432-4025-910C-8C42AFB5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204" y="2562225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-332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89199-836C-4153-A672-5727EFE7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021" y="2562225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mai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16CD7-A0CB-4B20-AC5A-6AC0E01D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F94E6-2FBA-4C37-ABE6-11DC450F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05A3FC-7FA7-48DD-BADF-57CAF670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379" y="3371850"/>
            <a:ext cx="1297478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4.500 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3D8A2A-E207-481B-B41F-97E445B0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257" y="3371850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32.040 kWh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DAC4AB-98DD-47A3-8992-0BA6D05D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075" y="3371850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27,2 MWh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EDCDC4-057F-47F6-A8F7-3501E2D1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204" y="3371850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2514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4BB366-7F93-42C4-B084-B6D14E22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021" y="3371850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9,5 anni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B5D5F4-BCF4-40EC-97F5-2AA558C1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8FC0FB-695A-4FBF-BB2A-968FAAF2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81475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Buono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D0C671-A9A9-4C20-A258-889FEC49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379" y="4181475"/>
            <a:ext cx="1297478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6.500 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803B3E-8AB7-4A3D-9075-8B9668C9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257" y="4181475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46.280 kWh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16E476-4091-43BB-AC21-7D2192BB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075" y="4181475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39,3 MWh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D1BBEA-2C8B-4BA5-90A0-C654EAB5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204" y="4181475"/>
            <a:ext cx="2022417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5806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CB9B45-1CF4-4D2A-BAFD-A5A200AA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021" y="4181475"/>
            <a:ext cx="1711729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4,1 anni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2F1183-D76D-45D7-A038-1B8DDE7D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864129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A4BE2A-27F4-4A21-B009-530E3D0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179" y="1676400"/>
            <a:ext cx="1449878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DBBA9D-3763-4EF5-9948-DA83D3C3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057" y="1676400"/>
            <a:ext cx="2174817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598E53-0D47-4676-89A9-5978CD88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875" y="1676400"/>
            <a:ext cx="1864129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F5FB02-2C9B-477D-9C95-80931AD0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004" y="1676400"/>
            <a:ext cx="2174817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A682FC-F0CE-4C19-A4BB-BD1ACD61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7821" y="1676400"/>
            <a:ext cx="1864129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7F1FCC-29D9-4E8E-B245-9D51A315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53075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7DBA8B-0B58-434A-90FF-BC4A86F3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53075"/>
            <a:ext cx="295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697EE1-A1A2-405D-8AE0-26BF9150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7690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-332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E7C4A9-B830-43D6-B042-217E32E0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38850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Debole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1FFAC7-42B2-40BC-8977-A17BBA85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5432389"/>
            <a:ext cx="2959100" cy="1206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A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FA7EF5-B22A-4937-9212-BB2C06EE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5165689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2514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CAB1DB-424F-4571-A489-799F1C3E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6038850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Base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F6BF8A-9861-473E-9F17-7C256749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0" y="5274329"/>
            <a:ext cx="2959100" cy="2787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C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96FECE-E620-45CE-B100-89EA0A24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5007629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5806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F0150F-3C91-4D8D-95B1-6D2A5EDE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6038850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Buono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5AD182-A247-4FB8-8480-E8D2A280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43DF7F-6BEE-477B-A16A-964DBCAE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180846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8B6070-45B0-4331-A3A3-AB31577B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2B873-4489-442D-806D-78ABF3CB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Mercato hospitality: grande in superficie, selettivo nella pratica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C044C-E3BE-437C-8574-413B7D2A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ISTAT 2024 fotografa un mercato ricettivo enorme, ma il nostro cliente non e ogni struttura: serve carico termico, spazio tecnico e decisione rapida.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BCA14-E543-45CD-83F2-5F7F66A3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428875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34E6A-2A50-4F5E-B857-3929AB84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1971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6C62"/>
                </a:solidFill>
              </a:defRPr>
            </a:pPr>
            <a:r>
              <a:rPr sz="2700" b="0">
                <a:solidFill>
                  <a:srgbClr val="176C62"/>
                </a:solidFill>
              </a:rPr>
              <a:t>466,2M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F8C49-1282-40A7-822F-F114678D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19716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Presenze turistiche Italia 2024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5CD7F-5FAA-4C64-B801-A370AC70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2428875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E39B7-CDC4-432C-9AB1-3E83B220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95550"/>
            <a:ext cx="1971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F4C9B"/>
                </a:solidFill>
              </a:defRPr>
            </a:pPr>
            <a:r>
              <a:rPr sz="2700" b="0">
                <a:solidFill>
                  <a:srgbClr val="2F4C9B"/>
                </a:solidFill>
              </a:rPr>
              <a:t>32.943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CF630-2466-4546-82D1-1DA849FB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86100"/>
            <a:ext cx="19716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Esercizi alberghieri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7DEA01-973A-4446-A8A8-3198B696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66950"/>
            <a:ext cx="2428875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37B00-C785-40A8-A457-A06F476C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95550"/>
            <a:ext cx="1971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D27A29"/>
                </a:solidFill>
              </a:defRPr>
            </a:pPr>
            <a:r>
              <a:rPr sz="2700" b="0">
                <a:solidFill>
                  <a:srgbClr val="D27A29"/>
                </a:solidFill>
              </a:rPr>
              <a:t>21.215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07FDEE-DCFB-46FA-8F99-B54EBA22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86100"/>
            <a:ext cx="19716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Agriturismi ricettivi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2B8FC7-2CE3-4D1C-AB21-757DD75F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2428875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21870-B896-4E7A-BE1F-F7605186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95550"/>
            <a:ext cx="1971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6D4B96"/>
                </a:solidFill>
              </a:defRPr>
            </a:pPr>
            <a:r>
              <a:rPr sz="2700" b="0">
                <a:solidFill>
                  <a:srgbClr val="6D4B96"/>
                </a:solidFill>
              </a:rPr>
              <a:t>35.015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66CF9A-807C-4610-8DD6-9665C74B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86100"/>
            <a:ext cx="19716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B&amp;B rilevati da ISTAT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60209-9C2C-4B3D-8FD8-DED70D09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956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695261-DADE-4F87-80FB-F6637B35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1965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Filtro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5BD85C-A8FD-438E-B708-AA8AF5A7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196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Italia stimata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5E57A3-6EB2-4570-B365-31847217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819650"/>
            <a:ext cx="550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Perche entra nel SAM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B29349-0938-4780-82DD-0080F2AF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48250"/>
            <a:ext cx="956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0B85C2-5297-49C0-AFCE-FEC6B794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Carico termico alto + FV/energia buona + proprietario operativo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C0140-7B8E-41F6-A85B-59E2AE82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1244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3.000-8.000 siti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3197DE-3884-4EB2-B76C-D8C5832A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124450"/>
            <a:ext cx="550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agriturismi, piccoli hotel, spa, lavanderie, strutture montane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C6DBAB-3925-4F21-8592-7E5713D1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53050"/>
            <a:ext cx="956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4DA273-D6C8-4C65-A270-D5F96715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2925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SOM 3 anni realistico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6EC47C-2979-438F-9412-8FDFBB2E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292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100-250 installazioni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54CCD7-BB10-46F3-A4BF-E859B914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429250"/>
            <a:ext cx="550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dipende da installatori e casi studio misurati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3AFC22-C6A3-4454-BD9A-FCF81A26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E4B96C-7860-4A07-80AC-19F03E25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43450"/>
            <a:ext cx="180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0C6862-A21F-4C06-A3E6-558CEA78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43450"/>
            <a:ext cx="5657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152474-77B8-4680-8801-8E673C9A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Fonte: ISTAT ASI 2025 Turismo, Prospetto 19.1 e 19.2; stime SAM/SOM interne.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AA0C0C-F241-47C6-BD2B-57905A66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481199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04C456-B539-4BE9-8E3F-8229A55A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6EC0A-1E88-4A5F-AC55-D8F0B29F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Modello 2: essiccazione agricola, legno ed erbe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8F125-8592-47F8-8316-F2231937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Qui il calore non serve per comfort, ma per processo: asciugare prodotto, ridurre tempi, stabilizzare qualita e liberare spazio di magazzino.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96FC7-3E1B-40B2-9BFC-288035B3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5717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FD726-425B-4C9D-B5B8-EAAF6378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6C62"/>
                </a:solidFill>
              </a:defRPr>
            </a:pPr>
            <a:r>
              <a:rPr sz="2100" b="0">
                <a:solidFill>
                  <a:srgbClr val="176C62"/>
                </a:solidFill>
              </a:rPr>
              <a:t>Agricolo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88C3C-D1F2-417A-B688-C0E42931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2114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Erbe officinali, peperoncino, frutta, funghi, piccoli lotti premium, foraggio di nicchia.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BD666-5D62-457F-BF1A-7EFBD5CC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25717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192E7-8A04-4519-A0B1-0C60E433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27A29"/>
                </a:solidFill>
              </a:defRPr>
            </a:pPr>
            <a:r>
              <a:rPr sz="2100" b="0">
                <a:solidFill>
                  <a:srgbClr val="D27A29"/>
                </a:solidFill>
              </a:rPr>
              <a:t>Legno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ECE06-187B-4650-9123-A7B78C79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86100"/>
            <a:ext cx="2114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Legna da ardere premium, tavole piccole, falegnamerie e micro-sawmill con cella.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E9513-FD31-48F0-88C4-0F4B6D5B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25717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5B0CC-2164-4DEC-BCD0-05071CFA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F4C9B"/>
                </a:solidFill>
              </a:defRPr>
            </a:pPr>
            <a:r>
              <a:rPr sz="2100" b="0">
                <a:solidFill>
                  <a:srgbClr val="2F4C9B"/>
                </a:solidFill>
              </a:rPr>
              <a:t>Servizio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B1A44-48D3-49BF-B38C-945DBDE9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86100"/>
            <a:ext cx="2114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Modulo aria calda 2-6 ASIC + sensori umidita/temperatura + ricette di processo.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3B072-4675-4B99-85C0-237020FA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66950"/>
            <a:ext cx="25717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78B94-4AE5-40BF-AEF7-F0A95805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9555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84B3A"/>
                </a:solidFill>
              </a:defRPr>
            </a:pPr>
            <a:r>
              <a:rPr sz="2100" b="0">
                <a:solidFill>
                  <a:srgbClr val="B84B3A"/>
                </a:solidFill>
              </a:rPr>
              <a:t>Rischio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B3A8F-2EB9-4BA2-8D5D-7C493190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86100"/>
            <a:ext cx="2114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Stagionalita: se lavora poche settimane, il payback crolla.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F4259E-C3EA-4A41-8BCF-F23649E8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Questo modello puo battere hospitality solo se il processo gira 3.500-5.000 ore/anno o se il prodotto essiccato ha alto margine.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272C4-020C-44EC-B012-E3A54ADA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Fonte: ISTAT ASI 2025 Agricoltura; assunzioni operative interne su essiccazione.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F4DB50-F6CD-4DDA-A53B-3BC0F365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030488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AD2DB7-08B9-4476-BFDD-E8718C9C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CD19B-4565-451A-9EE1-B235194A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Economics essiccazione: ore e valore del calore decidono tutto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BB3C1-952D-4654-97E5-B59D7835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362EE-7B2F-4511-8A20-69B4CE75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90019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Caso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0630F-DEB1-426E-A7AE-5C76CC87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45" y="1752600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Modulo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F9926-CF7A-41DE-9F32-7FF5D681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291" y="1752600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Ore utili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28B37-4EA2-4CF4-B914-E15FB56B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736" y="1752600"/>
            <a:ext cx="200282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Calore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AC38D-1631-4B80-9346-B51EEA30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961" y="1752600"/>
            <a:ext cx="210545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Netto annuo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A7C82-6F80-482E-93FB-4AFBF712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815" y="1752600"/>
            <a:ext cx="169493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Payback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D1CE4-7C9A-467E-BCE6-5D58C5BF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86025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FC556-0CA0-4342-987C-632EB4CF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62225"/>
            <a:ext cx="190019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Stagionale debole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54A88-DBF3-4078-8552-D5F2D07D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45" y="2562225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 ASIC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475B5-DAD9-46E0-9BB6-C14EEA37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291" y="2562225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2.000 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904082-0754-437D-A642-9C730914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736" y="2562225"/>
            <a:ext cx="200282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24,2 MWh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7F9CB-E1CF-4B64-AF22-0A430FBA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961" y="2562225"/>
            <a:ext cx="210545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1750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833BC9-F901-4061-9AE0-9F2787A4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815" y="2562225"/>
            <a:ext cx="169493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25,7 anni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CD88A-E9CE-47E6-8FF2-95A0B9DC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DA30D6-CFB8-47FC-8E91-8D500628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190019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Base difendibile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B0B8E4-2DBB-42F9-9F8F-54838D09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45" y="3371850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 ASIC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777241-4D63-4033-A743-98165A89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291" y="3371850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4.000 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AC7A4B-5021-4190-8C25-E91738D8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736" y="3371850"/>
            <a:ext cx="200282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48,4 MWh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DCF26C-A988-40A0-8104-4B377990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961" y="3371850"/>
            <a:ext cx="210545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5609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205FC4-922C-4B6F-B82D-38E591C5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815" y="3371850"/>
            <a:ext cx="169493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8 anni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E0A6B1-4048-41C6-AEAF-BDCD3581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113919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74A72-8E93-4334-9BDC-064F5990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81475"/>
            <a:ext cx="190019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Buono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8EE90B-C4AC-4D42-A963-010D4AD0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45" y="4181475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6 ASIC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7A78E1-98FE-4FB4-8D50-7421297A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291" y="4181475"/>
            <a:ext cx="1387046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5.000 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B638FB-9272-420A-9BA0-9A139A7A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736" y="4181475"/>
            <a:ext cx="200282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90,8 MWh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BBAC61-C0A8-4F63-AEB7-95D9190E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961" y="4181475"/>
            <a:ext cx="2105454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14.468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20EFAA-202E-4AE3-B68B-4BFA38FF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815" y="4181475"/>
            <a:ext cx="169493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4,7 anni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D394C0-5AF3-4A91-A65F-9C8B9668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05259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56AEAA-D5D6-49E9-86E9-810E4C1F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45" y="1676400"/>
            <a:ext cx="1539446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2A969D-AAB4-4CF6-9717-D6C874C3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091" y="1676400"/>
            <a:ext cx="1539446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A935D9-3475-4DDC-88B1-56798F87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536" y="1676400"/>
            <a:ext cx="2155224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813C96-EF9E-4DC8-B995-ED9EDC0C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761" y="1676400"/>
            <a:ext cx="2257854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2F4DC0-BC90-4EB0-BA52-5DF415F3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615" y="1676400"/>
            <a:ext cx="184733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396B98-975F-4D9C-BA52-C904B63D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53075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ACC9CD-7D8F-4A00-ADCE-62ECB17E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05450"/>
            <a:ext cx="295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263F17-3E12-403F-8A02-CA7A599D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1750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6F281E-0A7A-45FE-9004-0F6E5FE6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38850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Debole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76A0D8-5A45-4237-9B4F-32A6A69F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5436403"/>
            <a:ext cx="2959100" cy="116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A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3ECFBE-CB00-4903-8333-3E1703AC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5169703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5609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2661A8-C27C-4549-AB49-23E6F2F0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6038850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Base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ADE99D-E92E-4EC3-887B-FDD14A5C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0" y="5252112"/>
            <a:ext cx="2959100" cy="300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C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0F4D54-2303-482E-9C7F-32A09E4D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4985412"/>
            <a:ext cx="311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14.468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FA1E1D-939F-4979-8129-F4CFE535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6038850"/>
            <a:ext cx="311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Buono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AC4F50-0771-45FD-A382-B5D8ABEC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E21DF2-0027-41B8-B4A1-883A8169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981317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D02AD0-6C71-4BBA-9FE6-999433DB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7A18A-7B13-4337-9C97-151E4CEE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Mercato essiccazione: non enorme, ma molto piu verticale e B2B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691DD-8A61-4E72-B815-D174D68A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6B"/>
                </a:solidFill>
              </a:defRPr>
            </a:pPr>
            <a:r>
              <a:rPr sz="1650" b="0">
                <a:solidFill>
                  <a:srgbClr val="5A646B"/>
                </a:solidFill>
              </a:rPr>
              <a:t>Il mercato va cercato tra aziende che gia diversificano, trasformano prodotto o hanno bisogno di asciugatura controllata.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9ABFA-3D8B-45FD-B09F-98CAA47D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9835B-A72E-4BB6-B22E-AAFF2827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6C62"/>
                </a:solidFill>
              </a:defRPr>
            </a:pPr>
            <a:r>
              <a:rPr sz="2700" b="0">
                <a:solidFill>
                  <a:srgbClr val="176C62"/>
                </a:solidFill>
              </a:rPr>
              <a:t>1,13M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F81A8-8980-4D14-8058-8EE4649A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Unita produttive agricole in Italia secondo ISTAT 2023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2D27F-2288-44FD-B8B1-F8FA82BC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980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340BC-BAA4-498D-95B6-D8A28F91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384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D27A29"/>
                </a:solidFill>
              </a:defRPr>
            </a:pPr>
            <a:r>
              <a:rPr sz="2700" b="0">
                <a:solidFill>
                  <a:srgbClr val="D27A29"/>
                </a:solidFill>
              </a:rPr>
              <a:t>6%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B4626-A72A-4AC4-A0A9-7B4C5BF6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2895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Aziende agricole con attivita remunerative connesse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AC9DF-DCE7-482A-B24D-F1B8E2A0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0980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9FA97-EB9B-4815-817C-8212ACC8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384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F4C9B"/>
                </a:solidFill>
              </a:defRPr>
            </a:pPr>
            <a:r>
              <a:rPr sz="2700" b="0">
                <a:solidFill>
                  <a:srgbClr val="2F4C9B"/>
                </a:solidFill>
              </a:rPr>
              <a:t>Nord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8129E-9DAF-46E6-A4BC-C11F39A7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Quota attivita connesse piu alta: 12-13% nel Nord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11811-42AF-48BF-A90B-BBEF35E3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0980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D4235-C393-49E8-8409-AE9FE154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384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6D4B96"/>
                </a:solidFill>
              </a:defRPr>
            </a:pPr>
            <a:r>
              <a:rPr sz="2400" b="0">
                <a:solidFill>
                  <a:srgbClr val="6D4B96"/>
                </a:solidFill>
              </a:rPr>
              <a:t>SAM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098FD3-D90C-46B7-989E-21179DB1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1.000-3.000 siti potenziali: erbe, legno, frutta, funghi, piccoli processi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A6FF5D-712F-4005-AD74-8FC3F21A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10363200" cy="27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7013BA-C9B6-4F97-A53E-8BF41050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95850"/>
            <a:ext cx="23241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Segmento migliore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2C7EBC-6DB3-449E-B607-ABB71BD3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95850"/>
            <a:ext cx="394335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Motivo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F7E058-9F73-4A34-85EF-A53284E0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95850"/>
            <a:ext cx="363855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Problema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809A7-1DC7-4C32-8E16-FCA808B9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9050"/>
            <a:ext cx="10363200" cy="27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1AE21D-BCF5-43EE-86D3-C2F342F6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75250"/>
            <a:ext cx="23241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Erbe/prodotti premium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DC796F-DE8C-4A6B-AE52-96DA380B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75250"/>
            <a:ext cx="394335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Valore prodotto alto, basse temperature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7AD6D5-2F70-43D9-9700-8CE109BE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75250"/>
            <a:ext cx="363855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volumi piccoli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9C54BC-5C0F-403E-9149-351F8F36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8450"/>
            <a:ext cx="10363200" cy="27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585EC5-3136-4DA5-8223-97EC6606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54650"/>
            <a:ext cx="23241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Legno/legna premium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A96CC9-81AA-4D23-95DC-7FE6B809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454650"/>
            <a:ext cx="394335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ore lunghe e calore continuo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071E60-7A5A-4989-83C9-61DC5DA3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454650"/>
            <a:ext cx="363855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qualita essiccazione critica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73FA9F-75B2-4189-9FA1-9EB0562C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6C48D3-617C-4EAC-96C1-DA3512BD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1965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BFA1C2-CA88-4296-917A-E22F3B52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19650"/>
            <a:ext cx="379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5999B2-9143-4F47-A358-686A600F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Fonte: ISTAT ASI 2025 Agricoltura; stime SAM interne.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A09595-ED51-4668-AA0B-53AA6D91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140244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7EAF3F-C233-418D-8B17-3D3B883F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0071F-505C-43A6-9FDD-AAB479DB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Confronto dei due modelli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45127-5353-4E72-97B1-12E96360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3D457-9276-431E-88DB-48AA9AF1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Criterio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5C626-E5B1-40CD-BEC7-131568C9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526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Hospitality / lavanderia / spa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55850-4F85-4A7C-9173-DC33B6EB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7526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Essiccazione agricola / legno / erbe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4C317-4582-4500-B56E-77163448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D6080-6D87-4FBC-8CC3-4840F207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Facilita vendita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6A433-433E-4182-AF38-EDE31B0D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Alta: problema chiaro, bollette e ACS visibili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AE3E3E-2C99-4F54-9468-6A6A3E4C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2860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Media: cliente piu tecnico e processo-specifico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32FE5-BFA3-4905-AA02-06D60295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A63A6-5161-4A0E-8BF5-691B626A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194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Ore utili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565E8-8872-499B-BB6D-3DEEF681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194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4.000-7.000 se il sito e giusto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2E916-AC95-47E0-8A8E-96FD5943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194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2.000-5.000; spesso stagionale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1BDE33-D9F0-4345-A48B-8344FB0F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4FB94-FC42-4772-8DAC-6222606E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528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Ticket installato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84015-8DE4-42F5-B3F1-EDB43DE3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528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18-30k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1859FC-7876-42CF-A6A6-30CF5D91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3528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EUR 35-70k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2B59F7-C069-4763-90F7-F4211A71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AF7F4A-7908-4A0A-96FF-DFEF4902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62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Payback realistico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1EDD2E-78C6-49FE-A4CF-EE3B2B7D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862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4-10 anni nei siti buoni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B0EA0B-774E-4329-93A7-777896B4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8862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5-12 anni, ma solo con ore/processo adatto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26BE22-4069-4809-B518-6A7E9F69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9A3BDC-294B-49AC-97F7-F78CD365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196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Scalabilita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870DC2-8125-4BD4-BAFC-B33D8DA1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196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Migliore: installatori termotecnici e casi studio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D4920F-CA6B-4FCC-A153-3BDC17FD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4196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Piu verticale: necessita ricette di processo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A203B8-9B41-4584-AD5D-42AB1C45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889171-6C4B-4198-8593-664B5433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Rischio maggiore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CAD68F-61E6-46AE-BF37-46E67BE2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calore sottoutilizzato fuori stagione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5A04CD-9806-4A60-B3C6-4C6A0999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953000"/>
            <a:ext cx="4543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qualita prodotto e cicli troppo brevi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BACB15-7B0B-4D18-8560-A072FBEF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00025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E1CA76-2195-4EEB-BC71-1163C994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76400"/>
            <a:ext cx="4695825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7CEC42-E4FD-4658-9E5B-68894D59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76400"/>
            <a:ext cx="4695825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7D8809-0D43-4B97-8109-BEA9052A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Priorita consigliata: partire da hospitality per validare vendita/installazione; usare essiccazione come seconda linea su 2-3 pilot premium.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6FA819-2F6C-4C53-8AE3-9623920E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B64A6E-CB88-4103-8792-064333F5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77476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BA407E-3F13-4B78-9078-59FC018F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CB85D-A29A-4B46-BA00-4E11AB55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Modello ricavi e margini per la startup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004AE-42F4-42D3-B2D2-5F261FDA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57D52-0284-4539-B8BA-F79C0BBF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2228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Prodotto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61294-A63E-4F40-80F4-9F23A849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Prezzo cliente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07262-BCBB-4AD2-A39D-E6C59049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14500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Costo diretto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6EC04-8CC3-4BF3-A0C9-08F8EDD5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Margine lordo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A0A8E-10C6-4532-A65F-85400C2B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85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Ricorrente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87D11-CF8B-457E-9022-58225973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11391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9017A-B381-458B-BDFE-B63CCB18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05075"/>
            <a:ext cx="2228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Kit hospitality 1-2 ASIC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372CC-43FB-4458-B54C-0BCB8787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05075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24k medio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A2539-30C2-484E-923E-E7F9E271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05075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17,2k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FF9B0-577A-4229-AB1F-592A7187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05075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6,8k / 28%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38614-3633-4DFA-B755-927B519C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05075"/>
            <a:ext cx="285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99-250/mese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E88352-52E1-4813-92EF-01E5D167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11391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15253B-6D06-4A72-A44B-05B06CAA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95650"/>
            <a:ext cx="2228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Modulo essiccazione 4 ASIC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7F08A7-B4D1-4392-9DEA-F42F8289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95650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55k medio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3BFF9B-1B5E-472B-B3CD-73003FA3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95650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39k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3DD482-B43C-442E-A5E7-3191A66D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5650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16k / 29%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718E51-E1C3-427A-ABFF-835F5F65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95650"/>
            <a:ext cx="285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200-400/mese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EB4974-4363-43A8-B44B-564EC449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0025"/>
            <a:ext cx="113919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30560C-6FE7-4C02-8299-ABDC58F7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86225"/>
            <a:ext cx="2228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Dashboard/assistenza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CF04B5-5542-48AB-AA80-2EEA324C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86225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inclusa o SaaS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469741-263E-40E4-B962-841D21E5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86225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hosting + supporto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5C4FA8-85EC-4B62-80DB-F3094B83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86225"/>
            <a:ext cx="1847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60-65%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5A1B53-41C6-48F3-8F1B-7095ABAE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86225"/>
            <a:ext cx="285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report kWh/BTC/allarmi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813DA7-ED43-419E-9ABF-A8294BE7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23812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B5B9A6-DB8D-4E8A-8766-795DEECC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38300"/>
            <a:ext cx="20002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9817FE-1462-4B94-9F18-2C66400F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38300"/>
            <a:ext cx="20002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810C9E-8F80-4929-9EFA-95E236E6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38300"/>
            <a:ext cx="20002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C230B7-CFCC-46B7-8911-EF914C2A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38300"/>
            <a:ext cx="300990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F660BD-1261-4CB8-B4E0-0060438B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3048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1A0922-B8EA-4845-AF74-B1C19DA9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483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6C62"/>
                </a:solidFill>
              </a:defRPr>
            </a:pPr>
            <a:r>
              <a:rPr sz="1650" b="0">
                <a:solidFill>
                  <a:srgbClr val="176C62"/>
                </a:solidFill>
              </a:rPr>
              <a:t>Margine obiettivo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8FA017-C096-477E-8ABA-44FCCF1F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15000"/>
            <a:ext cx="2590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30-35% hardware+installazione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B8BCBE-B555-452B-BAB5-D742A63B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19700"/>
            <a:ext cx="3048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84022B-7CB9-4D13-B714-019329E3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4483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27A29"/>
                </a:solidFill>
              </a:defRPr>
            </a:pPr>
            <a:r>
              <a:rPr sz="1650" b="0">
                <a:solidFill>
                  <a:srgbClr val="D27A29"/>
                </a:solidFill>
              </a:rPr>
              <a:t>Break-even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68DAC0-CA8C-4E56-8423-6A620C5F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715000"/>
            <a:ext cx="2590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25-35 installazioni/anno mixate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920EB2-6F87-47BB-A227-1249F810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19700"/>
            <a:ext cx="3048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F0E01F-D6A3-4899-951A-B05EB078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483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4B3A"/>
                </a:solidFill>
              </a:defRPr>
            </a:pPr>
            <a:r>
              <a:rPr sz="1650" b="0">
                <a:solidFill>
                  <a:srgbClr val="B84B3A"/>
                </a:solidFill>
              </a:rPr>
              <a:t>Nemico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670295-13F4-4EF6-8433-CB38C299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715000"/>
            <a:ext cx="2590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installazioni custom non standard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070830-A0E1-4B89-A77E-E8464F58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022F5C-27E6-481B-96F2-7B3034E9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806089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4B94BF-1D0A-4DCD-8499-AD06E305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C5B82-F302-4302-9902-216E1DC4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Scalabilita: da artigianato tecnico a rete installatori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58F46-A127-4939-BB52-30F20760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C62"/>
                </a:solidFill>
              </a:defRPr>
            </a:pPr>
            <a:r>
              <a:rPr sz="1650" b="1">
                <a:solidFill>
                  <a:srgbClr val="176C62"/>
                </a:solidFill>
              </a:rPr>
              <a:t>0-3 mesi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6F3E7-C57B-45E1-B3F6-93A42383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478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Dimostratore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79BBD-A7BE-4B92-B804-2C6A03CF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478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6B"/>
                </a:solidFill>
              </a:defRPr>
            </a:pPr>
            <a:r>
              <a:rPr sz="1500" b="0">
                <a:solidFill>
                  <a:srgbClr val="5A646B"/>
                </a:solidFill>
              </a:rPr>
              <a:t>EUR 25-50k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5AF84-FD28-4C79-94D9-7BE560CC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478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1 sito visibile, dashboard, sicurezza, primi dati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818F1-0473-4444-9254-3F32DB11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59851-DC3A-4D87-B15E-6DAA55F1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C62"/>
                </a:solidFill>
              </a:defRPr>
            </a:pPr>
            <a:r>
              <a:rPr sz="1650" b="1">
                <a:solidFill>
                  <a:srgbClr val="176C62"/>
                </a:solidFill>
              </a:rPr>
              <a:t>3-9 mesi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ABE2B-9E92-4FD1-89A6-41F0665E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86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5 piloti paganti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8242C-BAB6-4FE4-A7A0-45DDE3A9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6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6B"/>
                </a:solidFill>
              </a:defRPr>
            </a:pPr>
            <a:r>
              <a:rPr sz="1500" b="0">
                <a:solidFill>
                  <a:srgbClr val="5A646B"/>
                </a:solidFill>
              </a:rPr>
              <a:t>EUR 80-150k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0DC2F-41C5-4159-BDD2-35D22E26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860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3 hospitality + 2 essiccazione; contratti veri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8FA80-D13F-4CFD-85A1-DB107F83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16CC9-2B04-4C64-8DFE-60C3D350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27A29"/>
                </a:solidFill>
              </a:defRPr>
            </a:pPr>
            <a:r>
              <a:rPr sz="1650" b="1">
                <a:solidFill>
                  <a:srgbClr val="D27A29"/>
                </a:solidFill>
              </a:rPr>
              <a:t>9-18 mesi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B2581-52CA-46EE-9BE7-A4F3A5F5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4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25 installazioni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D9C8AC-A383-4B50-B8BF-5DFAB363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24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6B"/>
                </a:solidFill>
              </a:defRPr>
            </a:pPr>
            <a:r>
              <a:rPr sz="1500" b="0">
                <a:solidFill>
                  <a:srgbClr val="5A646B"/>
                </a:solidFill>
              </a:rPr>
              <a:t>EUR 200-350k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E1A32F-D971-4340-BD60-5A6327FC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manuale installatori, kit standard, casi studio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E965B1-E810-4258-B74E-EBDEC589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964220-EC3A-4198-869C-0A30267B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27A29"/>
                </a:solidFill>
              </a:defRPr>
            </a:pPr>
            <a:r>
              <a:rPr sz="1650" b="1">
                <a:solidFill>
                  <a:srgbClr val="D27A29"/>
                </a:solidFill>
              </a:rPr>
              <a:t>18-36 mesi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423BCC-4F85-4D07-8DA4-C7CA879E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62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100+ installazioni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0437D5-AFAB-46C0-8D59-BCDE07A0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624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6B"/>
                </a:solidFill>
              </a:defRPr>
            </a:pPr>
            <a:r>
              <a:rPr sz="1500" b="0">
                <a:solidFill>
                  <a:srgbClr val="5A646B"/>
                </a:solidFill>
              </a:rPr>
              <a:t>EUR 500k-1M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B3F9A4-3232-4C3D-9D2E-98943BB8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624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partner regionali, stock componenti, service desk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8AD62E-F6AF-4217-8CEC-991821AD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C8E9E6-D537-48C9-8C55-D907879F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B3A"/>
                </a:solidFill>
              </a:defRPr>
            </a:pPr>
            <a:r>
              <a:rPr sz="1650" b="1">
                <a:solidFill>
                  <a:srgbClr val="B84B3A"/>
                </a:solidFill>
              </a:rPr>
              <a:t>Prima assunzione full-time solo dopo 5 siti paganti e zero incidenti. Prima rete installatori solo dopo kit ripetibile.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431CA9-EBCF-4CC7-9C0C-2FD0CABF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C41CE4-B234-4408-ACCA-7845A32D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631615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435DEF-0F03-4381-B693-EFC31425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AA698C-00D9-4DF2-8C41-0DBBC9F3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Proiezione startup: possibile solo con disciplina commerciale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533E3-324D-4F3B-B4E3-6B031E72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B7C7E-3A96-4AD8-A348-CBF2B863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89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Anno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B70C9-8E59-41EE-8051-CEBFF354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52600"/>
            <a:ext cx="2990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Mix installazioni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274C8-C908-4D27-9954-E85E53CA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5260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Ricavi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595DE-F2F7-49B8-AAD5-1AD6FE2F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Gross profit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A0986-2BD1-4DB5-8940-739264DF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1466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Opex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AD230-8C88-4DEA-A595-6601ED7A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526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EBITDA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93467-961B-42EF-9D4E-FCB79796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11391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348D8-8C35-4FDB-A620-4605C79E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09850"/>
            <a:ext cx="89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Y1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52CB4-533D-4009-B31F-9841F837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9850"/>
            <a:ext cx="2990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6 hospitality + 2 essiccazione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F95B40-2575-4192-9530-99631555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0985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264k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5B71BF-23B8-4B83-867D-C9C9C965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985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79k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7CBB4-C2B5-42FB-B305-A9A39845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09850"/>
            <a:ext cx="1466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180k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06B67B-12A9-4883-91A9-4D4460E3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098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-101k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F3130-EC7B-4115-B927-77C777F2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11391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4FD054-5023-49B3-A58D-B1123ED5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67100"/>
            <a:ext cx="89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Y2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9C74B3-8724-4718-ABE6-EEB8E7B5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2990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20 hospitality + 10 essiccazione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3A839D-ED23-4F8B-A62E-0053154D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6710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1,10M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C764DA-3BF3-420B-90FA-5B9BDC26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341k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1329EC-EFA8-4ED3-9AF0-1F25B79E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67100"/>
            <a:ext cx="1466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300k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0D8229-3539-4476-BB8C-2A34755E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671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41k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F196A4-4700-454B-A315-E0FB218D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11391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9C1EA1-3E76-4914-AA19-803F6D47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24350"/>
            <a:ext cx="895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Y3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933747-C775-429B-8E6B-C07278D0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24350"/>
            <a:ext cx="2990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45 hospitality + 25 essiccazione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8D15A3-6DAD-464A-9895-44EA16A4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2435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2,64M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C80FF4-AD00-45B9-9909-AADDB7A5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24350"/>
            <a:ext cx="1657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823k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148AB2-7A48-429C-99A8-B9DBFBAC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24350"/>
            <a:ext cx="1466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500k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9EBFCE-1D0A-43BD-9367-BCDCF1EB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243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EUR 323k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77E9AD-9D14-4D82-A741-E3A79B91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047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1EE2C4-CAA8-4208-AF81-47774C61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76400"/>
            <a:ext cx="3143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87C809-5660-4D3F-B837-BC5566F0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76400"/>
            <a:ext cx="1809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0EADFB-B8F4-485F-9FC8-03CBDFE8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76400"/>
            <a:ext cx="1809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70268B-D4BB-4EB3-871F-0A31574E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76400"/>
            <a:ext cx="1619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2BF0B7-7EAD-4D97-8909-6A10C250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676400"/>
            <a:ext cx="19621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CE7651-5F1C-44AD-820A-BE9118B1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340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493D69-2BBA-481E-84C7-625206E9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34050"/>
            <a:ext cx="2451100" cy="8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C4E128-243A-42EA-B336-516DE569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95550"/>
            <a:ext cx="260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-101.000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E731CE-1CC3-4546-A186-75C92694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10300"/>
            <a:ext cx="260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Y1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0A4079-7E0D-4E17-AEDD-52A7FD67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5686425"/>
            <a:ext cx="245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A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4107D4-4A35-4746-9ACE-35C8C65D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5419725"/>
            <a:ext cx="260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41.000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6CAD98-58B6-470A-BC2C-8369D397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6210300"/>
            <a:ext cx="260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Y2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7B6C18-243B-4765-B000-488DF1F0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5461260"/>
            <a:ext cx="2451100" cy="272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C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F5595E-9A32-42CF-8A6F-1A33AE57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400" y="5194560"/>
            <a:ext cx="260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EUR 323.000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99126F-9908-47A2-9DC0-CF3D58FF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400" y="6210300"/>
            <a:ext cx="260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46B"/>
                </a:solidFill>
              </a:defRPr>
            </a:pPr>
            <a:r>
              <a:rPr sz="1050" b="0">
                <a:solidFill>
                  <a:srgbClr val="5A646B"/>
                </a:solidFill>
              </a:rPr>
              <a:t>Y3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25C8B8-25FF-4517-A75B-74B10EA0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A646B"/>
                </a:solidFill>
              </a:defRPr>
            </a:pPr>
            <a:r>
              <a:rPr sz="1200" b="1">
                <a:solidFill>
                  <a:srgbClr val="5A646B"/>
                </a:solidFill>
              </a:rPr>
              <a:t>EBITDA scenario disciplinato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F3954F-A156-4055-AD70-8D018549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015D14E-BAD6-4CEF-9196-1387AC21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931037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2AE453-37D4-4FD0-9DDF-83A0224B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565D5-0330-4ADE-A17D-D19E5316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Rischi, compliance e kill criteria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47D4C-4CDB-4B72-A63A-FC2BA267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55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AF8BE-F5B5-47D7-9B5B-174D032C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847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Rischio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0AD41-6BBB-4B9C-9145-8437153F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52600"/>
            <a:ext cx="5276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Come si controlla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10BAD-15CA-4563-A82F-9CF5DC26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52600"/>
            <a:ext cx="38100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Stop se...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7E395-F107-4727-B8AC-A6837662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2025"/>
            <a:ext cx="11391900" cy="55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D9AAE-50DD-4CB9-B0C1-91CACEF0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08225"/>
            <a:ext cx="1847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Energia cara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E9F95-2581-47CC-86BA-D4EC94B7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08225"/>
            <a:ext cx="5276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cliente con FV/contratto buono; soglia kWh calcolata da bolletta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6F2DF-CDE6-461C-AE02-74AC0CF8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8225"/>
            <a:ext cx="38100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costo energia &gt; soglia per 6 mesi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1DC11-79ED-4CB8-96E6-EAABEBEF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7650"/>
            <a:ext cx="11391900" cy="55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371E7B-DE76-4801-8539-ADAFF532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63850"/>
            <a:ext cx="1847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Calore non usato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889F5-0F2A-4CCF-B786-3E68934C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63850"/>
            <a:ext cx="5276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contatore termico e log ore utili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A650E-BC6F-4C12-BD1E-32F288A3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63850"/>
            <a:ext cx="38100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ore utili &lt;3.500 hospitality o &lt;3.000 essiccazione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4BAEB-163D-414E-BEF3-49B5485B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43275"/>
            <a:ext cx="11391900" cy="55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E11C45-5C14-4776-97FD-75C5B6F7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19475"/>
            <a:ext cx="1847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Installazione pericolosa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60EAA6-A082-4A07-9ACE-09C2AF22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19475"/>
            <a:ext cx="5276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DICO, elettricista/termotecnico, assicurazione RC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80078E-6BC4-47BD-9FB6-E753D46C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19475"/>
            <a:ext cx="38100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 incidente grave o near-miss ripetuto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96EBDC-E83A-4D29-B8FD-B19CDE90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98900"/>
            <a:ext cx="11391900" cy="55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B84115-D5CB-40B3-9898-A7FF2938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75100"/>
            <a:ext cx="1847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BTC/difficulty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948065-F101-4439-95AB-71C3F60A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75100"/>
            <a:ext cx="5276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non basare vendita su prezzo BTC; sensitivity trasparente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1BA30B-FC00-48C3-9CCB-041033FE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75100"/>
            <a:ext cx="38100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ROI dipende solo da BTC alto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71034F-37C0-4720-93C0-8AC52FBD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4525"/>
            <a:ext cx="11391900" cy="55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FD9DF0-2AF4-48BC-BF84-7961E6A7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30725"/>
            <a:ext cx="1847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Regolatorio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90E91A-BCA7-4859-92DB-5D62C072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30725"/>
            <a:ext cx="527685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no custody, no gestione fondi, wallet/pool intestati al cliente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D90CCA-460F-4E03-9493-A769E7B4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30725"/>
            <a:ext cx="3810000" cy="44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serve autorizzazione finanziaria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CF224B-FBB5-4000-8493-59D6737D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00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E3299B-25DD-4A2A-9975-D7B217AE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76400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9A9D3C-63FB-4EA8-9EF4-49AEFD84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76400"/>
            <a:ext cx="39624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21122B-8884-43C9-9A86-67EE5176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4B3A"/>
                </a:solidFill>
              </a:defRPr>
            </a:pPr>
            <a:r>
              <a:rPr sz="1650" b="1">
                <a:solidFill>
                  <a:srgbClr val="B84B3A"/>
                </a:solidFill>
              </a:rPr>
              <a:t>Kill criteria principale: 5 siti paganti devono dimostrare beneficio netto &gt; EUR 1.500/anno o valore produttivo documentato.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3E1454-6516-4E87-99B7-53712190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 regolatorie: modello evita custodia/servizi finanziari; impianti da eseguire con professionisti abilitati.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96DDD6-8439-4C63-9AC9-43C8CCFD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324686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A46C3F-C5F3-4191-8711-D8287B7F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F29A4-5450-4473-B801-24880A36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Decisione proposta e richiesta al partner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9AB4F-BD3E-4D8A-B541-181DD7D2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Procedere con un pilota commerciale, non con una startup industriale completa.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99D95-B749-4F99-BFAA-E7B5DF6E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7DC41-BBF7-4970-9E68-F9618779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6C62"/>
                </a:solidFill>
              </a:defRPr>
            </a:pPr>
            <a:r>
              <a:rPr sz="2250" b="0">
                <a:solidFill>
                  <a:srgbClr val="176C62"/>
                </a:solidFill>
              </a:rPr>
              <a:t>Fare 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04AAC-C1BD-4E69-AB63-62B3CDA0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26860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1 dimostratore + 3 strutture hospitality + 2 siti essiccazione. Tutti con contatore termico e dati pubblicabili.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58502-496E-4A47-A0DA-A1DAF4A5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64D65-8E51-4EDB-90F1-77C2AE8D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098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F4C9B"/>
                </a:solidFill>
              </a:defRPr>
            </a:pPr>
            <a:r>
              <a:rPr sz="2250" b="0">
                <a:solidFill>
                  <a:srgbClr val="2F4C9B"/>
                </a:solidFill>
              </a:rPr>
              <a:t>Budget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9A780-447E-4675-9D6A-B06406EB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6860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EUR 25-50k per MVP; EUR 120-250k per 5 piloti paganti e manuale installazione.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E49C5-2741-421B-8B01-774FFDC2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D495A-50C0-435A-B14A-C965D7A5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098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84B3A"/>
                </a:solidFill>
              </a:defRPr>
            </a:pPr>
            <a:r>
              <a:rPr sz="2250" b="0">
                <a:solidFill>
                  <a:srgbClr val="B84B3A"/>
                </a:solidFill>
              </a:rPr>
              <a:t>Non fare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A8603-94BC-402E-AFDE-B2C297D9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0400"/>
            <a:ext cx="26860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Hardware proprietario, vendita B2C larga, promessa di rendita BTC o acqua calda gratis.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19D6E-7CD9-410A-8C68-60CF5523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Ask: accesso a 5 clienti pilota, installatore termotecnico partner, budget MVP e disponibilita a fermarsi se i dati non tengono.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63868-FD74-4616-9577-F0E01B51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Fonti: ISTAT ASI 2025 Turismo/Agricoltura; GSE FV 2024; modello BTC/ASIC interno al 2026-06-21.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EB579-D443-4A32-ADE6-74315309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641089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70B703-9E32-4486-AE5E-B136FA3C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46B"/>
                </a:solidFill>
              </a:defRPr>
            </a:pPr>
            <a:r>
              <a:rPr sz="1125" b="1">
                <a:solidFill>
                  <a:srgbClr val="5A646B"/>
                </a:solidFill>
              </a:rPr>
              <a:t>ASIC HEAT RECOVERY / BUSINESS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9260D-91AE-425A-BD1E-562EE4AF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111"/>
                </a:solidFill>
              </a:defRPr>
            </a:pPr>
            <a:r>
              <a:rPr sz="2850" b="0">
                <a:solidFill>
                  <a:srgbClr val="111111"/>
                </a:solidFill>
              </a:rPr>
              <a:t>Appendice fonti e assunzioni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1D003-F4FE-4F51-AF35-E8FBA57B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E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86E5A-5319-406F-B9C6-F37A6592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95450"/>
            <a:ext cx="28956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Fonte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E38E3-B04D-4599-A9FE-C1B77135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95450"/>
            <a:ext cx="81915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Uso nel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DFAEB-14CC-4907-A4E1-A48A4F18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2025"/>
            <a:ext cx="1139190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3D1E0-D0D8-4EEB-A33A-E392913C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08225"/>
            <a:ext cx="28956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ISTAT ASI 2025 Turismo C19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1FC67-D299-4A70-A7F7-2557A30D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08225"/>
            <a:ext cx="81915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466,2M presenze; 32.943 alberghi; 232.376 extra-alberghieri; agriturismi e B&amp;B 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C5482-819B-47D9-A988-06616FB6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44800"/>
            <a:ext cx="1139190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C14F9-C3F9-41BC-A481-0E1686B8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21000"/>
            <a:ext cx="28956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ISTAT ASI 2025 Agricoltura C13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A18E5B-45E5-4E8E-B73B-24AA35F7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21000"/>
            <a:ext cx="81915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1,13M aziende agricole; 6% attivita connesse; agriturismi &gt;26k; struttura agricola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EB3DE-F113-4D1A-903D-96E58EFC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57575"/>
            <a:ext cx="1139190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1FA31-27E7-47F2-8617-10EE596F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33775"/>
            <a:ext cx="28956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GSE Solare FV 2024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B7048-3A86-4F8B-95B1-6431BC1F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33775"/>
            <a:ext cx="81915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1,875M impianti FV Italia; 50.297 impianti FV Trentino-Alto Adige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A8FD73-B026-4842-A246-C5253D73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0350"/>
            <a:ext cx="1139190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98CC2-2325-41A7-A1D5-8E3479A0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46550"/>
            <a:ext cx="28956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Modello BTC/ASIC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C422F-6154-45F0-A225-72F18A57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46550"/>
            <a:ext cx="81915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ASIC S21 200 TH/s, 3,56 kW; BTC EUR 55.889; ricavo mining EUR 62/MWh elettrico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ACCBD7-3E18-400D-9E6A-6C455F1D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3125"/>
            <a:ext cx="11391900" cy="61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8"/>
          </a:solidFill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56D210-8E58-48DA-B094-5BDAE91C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59325"/>
            <a:ext cx="28956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Benchmark competitor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3D5E77-B927-4E6B-9A3E-15FAB85C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59325"/>
            <a:ext cx="8191500" cy="49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Heatbit, 21Energy, RY3T: heater/miner aria e soluzioni idroniche come validazione di mercato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5F2A31-9CCA-46CE-ADB4-34F6F00F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0480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593F72-79A8-4B59-8A7F-4C28E1ED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19250"/>
            <a:ext cx="83439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26C3D5-E393-4D3A-B2A0-26D1812E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531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Le stime SAM/SOM, payback e proiezioni sono derivate: vanno validate con bollette, ore termiche e dati di processo dei singoli siti pilota.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BEDD89-DA03-4768-B53D-6356F255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</a:defRPr>
            </a:pPr>
            <a:r>
              <a:rPr sz="750" b="0">
                <a:solidFill>
                  <a:srgbClr val="777777"/>
                </a:solidFill>
              </a:rPr>
              <a:t>Link principali: istat.it/storage/ASI/2025/capitoli/C19.pdf; C13.pdf; research/output/model_data.json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A808C5-0D8D-46DB-8EB9-75F4D702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06979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2026-06-21T14:46:18.3750000Z</dcterms:created>
  <dcterms:modified xsi:type="dcterms:W3CDTF">2026-06-21T14:46:18.3760000Z</dcterms:modified>
</coreProperties>
</file>