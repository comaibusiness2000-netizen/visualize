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2bd0646544805" /><Relationship Type="http://schemas.openxmlformats.org/officeDocument/2006/relationships/extended-properties" Target="/docProps/app.xml" Id="Rbf05465cc5a44a70" /><Relationship Type="http://schemas.openxmlformats.org/officeDocument/2006/relationships/officeDocument" Target="/ppt/presentation.xml" Id="R962ea8ed980f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db7fcb73442f2"/>
  </p:sldMasterIdLst>
  <p:notesMasterIdLst>
    <p:notesMasterId xmlns:r="http://schemas.openxmlformats.org/officeDocument/2006/relationships" r:id="Re20e4bbc2a07436b"/>
  </p:notesMasterIdLst>
  <p:sldIdLst>
    <p:sldId xmlns:r="http://schemas.openxmlformats.org/officeDocument/2006/relationships" id="256" r:id="Rad75f77ca8ec44bd"/>
    <p:sldId xmlns:r="http://schemas.openxmlformats.org/officeDocument/2006/relationships" id="257" r:id="R6b3db60f02a54dc7"/>
    <p:sldId xmlns:r="http://schemas.openxmlformats.org/officeDocument/2006/relationships" id="258" r:id="Rfe6f2597262e43b6"/>
    <p:sldId xmlns:r="http://schemas.openxmlformats.org/officeDocument/2006/relationships" id="259" r:id="R409916071cde460a"/>
    <p:sldId xmlns:r="http://schemas.openxmlformats.org/officeDocument/2006/relationships" id="260" r:id="Reda216fbaab8413b"/>
    <p:sldId xmlns:r="http://schemas.openxmlformats.org/officeDocument/2006/relationships" id="261" r:id="R086935da5ddc4138"/>
    <p:sldId xmlns:r="http://schemas.openxmlformats.org/officeDocument/2006/relationships" id="262" r:id="R4aeac51df3b34304"/>
    <p:sldId xmlns:r="http://schemas.openxmlformats.org/officeDocument/2006/relationships" id="263" r:id="Rdb3366b7e11c480b"/>
    <p:sldId xmlns:r="http://schemas.openxmlformats.org/officeDocument/2006/relationships" id="264" r:id="R876807b6d6d44763"/>
    <p:sldId xmlns:r="http://schemas.openxmlformats.org/officeDocument/2006/relationships" id="265" r:id="R25ae8aa151e04386"/>
    <p:sldId xmlns:r="http://schemas.openxmlformats.org/officeDocument/2006/relationships" id="266" r:id="R2d28d0906fb1469a"/>
    <p:sldId xmlns:r="http://schemas.openxmlformats.org/officeDocument/2006/relationships" id="267" r:id="Rb60496bc67004cb9"/>
    <p:sldId xmlns:r="http://schemas.openxmlformats.org/officeDocument/2006/relationships" id="268" r:id="R359093082ae74796"/>
    <p:sldId xmlns:r="http://schemas.openxmlformats.org/officeDocument/2006/relationships" id="269" r:id="Rafac53efde2b4e10"/>
    <p:sldId xmlns:r="http://schemas.openxmlformats.org/officeDocument/2006/relationships" id="270" r:id="R7bb0109f9f014199"/>
    <p:sldId xmlns:r="http://schemas.openxmlformats.org/officeDocument/2006/relationships" id="271" r:id="Re926453ad2e24c5c"/>
    <p:sldId xmlns:r="http://schemas.openxmlformats.org/officeDocument/2006/relationships" id="272" r:id="R30c63cccea944f88"/>
    <p:sldId xmlns:r="http://schemas.openxmlformats.org/officeDocument/2006/relationships" id="273" r:id="R388331b35dab43bd"/>
    <p:sldId xmlns:r="http://schemas.openxmlformats.org/officeDocument/2006/relationships" id="274" r:id="Rcfe4663100ce4ef5"/>
    <p:sldId xmlns:r="http://schemas.openxmlformats.org/officeDocument/2006/relationships" id="275" r:id="R5da542f867984f36"/>
    <p:sldId xmlns:r="http://schemas.openxmlformats.org/officeDocument/2006/relationships" id="276" r:id="Re4e6fae3f5e64939"/>
    <p:sldId xmlns:r="http://schemas.openxmlformats.org/officeDocument/2006/relationships" id="277" r:id="R95a17fa64ed347e5"/>
    <p:sldId xmlns:r="http://schemas.openxmlformats.org/officeDocument/2006/relationships" id="278" r:id="R3170705cbbf8436f"/>
    <p:sldId xmlns:r="http://schemas.openxmlformats.org/officeDocument/2006/relationships" id="279" r:id="Rda636537a773464d"/>
    <p:sldId xmlns:r="http://schemas.openxmlformats.org/officeDocument/2006/relationships" id="280" r:id="Rcd0309274e424569"/>
    <p:sldId xmlns:r="http://schemas.openxmlformats.org/officeDocument/2006/relationships" id="281" r:id="R46d8c36b820044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e1249adfca4f4a" /><Relationship Type="http://schemas.openxmlformats.org/officeDocument/2006/relationships/slideMaster" Target="/ppt/slideMasters/slideMaster1.xml" Id="R83fdb7fcb73442f2" /><Relationship Type="http://schemas.openxmlformats.org/officeDocument/2006/relationships/notesMaster" Target="/ppt/notesMasters/notesMaster1.xml" Id="Re20e4bbc2a07436b" /><Relationship Type="http://schemas.openxmlformats.org/officeDocument/2006/relationships/presProps" Target="/ppt/presProps.xml" Id="Rb3fbc239bf424f9f" /><Relationship Type="http://schemas.openxmlformats.org/officeDocument/2006/relationships/tableStyles" Target="/ppt/tableStyles.xml" Id="Rf8c4cd3945a64e49" /><Relationship Type="http://schemas.openxmlformats.org/officeDocument/2006/relationships/slide" Target="/ppt/slides/slide1.xml" Id="Rad75f77ca8ec44bd" /><Relationship Type="http://schemas.openxmlformats.org/officeDocument/2006/relationships/slide" Target="/ppt/slides/slide2.xml" Id="R6b3db60f02a54dc7" /><Relationship Type="http://schemas.openxmlformats.org/officeDocument/2006/relationships/slide" Target="/ppt/slides/slide3.xml" Id="Rfe6f2597262e43b6" /><Relationship Type="http://schemas.openxmlformats.org/officeDocument/2006/relationships/slide" Target="/ppt/slides/slide4.xml" Id="R409916071cde460a" /><Relationship Type="http://schemas.openxmlformats.org/officeDocument/2006/relationships/slide" Target="/ppt/slides/slide5.xml" Id="Reda216fbaab8413b" /><Relationship Type="http://schemas.openxmlformats.org/officeDocument/2006/relationships/slide" Target="/ppt/slides/slide6.xml" Id="R086935da5ddc4138" /><Relationship Type="http://schemas.openxmlformats.org/officeDocument/2006/relationships/slide" Target="/ppt/slides/slide7.xml" Id="R4aeac51df3b34304" /><Relationship Type="http://schemas.openxmlformats.org/officeDocument/2006/relationships/slide" Target="/ppt/slides/slide8.xml" Id="Rdb3366b7e11c480b" /><Relationship Type="http://schemas.openxmlformats.org/officeDocument/2006/relationships/slide" Target="/ppt/slides/slide9.xml" Id="R876807b6d6d44763" /><Relationship Type="http://schemas.openxmlformats.org/officeDocument/2006/relationships/slide" Target="/ppt/slides/slide10.xml" Id="R25ae8aa151e04386" /><Relationship Type="http://schemas.openxmlformats.org/officeDocument/2006/relationships/slide" Target="/ppt/slides/slide11.xml" Id="R2d28d0906fb1469a" /><Relationship Type="http://schemas.openxmlformats.org/officeDocument/2006/relationships/slide" Target="/ppt/slides/slide12.xml" Id="Rb60496bc67004cb9" /><Relationship Type="http://schemas.openxmlformats.org/officeDocument/2006/relationships/slide" Target="/ppt/slides/slide13.xml" Id="R359093082ae74796" /><Relationship Type="http://schemas.openxmlformats.org/officeDocument/2006/relationships/slide" Target="/ppt/slides/slide14.xml" Id="Rafac53efde2b4e10" /><Relationship Type="http://schemas.openxmlformats.org/officeDocument/2006/relationships/slide" Target="/ppt/slides/slide15.xml" Id="R7bb0109f9f014199" /><Relationship Type="http://schemas.openxmlformats.org/officeDocument/2006/relationships/slide" Target="/ppt/slides/slide16.xml" Id="Re926453ad2e24c5c" /><Relationship Type="http://schemas.openxmlformats.org/officeDocument/2006/relationships/slide" Target="/ppt/slides/slide17.xml" Id="R30c63cccea944f88" /><Relationship Type="http://schemas.openxmlformats.org/officeDocument/2006/relationships/slide" Target="/ppt/slides/slide18.xml" Id="R388331b35dab43bd" /><Relationship Type="http://schemas.openxmlformats.org/officeDocument/2006/relationships/slide" Target="/ppt/slides/slide19.xml" Id="Rcfe4663100ce4ef5" /><Relationship Type="http://schemas.openxmlformats.org/officeDocument/2006/relationships/slide" Target="/ppt/slides/slide20.xml" Id="R5da542f867984f36" /><Relationship Type="http://schemas.openxmlformats.org/officeDocument/2006/relationships/slide" Target="/ppt/slides/slide21.xml" Id="Re4e6fae3f5e64939" /><Relationship Type="http://schemas.openxmlformats.org/officeDocument/2006/relationships/slide" Target="/ppt/slides/slide22.xml" Id="R95a17fa64ed347e5" /><Relationship Type="http://schemas.openxmlformats.org/officeDocument/2006/relationships/slide" Target="/ppt/slides/slide23.xml" Id="R3170705cbbf8436f" /><Relationship Type="http://schemas.openxmlformats.org/officeDocument/2006/relationships/slide" Target="/ppt/slides/slide24.xml" Id="Rda636537a773464d" /><Relationship Type="http://schemas.openxmlformats.org/officeDocument/2006/relationships/slide" Target="/ppt/slides/slide25.xml" Id="Rcd0309274e424569" /><Relationship Type="http://schemas.openxmlformats.org/officeDocument/2006/relationships/slide" Target="/ppt/slides/slide26.xml" Id="R46d8c36b820044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4bf93301cc4b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b3cc4af5094463" /><Relationship Type="http://schemas.openxmlformats.org/officeDocument/2006/relationships/notesMaster" Target="/ppt/notesMasters/notesMaster1.xml" Id="R50eb4f378b3b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ef50060db408d" /><Relationship Type="http://schemas.openxmlformats.org/officeDocument/2006/relationships/notesMaster" Target="/ppt/notesMasters/notesMaster1.xml" Id="R0f248788fa50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d018a9d7c04bed" /><Relationship Type="http://schemas.openxmlformats.org/officeDocument/2006/relationships/notesMaster" Target="/ppt/notesMasters/notesMaster1.xml" Id="R3ffc7fc7e75a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5b563e7a84aab" /><Relationship Type="http://schemas.openxmlformats.org/officeDocument/2006/relationships/notesMaster" Target="/ppt/notesMasters/notesMaster1.xml" Id="Rb5fcd78eeae5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6710c37e74447c" /><Relationship Type="http://schemas.openxmlformats.org/officeDocument/2006/relationships/notesMaster" Target="/ppt/notesMasters/notesMaster1.xml" Id="Rc13c630625414e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534d2d344e46de" /><Relationship Type="http://schemas.openxmlformats.org/officeDocument/2006/relationships/notesMaster" Target="/ppt/notesMasters/notesMaster1.xml" Id="R29abe575677a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2a3d65d56e4995" /><Relationship Type="http://schemas.openxmlformats.org/officeDocument/2006/relationships/notesMaster" Target="/ppt/notesMasters/notesMaster1.xml" Id="Re1a74bb132894c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8eab0d6f314a00" /><Relationship Type="http://schemas.openxmlformats.org/officeDocument/2006/relationships/notesMaster" Target="/ppt/notesMasters/notesMaster1.xml" Id="R21d972c5974e48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2a8115bf0948d1" /><Relationship Type="http://schemas.openxmlformats.org/officeDocument/2006/relationships/notesMaster" Target="/ppt/notesMasters/notesMaster1.xml" Id="R58f7705a9a644d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d4550b79854722" /><Relationship Type="http://schemas.openxmlformats.org/officeDocument/2006/relationships/notesMaster" Target="/ppt/notesMasters/notesMaster1.xml" Id="R356f5257c69f4f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1fe405d77f42c5" /><Relationship Type="http://schemas.openxmlformats.org/officeDocument/2006/relationships/notesMaster" Target="/ppt/notesMasters/notesMaster1.xml" Id="R50bcca7bd6dc45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cd79bb05784ef9" /><Relationship Type="http://schemas.openxmlformats.org/officeDocument/2006/relationships/notesMaster" Target="/ppt/notesMasters/notesMaster1.xml" Id="Rf23e5d401a1f49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d35d2345a740b8" /><Relationship Type="http://schemas.openxmlformats.org/officeDocument/2006/relationships/notesMaster" Target="/ppt/notesMasters/notesMaster1.xml" Id="Rb113502075c54c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437d20e4194f6e" /><Relationship Type="http://schemas.openxmlformats.org/officeDocument/2006/relationships/notesMaster" Target="/ppt/notesMasters/notesMaster1.xml" Id="R61da5c4f761d43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a39eb50e054b2d" /><Relationship Type="http://schemas.openxmlformats.org/officeDocument/2006/relationships/notesMaster" Target="/ppt/notesMasters/notesMaster1.xml" Id="Reefe2338203c40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1e0dcd5da34e3f" /><Relationship Type="http://schemas.openxmlformats.org/officeDocument/2006/relationships/notesMaster" Target="/ppt/notesMasters/notesMaster1.xml" Id="R5bd2ecd602e345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62f41d94824fcd" /><Relationship Type="http://schemas.openxmlformats.org/officeDocument/2006/relationships/notesMaster" Target="/ppt/notesMasters/notesMaster1.xml" Id="Rd156827066b54e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73c6ed689c4bbb" /><Relationship Type="http://schemas.openxmlformats.org/officeDocument/2006/relationships/notesMaster" Target="/ppt/notesMasters/notesMaster1.xml" Id="Rf4be6f4d29484e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d29d70dc4a4f01" /><Relationship Type="http://schemas.openxmlformats.org/officeDocument/2006/relationships/notesMaster" Target="/ppt/notesMasters/notesMaster1.xml" Id="R6619b1f36f1641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a511e1bae64a44" /><Relationship Type="http://schemas.openxmlformats.org/officeDocument/2006/relationships/notesMaster" Target="/ppt/notesMasters/notesMaster1.xml" Id="R983f06e6ccfa4d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3debafc8bf4193" /><Relationship Type="http://schemas.openxmlformats.org/officeDocument/2006/relationships/notesMaster" Target="/ppt/notesMasters/notesMaster1.xml" Id="R39247ff804f548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4132f4363f4268" /><Relationship Type="http://schemas.openxmlformats.org/officeDocument/2006/relationships/notesMaster" Target="/ppt/notesMasters/notesMaster1.xml" Id="R5b0bba01056c46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080d3f359f4511" /><Relationship Type="http://schemas.openxmlformats.org/officeDocument/2006/relationships/notesMaster" Target="/ppt/notesMasters/notesMaster1.xml" Id="R5c227610980b48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f01cc613624e9f" /><Relationship Type="http://schemas.openxmlformats.org/officeDocument/2006/relationships/notesMaster" Target="/ppt/notesMasters/notesMaster1.xml" Id="Rffbdea1533854e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13219ae0214832" /><Relationship Type="http://schemas.openxmlformats.org/officeDocument/2006/relationships/notesMaster" Target="/ppt/notesMasters/notesMaster1.xml" Id="R7b9410fb74a84e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5197a867d34a58" /><Relationship Type="http://schemas.openxmlformats.org/officeDocument/2006/relationships/notesMaster" Target="/ppt/notesMasters/notesMaster1.xml" Id="Rb9dceeb3b654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spiegando il cambio rispetto alla famiglia media: qui non vendiamo acqua calda gratis, vendiamo un generatore di calore digitale per clienti che consumano calore molte ore.</a:t>
            </a:r>
          </a:p>
          <a:p xmlns:a="http://schemas.openxmlformats.org/drawingml/2006/main">
            <a:r>
              <a:t>Il deck confronta due modelli: hospitality/lavanderia/spa e processi di essiccazione agricola/legno/erbe.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sintesi brutale: la tecnologia e plausibile, ma il business non e provato.</a:t>
            </a:r>
          </a:p>
          <a:p xmlns:a="http://schemas.openxmlformats.org/drawingml/2006/main">
            <a:r>
              <a:t>Con 25-50k possiamo validare, non costruire una societa con magazzino, certificazioni proprietarie e rete installatori nazionale.</a:t>
            </a:r>
          </a:p>
          <a:p xmlns:a="http://schemas.openxmlformats.org/drawingml/2006/main">
            <a:r>
              <a:t>Se un partner interpreta questa slide come 'siamo pronti a scalare', bisogna fermarlo subito.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deve mettere a terra la conversazione: non stiamo dicendo che il business e gia fattibile, stiamo dicendo che e abbastanza plausibile da testare.</a:t>
            </a:r>
          </a:p>
          <a:p xmlns:a="http://schemas.openxmlformats.org/drawingml/2006/main">
            <a:r>
              <a:t>La parte piu debole oggi e la scalabilita: ogni installazione custom uccide margini e velocita.</a:t>
            </a:r>
          </a:p>
          <a:p xmlns:a="http://schemas.openxmlformats.org/drawingml/2006/main">
            <a:r>
              <a:t>La condizione per proseguire e avere dati misurati, non entusiasmo.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una frase semplice: un miner e una resistenza elettrica intelligente. Produce calore e contemporaneamente partecipa al mining.</a:t>
            </a:r>
          </a:p>
          <a:p xmlns:a="http://schemas.openxmlformats.org/drawingml/2006/main">
            <a:r>
              <a:t>Il recupero non crea energia gratis: sposta calore che altrimenti sarebbe buttato via. Il vantaggio nasce se quel calore sostituisce un costo reale.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rende il modello comprensibile: il cliente compra kWh elettrici e riceve BTC piu calore.</a:t>
            </a:r>
          </a:p>
          <a:p xmlns:a="http://schemas.openxmlformats.org/drawingml/2006/main">
            <a:r>
              <a:t>La soglia dipende da hashprice, rendimento termico e valore del calore sostituito. Se il cliente scalda gia a basso costo, il progetto diventa debole.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slide per il cliente: non promettere acqua calda gratis e non promettere rendimenti.</a:t>
            </a:r>
          </a:p>
          <a:p xmlns:a="http://schemas.openxmlformats.org/drawingml/2006/main">
            <a:r>
              <a:t>La proposta deve suonare cosi: lei usa gia calore; noi trasformiamo parte della sua bolletta elettrica in calore utile e BTC, misurando tutto.</a:t>
            </a:r>
          </a:p>
          <a:p xmlns:a="http://schemas.openxmlformats.org/drawingml/2006/main">
            <a:r>
              <a:t>Se manca una baseline energetica chiara, il cliente non e adatto al pilota.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bisogna essere severi: prezzo BTC alto non si traduce automaticamente in pari aumento del profitto mining.</a:t>
            </a:r>
          </a:p>
          <a:p xmlns:a="http://schemas.openxmlformats.org/drawingml/2006/main">
            <a:r>
              <a:t>Difficulty e competizione possono mangiare una parte consistente dell'upside. Per questo il modello passa solo il 60% della variazione prezzo al ricavo mining.</a:t>
            </a:r>
          </a:p>
          <a:p xmlns:a="http://schemas.openxmlformats.org/drawingml/2006/main">
            <a:r>
              <a:t>Il messaggio al partner: BTC migliora il caso, ma non puo essere l'unico motivo per installare.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e la risposta alla domanda 'ma se BTC sale?'. Si, migliora molto, ma solo nei siti gia termicamente sensati.</a:t>
            </a:r>
          </a:p>
          <a:p xmlns:a="http://schemas.openxmlformats.org/drawingml/2006/main">
            <a:r>
              <a:t>Il cliente deve vedere il payback come scenario, non come garanzia. L'offerta deve includere misurazione e possibilita di spegnimento quando non conviene.</a:t>
            </a:r>
          </a:p>
          <a:p xmlns:a="http://schemas.openxmlformats.org/drawingml/2006/main">
            <a:r>
              <a:t>Se il partner vuole vendere solo il bull case, il business diventa fragile e potenzialmente scorretto.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riporta il discorso sulle leve controllabili: sito, ore, costo energia, CAPEX e standardizzazione.</a:t>
            </a:r>
          </a:p>
          <a:p xmlns:a="http://schemas.openxmlformats.org/drawingml/2006/main">
            <a:r>
              <a:t>Un sito mediocre con BTC bull resta rischioso; un sito buono con installazione ottimizzata diventa molto piu presentabile.</a:t>
            </a:r>
          </a:p>
          <a:p xmlns:a="http://schemas.openxmlformats.org/drawingml/2006/main">
            <a:r>
              <a:t>La domanda commerciale giusta non e quanto vale BTC, ma quale cliente ha abbastanza calore e una bolletta tale da assorbire l'impianto.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25-50k non devi inventare un miner. Devi mettere insieme componenti esistenti, sicurezza, dashboard e un sito pilota pagante.</a:t>
            </a:r>
          </a:p>
          <a:p xmlns:a="http://schemas.openxmlformats.org/drawingml/2006/main">
            <a:r>
              <a:t>Il rischio non e solo tecnico: se allaghi un locale tecnico o fai saltare un quadro, il prodotto e morto.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Questo e il modello piu semplice da spiegare a un partner commerciale: il cliente ha acqua calda e biancheria, noi riduciamo una parte del costo creando BTC come sottoprodotto.</a:t>
            </a:r>
          </a:p>
          <a:p xmlns:a="http://schemas.openxmlformats.org/drawingml/2006/main">
            <a:r>
              <a:t>Il vero prodotto e un servizio misurato, non il miner.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devi essere netto: se l'impianto lavora 3.000 ore o meno, il modello e fragile.</a:t>
            </a:r>
          </a:p>
          <a:p xmlns:a="http://schemas.openxmlformats.org/drawingml/2006/main">
            <a:r>
              <a:t>Con 4.500 ore diventa una proposta borderline ma spiegabile; con 6.500 ore e buona energia diventa interessante.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i numeri ISTAT per mostrare che il mercato generale esiste.</a:t>
            </a:r>
          </a:p>
          <a:p xmlns:a="http://schemas.openxmlformats.org/drawingml/2006/main">
            <a:r>
              <a:t>Poi restringi subito: il nostro mercato servibile non sono 265 mila strutture, ma poche migliaia con profilo tecnico e commerciale adatto.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la differenza: nel modello hospitality vendiamo calore ricorrente; nel modello essiccazione vendiamo capacita produttiva.</a:t>
            </a:r>
          </a:p>
          <a:p xmlns:a="http://schemas.openxmlformats.org/drawingml/2006/main">
            <a:r>
              <a:t>Il cliente compra se l'essiccazione gli aumenta margine, velocita o qualita, non solo se risparmia energia.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conclusione e meno comoda ma piu vera: l'essiccazione e ottima solo se il ciclo e lungo o il valore del prodotto e alto.</a:t>
            </a:r>
          </a:p>
          <a:p xmlns:a="http://schemas.openxmlformats.org/drawingml/2006/main">
            <a:r>
              <a:t>Per un agricoltore stagionale con 500-1000 ore, non venderlo come impianto: al massimo noleggio stagionale o servizio condiviso.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numero grande delle aziende agricole non va venduto come TAM vero: la maggior parte non ha bisogno o capitale.</a:t>
            </a:r>
          </a:p>
          <a:p xmlns:a="http://schemas.openxmlformats.org/drawingml/2006/main">
            <a:r>
              <a:t>La parte interessante e il 6% che gia fa attivita connesse: trasformazione, energia, agriturismo, filiere locali.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aiuta il partner a scegliere focus: non si devono lanciare due mercati insieme con 50k.</a:t>
            </a:r>
          </a:p>
          <a:p xmlns:a="http://schemas.openxmlformats.org/drawingml/2006/main">
            <a:r>
              <a:t>Consiglio pragmatico: hospitality come wedge, essiccazione come opzione pilota dove c'e gia processo e alto valore prodotto.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l'analisi competitor diretta: il mercato italiano non sembra presidiato da un player locale specializzato, ma il cliente puo acquistare prodotti europei.</a:t>
            </a:r>
          </a:p>
          <a:p xmlns:a="http://schemas.openxmlformats.org/drawingml/2006/main">
            <a:r>
              <a:t>21Energy e il benchmark piu concreto per prezzo, UX e disponibilita EU. RY3T e il benchmark piu vicino al concept idronico.</a:t>
            </a:r>
          </a:p>
          <a:p xmlns:a="http://schemas.openxmlformats.org/drawingml/2006/main">
            <a:r>
              <a:t>Conclusione: non competere come gadget Bitcoin. Competere come servizio termico misurato per B2B.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e la piu importante per non raccontarsela: il competitor principale non e Heatbit, e la pompa di calore venduta da un installatore di fiducia.</a:t>
            </a:r>
          </a:p>
          <a:p xmlns:a="http://schemas.openxmlformats.org/drawingml/2006/main">
            <a:r>
              <a:t>Dobbiamo collaborare con termotecnici, non provare a sostituirli.</a:t>
            </a:r>
          </a:p>
          <a:p xmlns:a="http://schemas.openxmlformats.org/drawingml/2006/main">
            <a:r>
              <a:t>Il DIY va evitato come target: i bitcoiner tecnici non pagano margine installativo se possono arrangiarsi.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posizionamento deve essere sobrio: un servizio B2B termico con componente Bitcoin, non un giocattolo crypto.</a:t>
            </a:r>
          </a:p>
          <a:p xmlns:a="http://schemas.openxmlformats.org/drawingml/2006/main">
            <a:r>
              <a:t>La difendibilita non nasce da hardware proprietario. Nasce da casi studio italiani, installatori partner e dati energetici credibili.</a:t>
            </a:r>
          </a:p>
          <a:p xmlns:a="http://schemas.openxmlformats.org/drawingml/2006/main">
            <a:r>
              <a:t>Se un competitor europeo entra in Italia, la nostra difesa deve essere relazione locale e integrazione, non prezzo.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startup guadagna su installazione, standardizzazione e servizio ricorrente. Non deve speculare sui BTC del cliente.</a:t>
            </a:r>
          </a:p>
          <a:p xmlns:a="http://schemas.openxmlformats.org/drawingml/2006/main">
            <a:r>
              <a:t>Il margine lordo deve stare sopra il 30%, altrimenti l'assistenza mangia tutto.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serve correre: il vincolo e fare installazioni ripetibili e sicure.</a:t>
            </a:r>
          </a:p>
          <a:p xmlns:a="http://schemas.openxmlformats.org/drawingml/2006/main">
            <a:r>
              <a:t>La scalabilita arriva quando un installatore terzo puo montare il kit senza il founder in cantiere.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proiezione e volutamente non da pitch gonfiato: Y1 perde soldi, Y2 pareggia solo se si vendono 30 impianti mixati.</a:t>
            </a:r>
          </a:p>
          <a:p xmlns:a="http://schemas.openxmlformats.org/drawingml/2006/main">
            <a:r>
              <a:t>La leva e vendere ticket piu alti a clienti B2B, non fare micro-installazioni domestiche.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serve a far vedere maturita: il business ha rischi fisici, non solo finanziari.</a:t>
            </a:r>
          </a:p>
          <a:p xmlns:a="http://schemas.openxmlformats.org/drawingml/2006/main">
            <a:r>
              <a:t>Non bisogna mai toccare custodia BTC o promettere rendimenti: diventerebbe un altro mestiere e un altro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chiedendo risorse concrete: clienti, installatore e budget. Se il partner porta solo entusiasmo, non basta.</a:t>
            </a:r>
          </a:p>
          <a:p xmlns:a="http://schemas.openxmlformats.org/drawingml/2006/main">
            <a:r>
              <a:t>La domanda finale e: abbiamo 5 siti adatti da misurare entro 90 giorni?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il partner chiede precisione assoluta, ribadisci che il deck e un business plan per decidere un pilota, non un'offerta tecnica definitiva.</a:t>
            </a:r>
          </a:p>
          <a:p xmlns:a="http://schemas.openxmlformats.org/drawingml/2006/main">
            <a:r>
              <a:t>Ogni cliente va modellato con la sua bolletta e il suo carico termico.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a2a323cf9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7a1c71aed9473d" /><Relationship Type="http://schemas.openxmlformats.org/officeDocument/2006/relationships/slideLayout" Target="/ppt/slideLayouts/slideLayout1.xml" Id="R3962efe932bd4f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2efe932bd4f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96ca02be647ed" /><Relationship Type="http://schemas.openxmlformats.org/officeDocument/2006/relationships/notesSlide" Target="/ppt/notesSlides/notesSlide1.xml" Id="R73e99b5c3d12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ce45122ec4da9" /><Relationship Type="http://schemas.openxmlformats.org/officeDocument/2006/relationships/notesSlide" Target="/ppt/notesSlides/notesSlide2.xml" Id="R134bd2887877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757a367964fc0" /><Relationship Type="http://schemas.openxmlformats.org/officeDocument/2006/relationships/notesSlide" Target="/ppt/notesSlides/notesSlide3.xml" Id="R5a2fdc33e0614e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95633e53f4d81" /><Relationship Type="http://schemas.openxmlformats.org/officeDocument/2006/relationships/notesSlide" Target="/ppt/notesSlides/notesSlide4.xml" Id="R9382edb5af634c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7936af4da4c41" /><Relationship Type="http://schemas.openxmlformats.org/officeDocument/2006/relationships/notesSlide" Target="/ppt/notesSlides/notesSlide5.xml" Id="Rd334fa74f855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1b1ad8992490d" /><Relationship Type="http://schemas.openxmlformats.org/officeDocument/2006/relationships/notesSlide" Target="/ppt/notesSlides/notesSlide6.xml" Id="R85e36451c8ff44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59d5f9f6d4b29" /><Relationship Type="http://schemas.openxmlformats.org/officeDocument/2006/relationships/notesSlide" Target="/ppt/notesSlides/notesSlide7.xml" Id="R51f1275224734c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c7316e76846ec" /><Relationship Type="http://schemas.openxmlformats.org/officeDocument/2006/relationships/notesSlide" Target="/ppt/notesSlides/notesSlide8.xml" Id="R477215f94cab4b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0486aeada4b79" /><Relationship Type="http://schemas.openxmlformats.org/officeDocument/2006/relationships/notesSlide" Target="/ppt/notesSlides/notesSlide9.xml" Id="R380c7e8d763d42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074912a714baa" /><Relationship Type="http://schemas.openxmlformats.org/officeDocument/2006/relationships/notesSlide" Target="/ppt/notesSlides/notesSlide10.xml" Id="Rda86fa170de241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fb4a58ffa4ea2" /><Relationship Type="http://schemas.openxmlformats.org/officeDocument/2006/relationships/notesSlide" Target="/ppt/notesSlides/notesSlide11.xml" Id="Rf8d61bfbfea443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b9a417afb4314" /><Relationship Type="http://schemas.openxmlformats.org/officeDocument/2006/relationships/notesSlide" Target="/ppt/notesSlides/notesSlide12.xml" Id="R48604898a1134c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8966352d64b79" /><Relationship Type="http://schemas.openxmlformats.org/officeDocument/2006/relationships/notesSlide" Target="/ppt/notesSlides/notesSlide13.xml" Id="Rf3229b2ba57245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5e73e5b9d4a58" /><Relationship Type="http://schemas.openxmlformats.org/officeDocument/2006/relationships/notesSlide" Target="/ppt/notesSlides/notesSlide14.xml" Id="Rc474cb69eb694c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1da18fcef48a3" /><Relationship Type="http://schemas.openxmlformats.org/officeDocument/2006/relationships/notesSlide" Target="/ppt/notesSlides/notesSlide15.xml" Id="Rcff176f45d5b42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3571623f341eb" /><Relationship Type="http://schemas.openxmlformats.org/officeDocument/2006/relationships/notesSlide" Target="/ppt/notesSlides/notesSlide16.xml" Id="Ra7f4f337275a4b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028c615d54447" /><Relationship Type="http://schemas.openxmlformats.org/officeDocument/2006/relationships/notesSlide" Target="/ppt/notesSlides/notesSlide17.xml" Id="R5e94bd2aa6694c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4a17c7cde4ad5" /><Relationship Type="http://schemas.openxmlformats.org/officeDocument/2006/relationships/notesSlide" Target="/ppt/notesSlides/notesSlide18.xml" Id="R367e09b58e6a41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f3c5bbebd4a80" /><Relationship Type="http://schemas.openxmlformats.org/officeDocument/2006/relationships/notesSlide" Target="/ppt/notesSlides/notesSlide19.xml" Id="R913a5b89139e49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a2535429b4da4" /><Relationship Type="http://schemas.openxmlformats.org/officeDocument/2006/relationships/notesSlide" Target="/ppt/notesSlides/notesSlide20.xml" Id="R673e606ae1574e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2bc66f1a34e34" /><Relationship Type="http://schemas.openxmlformats.org/officeDocument/2006/relationships/notesSlide" Target="/ppt/notesSlides/notesSlide21.xml" Id="R334d365035d14c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70b85c59d46ad" /><Relationship Type="http://schemas.openxmlformats.org/officeDocument/2006/relationships/notesSlide" Target="/ppt/notesSlides/notesSlide22.xml" Id="R26144b45bd6f4e8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2d8bff8cf4556" /><Relationship Type="http://schemas.openxmlformats.org/officeDocument/2006/relationships/notesSlide" Target="/ppt/notesSlides/notesSlide23.xml" Id="R5a4a3bca9e0b46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e350832d4392" /><Relationship Type="http://schemas.openxmlformats.org/officeDocument/2006/relationships/notesSlide" Target="/ppt/notesSlides/notesSlide24.xml" Id="R292448e0315240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2f086355a487d" /><Relationship Type="http://schemas.openxmlformats.org/officeDocument/2006/relationships/notesSlide" Target="/ppt/notesSlides/notesSlide25.xml" Id="R13b06859d9a649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4aa77ec3a49e0" /><Relationship Type="http://schemas.openxmlformats.org/officeDocument/2006/relationships/notesSlide" Target="/ppt/notesSlides/notesSlide26.xml" Id="R4ebacc4cc0b44e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25EC5-8D46-4F6C-AE61-3DF02F7E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46B"/>
                </a:solidFill>
              </a:defRPr>
            </a:pPr>
            <a:r>
              <a:rPr sz="1500" b="1">
                <a:solidFill>
                  <a:srgbClr val="5A646B"/>
                </a:solidFill>
              </a:rPr>
              <a:t>Business plan verticale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39A18-C11E-4B9E-8FBD-CB0B07B1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334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11111"/>
                </a:solidFill>
              </a:defRPr>
            </a:pPr>
            <a:r>
              <a:rPr sz="4050" b="0">
                <a:solidFill>
                  <a:srgbClr val="111111"/>
                </a:solidFill>
              </a:rPr>
              <a:t>ASIC heat per hospitality e processi di essiccazione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68575-1E8A-4498-B255-9BD08CF9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6B"/>
                </a:solidFill>
              </a:defRPr>
            </a:pPr>
            <a:r>
              <a:rPr sz="1800" b="0">
                <a:solidFill>
                  <a:srgbClr val="5A646B"/>
                </a:solidFill>
              </a:rPr>
              <a:t>Due servizi reali in Italia: calore da mining Bitcoin usato dove serve molte ore, non come gadget domestico.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5C9F5-F5D6-4B6C-A2AB-8CA2F62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Preparato per partner non tecnico + discussione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24FB1-F038-479F-A1FE-B00EABD1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6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1390253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7B423-EFFC-4125-89F9-672BDD3D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07294-F849-41DC-A3CA-D201BB9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Verdetto: testabile, ma non ancora un business dimostrato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34C24-33F9-44A5-9547-A093DE55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La fattibilita non va confusa con il fatto che la tecnologia funzioni. Il punto critico e trovare clienti che usano abbastanza calore e pagano abbastanza margine.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87A03-309B-4F58-9A3C-A0E3D8F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6B41B-56D9-4E18-97F8-2D3BFD92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6C62"/>
                </a:solidFill>
              </a:defRPr>
            </a:pPr>
            <a:r>
              <a:rPr sz="3150" b="0">
                <a:solidFill>
                  <a:srgbClr val="176C62"/>
                </a:solidFill>
              </a:rPr>
              <a:t>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236EC-AA7D-4897-B43E-F5578F35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 senso fare un pilota pagante: hospitality e lavanderie sono il primo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A6849-627C-402B-B762-C873C90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5CA36-65F8-4D56-9568-D6284018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27A29"/>
                </a:solidFill>
              </a:defRPr>
            </a:pPr>
            <a:r>
              <a:rPr sz="3150" b="0">
                <a:solidFill>
                  <a:srgbClr val="D27A29"/>
                </a:solidFill>
              </a:rPr>
              <a:t>Forse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A4581-AC68-4933-B5EC-341EDE7D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Essiccazione: interessante solo con molte ore annue o prodotto ad alto valore.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7F0A9-AF27-4FCE-BBE3-CBA376A7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487B5-4266-4750-B8CC-52EDC4D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84B3A"/>
                </a:solidFill>
              </a:defRPr>
            </a:pPr>
            <a:r>
              <a:rPr sz="3150" b="0">
                <a:solidFill>
                  <a:srgbClr val="B84B3A"/>
                </a:solidFill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D50A0-30F7-42AB-BA99-DE657A7C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Non e pronta per vendita larga, famiglia media o promessa di rendita BTC.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B6B72-DD30-4E55-A41E-4213A595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61811-0685-456E-8073-A9E3B129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BF8F5-796B-4678-B065-21CA25C7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25-50k = dimostratore + LOI. Non e lancio commerciale.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001B3-B8B1-4BD5-B064-0BA33548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Tesi onesta: validare il mercato con 5 siti paganti prima di investire in hardware, team o rete installatori.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BEAD8-35A3-4B5A-AF3C-3A27B587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25C00-8BDD-4E7C-A38C-B3775953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1158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EC023-E04C-4606-9504-133DF04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AAE9D-74AD-4C06-BDFE-B7B395D3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Fattibilita brutale: cosa e vero oggi e cosa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BA2A1-92A0-4D80-8DE1-B4C52571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progetto va trattato come esperimento commerciale misurato. Non e ancora un business plan bancabile senza dati pilota reali.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EA18C-2850-4D75-A170-A53F9A2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62BF6-0601-45E8-A8DA-69DEFEF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CB9D9-A437-4CF4-8FB5-1248CAB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Valutazione onesta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23267-6E66-4011-B215-F78E0443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Perche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2B40F-7A87-4E6D-91CE-561B7153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0150-E7FC-4729-B156-51D9144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Tecnologia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7BB02-63D2-4569-9F5F-9AC035A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7/10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AE961-7462-4FB4-A398-29A26698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recuperare calore e fattibile con componenti esistenti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17283-A06F-4291-98FB-5A3668E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62892-492B-40BB-AEBF-DF9B9053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Hospitality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D2A09-E0C9-47FD-B0FC-8200718C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55/100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A5D36-34EB-4DAD-BE59-0439FDC9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primo target, ma servono &gt;4.000 ore utili/anno e bollette reali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1A0E0-3C05-47DE-86CC-57431F6F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87906-B3C5-420B-A5A2-374D0FA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Essiccazione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12C7C-B0EA-4A64-A82A-B0F9DAFB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40/100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DA075-01FD-4D09-9E41-22FB3A3F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upside alto, ma piu stagionale e processo-specifico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DFA49-06C4-4273-B88D-D5AD23A9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D2098-046B-42F6-9C90-7321BD2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Scalabilita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2703E-5986-4B0E-AF27-AFF7F07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3/10 oggi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3FA7B-9CAC-4B06-82CB-0E33EDF9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troppo custom finche non esiste kit ripetibile e installatori formati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9CA91-3B47-4E85-9C56-6C69F23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367BD-3442-41F5-996F-2F92B722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Budget 25-50k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4EC39-1231-4566-9EF4-8AC5DEFA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6/10 per validare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F7EE3-85E5-4864-99F7-204A0CCE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basta per MVP e LOI, non per lanciare societa industriale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EFBFE-A823-434F-A806-8CF100E0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09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24F28-7873-4E93-92F1-7046F2F3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14550"/>
            <a:ext cx="2190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2AEE66-ED2F-4FF6-A5BF-609D03C1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71056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093D6C-3A51-4640-8A1A-3CB9EAC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Decisione corretta: partire solo se il partner accetta metriche di stop/go e non vuole vendere una storia piu forte dei dati.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F0B4E-F913-4C71-991A-817B4265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64CE98-B3B9-4D46-A642-686FC507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84632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7D854-85C0-4067-B25A-F71BDE76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4A0E3-6CC0-45C2-8B98-8EB03FE8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Spiegazione da zero: un ASIC e una stufa che produce anche Bitcoin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8512A-C79D-4330-BA55-5DD5F1F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Un ASIC usa elettricita per fare calcoli della rete Bitcoin. Quasi tutta quell'elettricita diventa calore. Il nostro servizio cattura il calore e lo manda dove 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2DFED-8C54-4C66-BEDA-F2766E24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3EA63-B86B-4451-BA00-BFEADE4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Elettricita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ADC43-0068-4210-A04C-1089A1F7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 rete, FV o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045D1-B677-476F-BA95-87864B6F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E9068-4275-49F6-B79D-203E0460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E028A-6B22-422E-899B-5C1E7DF8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ASIC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110D3-7EC4-4D02-AA12-07A42ABA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calcolo Bitcoin + calore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9448B-6181-4C3A-AEE8-CC30783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FA1E0-6C32-4BAB-A2C3-572A669A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B3E25-C21E-4D89-817E-39B532E3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Scambio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A0497-22F8-434C-9F9E-2273D345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separa miner e impianto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AE1F6-11CE-4247-BF41-5E715CD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C2DD8-4B35-4342-B168-A5973EC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D59B5-3E3E-47C2-8C56-29346622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Accumulo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6AC15-D6A8-4E4D-8551-2706CDDA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acqua o aria calda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9E60C-C7D3-4BD1-A865-6D43492E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05651-09DC-49EB-8AD0-F648F2BA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BCAB3-3D33-46A9-8C33-7D06C432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Cliente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EFF6D-AC54-4AD5-B20E-9A5B94F6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ACS, lavanderia, spa, essiccazione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5A67E-3EA5-4107-903B-E0B140BE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 S21 assorbe 3.56 kW: circa 3 kW diventano calore utile se il recupero rende 85%.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2C0FC-E10C-4A54-97DA-3970CB7D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BCF66-F6FD-46E1-A83C-CE435F6C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3266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B4895-71F8-4423-8D7D-D29A892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4BA61-8F27-475E-AEAE-9354C8D8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La regola economica: elettricita sotto la soglia, oppure non funziona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07FA3-1899-43EB-A138-E9E5515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Ogni kWh elettrico speso produce due ritorni: BTC e calore utile. Se il costo del kWh supera questi ritorni, il cliente perde soldi.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BDD75-0CDE-4BF4-A11F-B0F0AD85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02D47-5221-4615-863B-05878D8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F4C9B"/>
                </a:solidFill>
              </a:defRPr>
            </a:pPr>
            <a:r>
              <a:rPr sz="2550" b="0">
                <a:solidFill>
                  <a:srgbClr val="2F4C9B"/>
                </a:solidFill>
              </a:rPr>
              <a:t>BTC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B3EF1-2406-4DE8-8B2A-04C4BE0C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62 per MWh elettrico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alle condizioni modello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C3B39-A5AC-4408-99F0-DFD2585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03423-9FA5-4801-87F2-858EBC0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C8E6B-7EAA-4340-9C1A-63B038B6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6C62"/>
                </a:solidFill>
              </a:defRPr>
            </a:pPr>
            <a:r>
              <a:rPr sz="2550" b="0">
                <a:solidFill>
                  <a:srgbClr val="176C62"/>
                </a:solidFill>
              </a:rPr>
              <a:t>Calore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E2A2C-B4D5-4EDD-ABC8-CF83C49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85% del kWh diventa calore utile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 il sito lo assorbe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D2F49-B565-4889-A867-728B781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1855-65A0-489A-88EB-41C9821C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A1EEE-A5E2-4423-A3A5-C882C5C9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84B3A"/>
                </a:solidFill>
              </a:defRPr>
            </a:pPr>
            <a:r>
              <a:rPr sz="2550" b="0">
                <a:solidFill>
                  <a:srgbClr val="B84B3A"/>
                </a:solidFill>
              </a:rPr>
              <a:t>Soglia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E5436-22AF-4027-A0B3-B8140601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Con calore a EUR 0,16/kWh: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energia max 19,8 cent/kWh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BE9A2-55A8-4337-B3F8-760CC207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Tradotto: con energia industriale a 18-25 cent/kWh serve calore molto prezioso; con FV/surplus o contratti buoni diventa molto piu realistico.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BCEFF-5D6B-4DCB-8C58-5167257E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DD288-3DDC-4CEB-A24A-19AC927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07644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7813E-33DF-43F0-AD3E-3EC0B39D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81B85-3A6D-43CF-B994-1D108A1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Perche un cliente dovrebbe installarlo davvero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29C71-2485-4EF8-BD2B-99AC2C4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cliente non compra Bitcoin. Compra un modo misurabile per abbassare un costo termico reale e riceve BTC come upside, senza custodia da parte nostra.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99C61-7CD7-484A-AD3B-4E0F8E4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72C08-F250-4A58-A3E6-E261C64E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1. Bolletta termica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D8F98-93C4-49A0-9A55-F16A560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Sostituisce kWh che il cliente usa gia: ACS, lavanderia, spa, piscina, essiccazione o puffer.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D53E2-EF6C-4A6E-83AC-9EC6E8C5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F41D0-DC9F-4ABB-81E4-FBB42B3D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2. Energia buona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7E594-84E0-4B8D-8532-19B45B5D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861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Funziona se il kWh elettrico e sotto soglia: FV, surplus, contratto favorevole o calore molto prezioso.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B6FEA-BBFB-4EAC-8764-5187DB3C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6D1CB-66DE-472A-9E6A-6A2D85C7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3. BTC trasparente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D7083-3D94-4E8E-B4CB-0E57CFA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Wallet e pool intestati al cliente. Noi vendiamo impianto, telemetria e assistenza: non rendimento finanziario.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6AB98-64D0-4DBF-A8B8-AC42F5E7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14C14-D441-43F3-A727-057A1D36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Conviene 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EFAEE-902B-469C-91F2-0CF77073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387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Da scartare 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97599-074E-4BCB-9F3C-E10729DB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Prova prima di vendere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0B5E8-FFFA-498D-BC5C-4C879BE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51FEC-90C1-4855-AD1D-ACCA93E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molte ore termiche + costo calore alto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50055-002E-4FD7-83CC-9A45514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95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gas/PDC gia economici o domanda stagionale bassa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BCE9E-F0BD-4D28-B478-B42A0935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bollette, profilo orario, contatore termico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1EE56-6615-4561-823C-96B26D68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83C74-E420-4FB5-B824-66F4478A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FB068-5F5E-4A7F-9DD6-36CD685E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109DA-C3CF-4B89-AEEA-794C151A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4B3A"/>
                </a:solidFill>
              </a:defRPr>
            </a:pPr>
            <a:r>
              <a:rPr sz="1725" b="1">
                <a:solidFill>
                  <a:srgbClr val="B84B3A"/>
                </a:solidFill>
              </a:rPr>
              <a:t>Regola commerciale: se non si puo misurare il beneficio netto annuo, non va venduto.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50B9C-8645-4A11-9AAC-D0589BB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FC8C2-F747-4257-8FDE-078A3E3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26406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C37750-0DBB-4A31-8B3E-3850FBE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BEA52-E13B-4D4F-8C87-A24FA036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BTC 5 anni: scenari usati nel modello, non previsioni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4ABA0-F53E-4E33-9D07-FFF1E17C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Ancora dati: BTC a EUR 55.889 nel modello interno al 2026-06-21. La tabella serve a stressare il payback, non a promettere prezzo futuro.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A807A-51CE-41AB-866A-26FA569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BD250-B832-4C69-8773-1F74F97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Scenario BTC/EUR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7F40E-B82D-4322-B1C5-47AB098E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E55E4-D312-4C7C-89D0-C3D9B947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55B17-F25F-47FE-94E2-8B0DE27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E1BE4-391B-4CCE-B1F5-CC2B94FE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210EB-3CCE-4032-8E49-03D2432A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2286000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Anno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841CD-5F49-4FC5-8E45-7E199D72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5113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852F9-1A58-41E0-BD30-E663148D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1313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Prudente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35FE9-3397-494F-ABA0-42363B04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35k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3AD62-1717-4FAF-9F27-C22C3418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40k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F6915-C4D6-49C6-B3D7-E56EE03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45k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51ADE-DA70-4D95-BD4E-32AAE3B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CC0D8-F115-44B4-B18C-606C25A3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2881313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55k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F7E49-C415-4687-911E-AA0EE28F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64167-E6A3-4E60-9431-830FC633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DC3D9-23E7-4CC2-8D8D-DC27E35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56k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E6AB4-AFB5-49DF-911A-0CE7FC7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62k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FFB05-4C97-4523-B5F7-7087B98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70k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53D7D-6D8C-4C9F-AB99-0A2FBCB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78k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ED8BB-86C0-438E-B92D-ECD9097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3476625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86k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1026D-0A04-482B-BE65-794F654F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5738"/>
            <a:ext cx="1055370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BC9BE-58E7-4C89-AF62-1589D1B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1938"/>
            <a:ext cx="2224559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6CAEB-C88C-4A96-BC0E-72C0C1F3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309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56k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313F2-3D70-41AC-BF61-8963A49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58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85k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33CA8-AEC7-4E82-AF05-C7104F27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006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120k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CB78FD-D481-47B1-B788-40241F1A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54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160k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7D3A6-FD0B-45FF-9DCE-66F66E3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2" y="4071938"/>
            <a:ext cx="1482948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220k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2E0D71-4607-4AF3-A6CB-25592225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376959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60BC74-6A60-4411-BB06-3D61C9C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109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187E5-B4CD-4CBE-AE78-45976A1E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458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BD7B5A-EAD4-4A0E-B860-19DB3A27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6806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2D97D-FD6A-4541-864F-2A145E9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154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36E6F8-E1DE-40F7-8A7B-5EDFD044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502" y="2209800"/>
            <a:ext cx="1635348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18822A-FDE5-417C-A35F-D18E4E01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379E80-A5AB-432B-B257-CC33F454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4B3A"/>
                </a:solidFill>
              </a:defRPr>
            </a:pPr>
            <a:r>
              <a:rPr sz="1800" b="0">
                <a:solidFill>
                  <a:srgbClr val="B84B3A"/>
                </a:solidFill>
              </a:rPr>
              <a:t>Assunzione prudente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BCE33C-7A97-4534-A1AF-927F35CB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05450"/>
            <a:ext cx="4305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Solo il 60% della variazione prezzo BTC passa al ricavo mining: il resto puo essere assorbito da difficulty, hashrate e fee.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B29DFE-F264-4B07-A9A0-6CDA4FF8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0D1BBE-FD68-4AA3-A7EA-C7BD5EB4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816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6C62"/>
                </a:solidFill>
              </a:defRPr>
            </a:pPr>
            <a:r>
              <a:rPr sz="1800" b="0">
                <a:solidFill>
                  <a:srgbClr val="176C62"/>
                </a:solidFill>
              </a:rPr>
              <a:t>Lettura corretta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DBD924-E817-43DD-A7D5-704DC2AA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4305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BTC puo accorciare il payback, ma il business deve reggersi prima su calore usato e kWh elettrico sotto soglia.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743CF7-BC58-4220-BF85-08E7F145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research/output/model_data.json; scenari BTC ipotetici per sensitivity, non forecast.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C340AE-5BED-49B2-B1A4-2AAC44FA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98618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0F8E5-BC86-44A2-A6D5-F1B5778C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81BEA-7AA7-4DEF-879D-FAF924F4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5 anni: quanto cambia davvero il payback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EA03A-A28C-46FB-B985-DFA44240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46B"/>
                </a:solidFill>
              </a:defRPr>
            </a:pPr>
            <a:r>
              <a:rPr sz="1575" b="0">
                <a:solidFill>
                  <a:srgbClr val="5A646B"/>
                </a:solidFill>
              </a:rPr>
              <a:t>Il conto sotto parte dagli scenari base: hospitality 2 ASIC, essiccazione 4 ASIC. I valori sono cumulati netti dopo CAPEX: se restano negativi, il cliente non ha ancora recuperato l'investimento.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5FA4C-4D2C-4F6C-9593-9CFE721C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C62"/>
                </a:solidFill>
              </a:defRPr>
            </a:pPr>
            <a:r>
              <a:rPr sz="1350" b="1">
                <a:solidFill>
                  <a:srgbClr val="176C62"/>
                </a:solidFill>
              </a:rPr>
              <a:t>Hospitality base: 2 ASIC, 4.500 h/anno, energia EUR 0,12/kWh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2151A-D285-4675-8FA5-A7AFF86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4C9B"/>
                </a:solidFill>
              </a:defRPr>
            </a:pPr>
            <a:r>
              <a:rPr sz="1350" b="1">
                <a:solidFill>
                  <a:srgbClr val="2F4C9B"/>
                </a:solidFill>
              </a:rPr>
              <a:t>Essiccazione base: 4 ASIC, 4.000 h/anno, energia EUR 0,10/kWh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6F19E-C8E6-4D1E-8D79-6D18A770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0A9F2-2662-4B86-8E16-D06369E1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Hospitality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768E5-AE40-412B-B81F-D090B57A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Anno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C677E-7A04-48A4-8342-1C7D5A82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5y dopo CAPEX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50F94-E87B-4AE5-8D2D-E8DBC3E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97602-0DE1-4786-8EFE-A652FA56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16151-7CC0-4805-B5AF-FF0BAE9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Prudente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8B100-CA8A-4214-A3C8-3C5CECF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2897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2065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F6BBB-81C7-4AB3-9085-C8860B5C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289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-12.600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C1819-1602-4B06-AD7C-AF72EE79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2897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67CAB-2602-46BD-82A2-C3D37CE5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6E2C7-9CAC-43D7-AEBC-DB20C8A9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B1845-3EE3-4085-9090-A32FD37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2516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5F8A1-5399-42AF-BF24-E6CB82C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-9871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0CD9B-17A9-4CE4-9F38-A507D798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B635F-1951-47BC-866B-843856C8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F765C-5E34-4C38-AA95-6F576A67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9102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4C6FE-C6CB-42F1-BBF8-80138140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9102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2516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8C25D-EC28-4E72-9488-888AE8A4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-3662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17A73-8716-4616-940D-89F2E467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9102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386F1-1F47-46CC-8F17-F858B9D4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428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184D68-FD3F-4E75-946F-108CDD8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71750"/>
            <a:ext cx="123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35B69-033F-4153-BB20-9F21D990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619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BB3BD-8275-424C-8AB0-96E6A515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143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0CAB93-A3D8-4D5B-BFD8-C40775B5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41D9A-4667-4243-8BD4-B8F28E76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Essiccazione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F9EF3-7E63-40F3-BA81-9188706E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4795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Anno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52223-B978-48E0-B311-1D8B5349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4795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5y dopo CAPEX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427FD4-630A-480D-830D-B30E8226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64795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B76C69-E865-473F-AF44-0924BF2D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5277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D5E558-3BBF-4ED9-A571-40256F4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2897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Prudente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7472C8-1AC3-48D2-AD18-C0AC5AF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2897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4811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C3F04-A68C-4DB8-8EC4-BA42270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289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-19.037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530DD1-4030-4D04-A622-C04C5DA8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22897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169637-E7B3-4222-8353-2BC5E2BD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2DAEEE-B927-4823-BF8C-3F9542FA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0000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E220E4-507C-4146-BA82-81BC30C3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1000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5613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3B2293-7B83-4DDA-BEB8-CC764EB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10000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-14.186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161642-3F9A-43BF-A721-ED925153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810000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99B732-E7E3-45B7-9606-8CDA1D79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14825"/>
            <a:ext cx="542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B6A07A-DFA0-4F67-AF17-3CC20164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1276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14A053-64EB-4710-B8D1-4F05248C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391025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5613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6B3587-86FD-4049-839A-E0C4F2E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9102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EUR -3147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2F5DBB-AA7E-494E-A052-95F39668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391025"/>
            <a:ext cx="99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457428-80DE-4902-A715-EF866ADB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1428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9EBD5B-2691-4607-B28F-9F88AA12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123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072A08-4551-4680-B39B-209BBED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1619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C4E3A7-45C3-49C2-9735-61537986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71750"/>
            <a:ext cx="1143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E66AA9-7DFC-4F83-A661-2736FD4C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Lettura brutale: nello scenario prudente il pilota serve solo se il cliente valorizza molto il calore. Nel bull case BTC accelera, ma non salva siti con poche ore utili.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4EE248-EF3A-4D7A-8EC9-D994818D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modello interno; pass-through prezzo BTC -&gt; hashprice al 60%; valori prima di tasse e manutenzione straordinaria.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948B51-E4AC-444E-A0CD-D3114F9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17956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AE65C8-7DE2-45B7-B867-3B98A3F5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DE57B-D79B-438E-850D-8E45F14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La leva vera: ottimizzare sito e costi prima di sperare in BTC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B3CA2-E456-4A1F-963A-8F31763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prezzo BTC puo aiutare, ma le variabili controllabili sono piu importanti: ore termiche reali, costo elettrico, CAPEX installativo e standardizzazione del kit.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A1BAD-2640-42D9-A4D3-1A23D956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6F658-C964-4822-B916-DD619AE6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1935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0C626-A446-4BBD-95E3-F4EE2506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1935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Leve operative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D899-BDC2-427A-A666-D086CC8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C94D1-1715-4D50-86C4-C7CC9982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5y dopo CAPEX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1305A-0286-4F88-9473-FE2E152F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1935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46940-E8AA-4C9E-936A-0D238C4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322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1A760-869A-428B-A35D-427681B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942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Hospitality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7489C-E4DA-4F40-9EDE-C8185910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7942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4.500 h, energia 12c, CAPEX 24k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B8ED3-784B-45DB-8850-058A0B2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942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B14F9-71F7-4E04-8883-262F34C8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942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-9871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ECB78-15EA-4ACD-85BB-C40604A3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7942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E4C8C-9405-4AF2-93D0-E699EB7C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329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3FFD9-4FC6-46B7-9033-8AB0A87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949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Hospitality ottimizzato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AD6-E4B3-4450-809B-FAC3EFC8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3949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6.500 h, energia 9c, CAPEX 21k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8ACDB-DC30-456A-BEF3-4BF97F3D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949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EC46A-B0EC-4E43-8FC8-D95912C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949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10.284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846AB-E481-4B54-9F22-882C39B1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3949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anni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A6451-92A8-4F41-BE6B-5ACA21A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336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EEDF2-53BC-47D7-9C31-DB78FD9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956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Essiccazione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2C3C1-D1DE-495B-BED9-D197F204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956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4.000 h, energia 10c, CAPEX 45k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1E28B-F147-4C4C-BE37-4B2451F5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956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15AC9-A8D8-42DC-8C3A-87FE893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956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-14.186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F39B17-71AC-4C03-B782-7F57646B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9956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&gt;5 anni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E89D2-5CFB-40AE-AC79-A3BCE81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3430"/>
            <a:ext cx="11391900" cy="560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E4FCC-AE0D-46A5-85FC-082D568E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59630"/>
            <a:ext cx="22764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Essiccazione ottimizzata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A24D5-A67B-49D8-AF8B-5345500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59630"/>
            <a:ext cx="35147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5.000 h, energia 8c, CAPEX 60k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04FDB7-557C-43D6-8BB2-5EFE3012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9630"/>
            <a:ext cx="10858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0556E-B8B2-414D-BAAB-96338A5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59630"/>
            <a:ext cx="21812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38.232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C37AA-0A54-4DAD-8A9D-CBB85840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59630"/>
            <a:ext cx="157162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anni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7A70CB-6F75-445F-BE5D-9A4FFA7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428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B1C4F9-8766-47A1-AB98-DDAFF06A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43150"/>
            <a:ext cx="36671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28089F-BBEF-4227-82FA-81E38B9E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12382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6F7337-7A68-484C-BD28-1380CB2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23336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6C772-A4CE-46CE-9EFC-82339557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343150"/>
            <a:ext cx="17240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D45127-A269-462B-BFF9-EF50206D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Messaggio al partner: cercare siti ottimi e installazione ripetibile vale piu che costruire il pitch su BTC alto. BTC e upside; il cliente firma per un beneficio energetico misurabile.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2F040-27EE-41CF-A936-76DAB02E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modello interno; sensitivity su ore, energia, CAPEX e BTC; valori indicativi da validare in pilota.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F53CF1-547C-4C52-8103-8A5D2BBA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0961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7F972C-EBF2-41E2-B24D-093329E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0A850-AA6F-45CC-B999-1D9AC3A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Cosa serve per iniziare: non hardware proprietario, ma un kit integrato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9E9F5-8DAA-4B95-9AEC-2C224155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839F3-760E-4FB8-9B3F-7AAAC8C5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Blocco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5EA88-4781-4BDA-A757-E45A816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Cosa include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8683D-D9AB-44BF-9295-30318DB5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E2064-B9AE-4054-9604-C9B1CFE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56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64EB1-4D5C-4FC1-9C61-A2C372BF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18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Miner + raffreddamento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5BCFC-BBAA-43DD-A4A3-AFECC242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18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1-2 ASIC, airflow/hydro/immersione leggera, isolamento acustico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9350A-69F6-41ED-B851-CB4675DA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18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4-10k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40C8A-B6D9-4B13-88D9-8455351F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495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279E7-8084-48E4-B644-5931F3D6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115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Termotecnica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85052-D87B-43E8-A548-F6A63F5C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115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Scambiatore, pompe, valvole, puffer/boiler, sensori temperatura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E5C80-D7EB-46DA-882B-BA4C2097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115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6-14k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10E80-0848-4566-8286-374A147C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B3E91-221B-4AAC-984B-939C893B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Elettrico/sicurezza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FC256-8299-4A62-8624-5E907FE4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042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Linea dedicata, quadro, protezioni, sezionamento, allarmi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C9EF2-BA84-4964-8FC5-DE019CFC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042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4D950-238D-469F-9694-18CDD024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35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4DDDB-4067-4E51-821B-B00EFB92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97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4154B-695C-4F67-8FD9-03DD13D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97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Dashboard, log energia, allarmi, spegnimento automatico,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6418B-962A-46E0-9889-4E270C8F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97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5-15k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85CD9-54F4-46B7-8231-0755CB0B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27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43A93-DC46-4AB6-AAE7-8E3ADDF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89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Assicurazione/legale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30D4AF-369F-494C-BECC-2D31AE5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89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RC installazione, contratti, privacy, non-custody BTC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D56E6-E1A7-49E4-B3C7-770DE46D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89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CD4B8-22A4-469F-BC27-339229AD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95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510BDC-5ACF-4A24-9B9A-BEF0CD6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76400"/>
            <a:ext cx="7048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7839C-A5D7-486C-AEC1-27A324C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76400"/>
            <a:ext cx="22479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6B561-5AD5-448E-9E46-877D88E5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Budget 25-50k: un dimostratore serio + telemetria + vendita pilota. Lancio commerciale minimo: 120-250k.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40BD3-1F44-437A-9B5B-74B4C4C2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8E7AC1-AA04-435A-A4D3-D79BABF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1269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920AA0-61BB-484D-BBA9-39260BF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E17E0-73D2-4D4A-BF45-A5B621C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1: agriturismi, B&amp;B, spa e lavanderie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F1007-B70D-4491-9589-136703D4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servizio installa uno o piu moduli ASIC termici per coprire acqua calda, lavanderia, spa/piscina o integrazione di puffer esistenti.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EC0D3-5C89-4833-A9C0-DE287F3A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225CF-B4E1-4F4A-9CF8-40E6FE1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Cliente ideale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DCF60-B29C-44A1-8044-B1DFA2B7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Proprietario presente, FV o energia buona, ACS alta, lavanderia, locale tecnico e sensibilita a costi energia.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9E98-1E75-4752-AB6B-BAE7D43F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EEB08-67A3-4B32-A868-CC3837E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Offerta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57778-3A78-40B1-A744-1ED620B4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Vendita/installazione kit + dashboard + manutenzione mensile. Nessuna custodia BTC.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2B4F3-F7AB-4516-BE57-0F4DE2B1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90C67-F0AC-481A-8C34-FE8EFECA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Prezzo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985FE-1461-4ACE-88C2-932227B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18-30k per 1-2 ASIC installati; EUR 99-250/mese monitoring e assistenza.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CDDEF-47A6-452D-BBEA-9C42236D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24934-2CF7-43DA-BCA9-42D622F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D4B96"/>
                </a:solidFill>
              </a:defRPr>
            </a:pPr>
            <a:r>
              <a:rPr sz="2100" b="0">
                <a:solidFill>
                  <a:srgbClr val="6D4B96"/>
                </a:solidFill>
              </a:rPr>
              <a:t>Perche 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2ADCE-B98D-433E-9EDD-E2CECD4A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Turismo record, extra-alberghiero in crescita, costi energia ancora sensibili.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15845-45AC-401D-97E6-92458FF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Go-to-market iniziale: 5 piloti in strutture con bollette reali e contatore termico. Senza dati kWh, niente promessa commerciale.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8DF70-04B1-4177-9391-02C0EA76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mercato: ISTAT ASI 2025 Turismo; modello economico interno BTC/ASIC.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47F35-5E0F-43EF-95F0-E086CB56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7348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184AB-1BC8-4996-909A-F5B6C7B0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198F3-EBDA-4B6A-A0A9-988DAC10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cliente hospitality: funziona solo sopra 4.000 ore utili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B14B8-14CA-4F0A-A5FD-7A50B7F7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5DB56-7411-4156-AF8F-B178ED45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 2 ASIC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6E272-26D6-43F6-85BA-603D72D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175260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70C7A-7080-40A8-96E0-81F7BFBE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Energia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78501-EA05-4832-9D84-4506C7A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3A791-5218-46D6-A543-09A346B8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133E8-8C02-4C82-B98C-704CACA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53E61-6355-4DF8-ADB0-0EF253EC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C5706-A733-4587-A98D-2619E63E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D5AB9-B37A-440C-9A9F-449554A5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256222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3.000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4C83C-CB17-4F2F-8E74-272B5EF9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21.360 kWh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0B208-A81D-412D-A411-8FEF4140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18,2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26E5F-0CFE-44CD-9149-70D4861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D345F-6DA9-408D-8DE2-957922A9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5589F-6A71-4FCD-9473-D0640682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B5715-441D-41D9-849C-EACC1DA6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28F2C-3BA4-443E-84D9-4AEE7EFC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337185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4.500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31B7B-85AB-4E6A-9A5A-549B47AF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32.040 kWh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CAE15-2153-4166-AD74-93CC9140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27,2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821A0-7B58-4D28-B5DE-DD46DD0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56956-228D-450A-B4D9-9EF9AFC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9,5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DC914-0D75-4ED8-963E-E4C2ECC8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871AE-93EF-4727-86B0-1900D227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6504E-DC6A-48E1-86D2-67CA1B25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418147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6.500 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C8833D-F092-4D2D-95D7-D528FA38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46.280 kWh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7B741-0EFC-41BE-A490-4BC3BF26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39,3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26C20-E061-42F3-8D37-A923DF8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9B14A-F08E-402E-ADFA-7E96140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4,1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BF16CA-63DD-435B-A5C8-F3586C66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B08E38-601B-4592-8188-8F1C5C5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179" y="1676400"/>
            <a:ext cx="1449878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5C79A-4A27-4D68-B4A9-CA73663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057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1A64F9-74AB-44E8-9AD3-598F365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875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CC63DC-3692-4E32-8DEE-6B9904FE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004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E831D-EE41-4A4A-BA2B-72516678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821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628512-72E1-4239-A191-8A1C615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0FEB6-0981-48A8-B5E7-5CEA5873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426303-ED3B-465A-B150-2D7FA3DE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E8B761-EAA4-4FA4-99C7-B7A70A4C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630BD-A01A-4F99-8583-4395B08F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2389"/>
            <a:ext cx="2959100" cy="120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62F537-4469-4B58-934E-F70C8578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568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E5A239-0EA0-44A2-952B-FA0C8343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F34A64-19CD-4A91-AF96-B98F00C2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74329"/>
            <a:ext cx="2959100" cy="278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5609CC-3249-412A-93E3-800396D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500762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63C729-6004-45B0-8AAE-330FBC7B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F6DAC2-575B-4571-8AD0-4616F90A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C1F15A-ACF0-40BD-8887-68A2341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9667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18E7A-62F7-4476-A1F4-F92C08EC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96AD0-EDE4-45A8-A2EC-F0803B57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hospitality: grande in superficie, selettivo nella pratica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6562B-2384-4124-B303-2195736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ISTAT 2024 fotografa un mercato ricettivo enorme, ma il nostro cliente non e ogni struttura: serve carico termico, spazio tecnico e decisione rapida.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F6C4F-69E1-4BB1-957D-B03E88CA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BB04D-EBCD-4222-BCAB-DB34ACD7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466,2M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A9620-E084-471F-B750-68A2F0D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Presenze turistiche Italia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F278B-BF25-4ADD-88F1-C1F143A7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1DAD6-C751-4F4D-BB77-0830A944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32.943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2E7AE-D29A-4444-A4BA-2CE3FD0A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Esercizi alberghieri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5AAAF-BF97-41B3-A4C7-7E0C49D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FE25D-9F3D-4CE5-9D76-D47FAFA0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21.215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5E675-7ADC-4C20-95FE-BC26E819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Agriturismi ricettivi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E3F35-D49A-41A2-A276-998C4EA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4F0C8-5FCE-4EF5-B2A9-69A21C4A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D4B96"/>
                </a:solidFill>
              </a:defRPr>
            </a:pPr>
            <a:r>
              <a:rPr sz="2700" b="0">
                <a:solidFill>
                  <a:srgbClr val="6D4B96"/>
                </a:solidFill>
              </a:rPr>
              <a:t>35.015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4EA37-2599-4F6C-BB84-4D88D44C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B&amp;B rilevati da ISTAT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15B4C-336A-4B7C-BE02-163AF67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0EAFD-7937-4E26-B425-D9D94BF1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Filtro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D7534-7596-4FFE-BA3E-CB8ECFE5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Italia stimata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33A1F-1DB0-4791-8020-3043C926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96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Perche entra nel SAM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5B171-EB9C-4216-B04A-DF989E3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7E63B-3D4E-4888-9522-9E430FC0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Carico termico alto + FV/energia buona + proprietario operativo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2E324-242D-4869-BEB1-1A77DE8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24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3.000-8.000 siti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B4AC5-2736-4664-87DA-230A0557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244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agriturismi, piccoli hotel, spa, lavanderie, strutture montane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2B042-2686-4CAA-BD70-6B651743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530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B5759-5A4A-463A-841B-7700286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SOM 3 anni realistico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2CF53-9B64-4E27-9E1B-A51750AC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100-250 installazioni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20C15-34F8-440E-84C6-29ED2F24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292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dipende da installatori e casi studio misurati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63EC9-9FB8-42BC-A726-99D27B18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F1F06-03AA-44B1-BDD4-9E1F35D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434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742B4-0743-4BB6-8480-EE6227C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565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C21D5-D66B-486F-9F61-3F4D2B55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Turismo, Prospetto 19.1 e 19.2; stime SAM/SOM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4D506-5D42-4290-8AC1-1EE74A83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3345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ECE2B-BB97-4778-A417-CDCD0E46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CDE8C-3A38-40D8-882D-D2661F85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2: essiccazione agricola, legno ed erbe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47A4B-428E-43DF-8A5F-BDAD8023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Qui il calore non serve per comfort, ma per processo: asciugare prodotto, ridurre tempi, stabilizzare qualita e liberare spazio di magazzino.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19742-A340-441B-9AF7-983D8DCF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CC078-9B45-4CF5-99C0-75AD30B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Agricolo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2F77B-AD9D-4401-9E6A-7EEC3198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Erbe officinali, peperoncino, frutta, funghi, piccoli lotti premium, foraggio di nicchia.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B6D83-0343-4FB9-BB5A-8503A18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F17DD-4464-4503-A4A5-5CC9FDB0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Legno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17082-F76A-41F0-A2C2-DACC07D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Legna da ardere premium, tavole piccole, falegnamerie e micro-sawmill con cella.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355F9-3340-4638-9DF2-B2B7736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B430-8E6A-4CD1-A760-4C542F5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Servizio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63E73-D82D-4931-99AE-1DCB3A1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Modulo aria calda 2-6 ASIC + sensori umidita/temperatura + ricette di processo.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FE4FD-291D-421B-B768-1BE9D8C8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2352C-5A39-4083-9E81-BE04CA0F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4B3A"/>
                </a:solidFill>
              </a:defRPr>
            </a:pPr>
            <a:r>
              <a:rPr sz="2100" b="0">
                <a:solidFill>
                  <a:srgbClr val="B84B3A"/>
                </a:solidFill>
              </a:rPr>
              <a:t>Rischio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2D191-7BA4-4C27-AC27-9EB0D632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Stagionalita: se lavora poche settimane, il payback crolla.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A3B4C-D52B-49C9-83CC-DED7D55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Questo modello puo battere hospitality solo se il processo gira 3.500-5.000 ore/anno o se il prodotto essiccato ha alto margine.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883B7-D004-4CEC-9874-83C392D1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assunzioni operative interne su essiccazione.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D3061-28C1-49DA-93A5-8D87C71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8017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2D08F-0F1D-48B5-8EA2-61D1046B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43714-816C-4393-83BE-4D0A2BB1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essiccazione: ore e valore del calore decidono tutto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D5229-C3E0-4E9E-8912-C832B3DC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AD736-7743-4F73-A04A-6ED7D6FF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33F14-5F49-4234-8E98-E59C9395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Modulo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AB939-3529-4358-B7D9-14C36D91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7855F-A05B-43FA-84ED-7E3074AC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175260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D65B1-F400-4DA0-98EA-4DC97C71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175260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5830E-2869-4E8B-9CBB-3A78D551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175260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A5B74-905E-4736-B741-8E13B538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80652-A6FA-4B21-9832-86DC36C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Stagionale 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6D308-A89B-45EA-A9A3-F8D502AB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D30F6-33DD-4B14-B33D-4C76FB36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2.000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ECF8B-FD42-47B1-AA7E-CC3D81A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256222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24,2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7EE2C-9864-483B-8F52-07C6314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256222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47A4F-46FE-4C5D-8334-21273A8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256222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25,7 anni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A57C4-DFBA-47EB-B39C-DE273D1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78F90-AB8C-4F9D-8910-3360E3E2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 difendibile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A4114-1927-4B4F-AC8D-29CA59E8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ECCE7-1BA3-4197-991A-035ADAC3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4.000 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5C78B-9ED4-465A-9E0C-B030CB4C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337185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48,4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55CA3-2192-4711-AD3A-C268DAA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337185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73DD3-F80B-4F2E-8E2D-AA418952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337185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8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AF1AB-CD1B-42F5-8A32-229B06C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49C46-95B5-48D6-A603-AFE1766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6DBDC-9C7A-42CB-B8C3-CA7B185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ASIC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BCD9C-47A8-4A4F-B60C-D596F1C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5.000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CADDA-72C5-439F-B7ED-2550DD80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418147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90,8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B188E0-1ED1-418C-A3C3-8011C822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418147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E696E-4E34-450B-BED6-DA7C6784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418147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4,7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3BCAC-EBA0-489B-B2EC-E75D2D6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5259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CF3E4-D2D2-422A-9FFF-686E9682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45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959E81-5A0D-489F-9179-3D2A40C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091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F2CED4-B12A-4B2E-A5AD-8EA19E24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36" y="1676400"/>
            <a:ext cx="215522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084AAD-1012-43C1-916D-364BEA80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761" y="1676400"/>
            <a:ext cx="225785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05C02-9E28-4139-ABB5-7B630153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615" y="1676400"/>
            <a:ext cx="184733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2E0F0D-D29B-45FD-B504-AD606780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08B374-9BF5-4D3F-84EB-0BA9A88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699479-30FE-4FA3-B0F3-7E26074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25F71A-8052-4257-B809-3036D50B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990627-BE54-4131-ACB6-0B9986BF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6403"/>
            <a:ext cx="2959100" cy="116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7881AB-C7E1-49BB-99C5-D9B794CC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9703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C4072E-BD41-4124-8226-9CE38DE5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D34E5-EC48-4684-9C80-CC14454B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52112"/>
            <a:ext cx="2959100" cy="300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CCEAD1-C872-4441-89CC-4EBF285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985412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99ABF9-FA6F-4AFF-AEF1-5EBE05AC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55B6DE-85E6-4994-983E-E1D2D17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A3C7BA-E1B1-4824-824C-F4EDFA83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04618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80744-241D-4753-8EB4-CD3A140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15E03-800F-4A18-978E-360EB91E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essiccazione: non enorme, ma molto piu verticale e B2B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C90DD-49F3-43E6-A2F2-9CD13458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mercato va cercato tra aziende che gia diversificano, trasformano prodotto o hanno bisogno di asciugatura controllata.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B960A-9845-4A9F-90D1-A88D9CD2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432EB-A149-4107-BF0A-4A2649F2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1,13M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1B6F8-024D-4160-A21B-496FC31F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Unita produttive agricole in Italia secondo ISTAT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A7088-D839-4C6B-AE4A-260ABB3F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2262F-D692-4CD8-ACA5-5E892351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7B50E-2ABD-4449-A46C-4C4E741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Aziende agricole con attivita remunerative connesse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30BAD-358A-4AFD-BC5D-9D166E66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97488-57E0-4DFF-B96D-9BC1B0B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Nord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C9236-70EC-4A40-BA00-ED492F8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Quota attivita connesse piu alta: 12-13% nel Nord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293ED-0B04-484B-A328-BD8CD6B9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8169C-08E1-407C-82A8-CB68EBBC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D4B96"/>
                </a:solidFill>
              </a:defRPr>
            </a:pPr>
            <a:r>
              <a:rPr sz="2400" b="0">
                <a:solidFill>
                  <a:srgbClr val="6D4B96"/>
                </a:solidFill>
              </a:rPr>
              <a:t>SAM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5AF26-48D0-4955-B18F-0B8F1423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1.000-3.000 siti potenziali: erbe, legno, frutta, funghi, piccoli processi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07FA5-997E-4F90-ABF1-F5C47C91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06619-6160-41D5-9A1B-603244C0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Segmento migliore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C7F71-A4E1-4625-95DF-FB632424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958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Motivo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C960E-1393-4406-9E3F-873A0CF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958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Problema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7800E-A424-4F09-B44E-CFDC2F9E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90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6EB41-7FB0-4EC2-A651-7A424DE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52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Erbe/prodotti premium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4AB93-196B-4AA8-85D7-49E5EAE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752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Valore prodotto alto, basse temperature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E1D28-0AEB-4981-B4B4-CB56D135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752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volumi piccoli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B43B3-FD1B-4F81-85E1-BAA67531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84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997EE-C4D9-4B23-A29E-726A3241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46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Legno/legna premium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19488-04FE-4631-A920-B422D65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546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lunghe e calore continuo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92C906-AA70-41C3-A8DB-438201F6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546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essiccazione critica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710F4D-68E2-40C3-985E-7BBE5F2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F6AD6-41D2-4D78-A22A-85BB5CA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3D404-3DB8-4E90-AC07-A99D43C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954D4-CE64-49F8-8CB6-DEF924CB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stime SAM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9DD7D7-2CF6-41C2-BDBD-AC34E5CA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170061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C5668-DC52-4CCE-88DF-802C01DA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9E9DE-9520-4978-B022-87B0B367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Confronto dei due modelli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40F9B-BB62-447F-95C3-D9527C5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77187-1466-4642-9371-CEF6C859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Criterio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910C6-FEA7-46FB-A672-06C1F0C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Hospitality / lavanderia / 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063F5-A9BE-487D-81C5-1CD6BEF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Essiccazione agricola / legno / erbe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9E622-3C07-499D-A490-9E021EE5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5866A-BDD3-4236-BAC9-1ED37FE0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Facilita vendita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0E767-48A7-4D6D-8B2D-BFC88503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Alta: problema chiaro, bollette e ACS visibili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63D6B-6B1D-46C0-90F4-5E0C38B8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Media: cliente piu tecnico e processo-specifico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42419-A712-426F-93BD-D5E953A0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F55E0-59F1-4148-A3BB-9E3C2DB3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466AF-61A7-44A4-BE98-552A48AB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4.000-7.000 se il sito e giusto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36D42-F96E-42E2-A756-D935BCCF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2.000-5.000; spesso stagionale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B5A76-6EA6-4D73-84AA-81AEEE7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BC585-3621-47E7-A591-795861B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Ticket installato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94249-C81F-4DC8-BC19-7684D59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18-30k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D2145-0221-428E-86A3-2E0ADEA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35-70k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BCA51-B438-460B-AD7D-870C01A9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97BAB-D01C-47A1-AD00-5B00E170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Payback realistico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60E5D-FB5D-416F-95B7-E769B5EC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4-10 anni nei siti buoni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19964-3A8F-414F-AE97-68D544F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5-12 anni, ma solo con ore/processo adatto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08DC4-A64D-4B06-A256-968D119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3C931-3503-4E4B-870E-DAB6708C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Scalabilita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CAC5CF-D119-4F8E-9BEB-317E8D34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Migliore: installatori termotecnici e casi studio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98A77B-01B5-4B69-BB39-2A87750B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Piu verticale: necessita ricette di processo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3DAAD-4C56-42D6-B049-DD8BA3E7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8324C-B443-4D0B-93B9-B00FB99A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Rischio maggiore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A204D-8461-4C1B-9573-AC6D8B98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sottoutilizzato fuori stagione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18319-B201-4B24-BC39-7047FF97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prodotto e cicli troppo brevi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1661FA-D6B4-4838-893F-18D9E98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886B91-447A-4DF3-8E49-8DC96F6E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D3C2A-24E3-41C2-8C83-2415DD8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AA7C3-C2E8-4B7B-9188-038C79F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Priorita consigliata: partire da hospitality per validare vendita/installazione; usare essiccazione come seconda linea su 2-3 pilot premium.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6CABB-4DD7-47AA-8A22-51E4009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5829A6-BAE0-4B40-9B4A-E575E6ED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846794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FA0205-8014-4D3B-B2BB-E34A8B15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7C8A0-B7D0-47D7-A93C-E66DA07D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Competitor Italia: pochi diretti, molte alternative forti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C3B23-C220-41AC-9F69-E8C928C2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46B"/>
                </a:solidFill>
              </a:defRPr>
            </a:pPr>
            <a:r>
              <a:rPr sz="1575" b="0">
                <a:solidFill>
                  <a:srgbClr val="5A646B"/>
                </a:solidFill>
              </a:rPr>
              <a:t>Non emerge un leader italiano verticale su ASIC heat idronico B2B. Pero un cliente italiano puo gia comprare prodotti europei/online o scegliere tecnologie termiche piu mature.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220F7-04BA-4C69-B90B-611F3732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B9102-CEF4-488C-97D0-47A847F9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562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AF080-F2BD-479E-B060-7948EC6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13239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Italia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7F562-B659-4836-9C63-18D133D8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29908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Offerta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AEB14-765F-4B43-AFED-F8C9018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21336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Punti forti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58600-C481-4E68-8DA7-53AD816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6193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Limite per noi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6B4FB-7EA9-41CB-BF0A-06605154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511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9B068-7836-4704-81ED-662776C6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61310"/>
            <a:ext cx="1562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21Energy Ofen 2/Pro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E3924-E9E8-430E-9D15-A869D396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61310"/>
            <a:ext cx="13239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shop EU include Italy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CBDC-BAC2-4CF9-A0DB-AB7FB7D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61310"/>
            <a:ext cx="29908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1.770-2.410; 40-60 TH/s; 1-1,1 kW aria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DCFC4-8AE0-4B2F-B103-100484E4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61310"/>
            <a:ext cx="21336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CE, app, prezzo chiaro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DDA40-8E5A-4958-84E1-E63E7973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61310"/>
            <a:ext cx="26193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ACS/idronico; B2C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639BB-4913-4494-B9E3-7EB7B02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042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C2A15-1E00-4F96-90EB-32159F5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6620"/>
            <a:ext cx="1562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21Energy 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057E8-AA68-4F62-9C1A-3742791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36620"/>
            <a:ext cx="13239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Italy selezionabile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83884-91A3-4BFF-85EA-852A17E5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36620"/>
            <a:ext cx="29908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6.400; 1,5-8,28 kW; 360 TH/s aria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E4055-3F66-47D2-965B-49B5315A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36620"/>
            <a:ext cx="21336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potenza industriale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C2214-0B1E-48CC-A394-21EFE235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36620"/>
            <a:ext cx="26193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rumore 50-70 dB; aria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D58C9-887E-4C89-8157-C6BF2E8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573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A1AE1-28D0-486B-877A-9EA70B6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1930"/>
            <a:ext cx="1562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RY3T 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5573C-7197-47EF-90CD-BD12921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11930"/>
            <a:ext cx="13239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DACH/CH, possibile ingresso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D1F94-1CC2-423C-A0F6-AE20FCE5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11930"/>
            <a:ext cx="29908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7-14 kW in impianto termico esistente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66247-F47C-4D4F-A433-5CFDE6A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11930"/>
            <a:ext cx="21336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competitor piu simile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D82A3-0E49-4884-A7CC-30C11290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11930"/>
            <a:ext cx="26193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prezzo/prova mercato da verificare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07B23-6396-4BB8-BA5B-80A1CA53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104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55EEA5-FA92-4432-8EF6-345BF39A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87240"/>
            <a:ext cx="1562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Heatbit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C3BF8-D2EA-466A-8A31-30C2083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87240"/>
            <a:ext cx="13239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online consumer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48B347-6B03-4E8C-A3A3-E0EC859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87240"/>
            <a:ext cx="29908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USD 849-1.499; 10-60 TH/s; heater/purifier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0288C-D658-4315-B181-70042750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7240"/>
            <a:ext cx="21336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brand e onboarding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C43F0-C4FA-41D9-970B-4346553B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87240"/>
            <a:ext cx="26193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 B2B, no ACS, ROI fragile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7562E-C2A4-4E79-8AB9-1D71491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7145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B33E3-01CD-4E2C-808B-E1706EE0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09800"/>
            <a:ext cx="14763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7E0EA1-9593-4D2F-A606-A006692B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09800"/>
            <a:ext cx="314325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206241-258C-45B3-A264-2D3F664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09800"/>
            <a:ext cx="2286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9FF7DE-9866-4EF3-952B-0ED57347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09800"/>
            <a:ext cx="27717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C36D19-8339-4090-9D10-EEFAA262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Lettura onesta: il vuoto italiano non basta. La barriera vera e installazione locale + dati misurati + fiducia termotecnica.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EEA795-7ABB-4A9B-B7F8-FD7A91AC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21energy.com prodotti Ofen/Edge; heatbit.com; ry3t.com; Wired review Heatbit Maxi Pro.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5E4AA0-14DC-4312-9BC2-E39F74B5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85197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FA8C9-C7C4-4AF5-BA48-3F6AF7DB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5CFA2-60CD-495C-9106-A221E6E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Competitor veri in Italia: budget energetico e termotecnici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451EC-348F-4475-A4A2-472D626F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Nella vendita reale il cliente confronta questa scelta con soluzioni note, incentivate e installate da professionisti che conosce gia.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02911-7DC8-4D45-8B12-24475C6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63647-3BE4-421F-B8D9-4D99C7B9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324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Categoria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EF2BD-69D2-4E4A-8772-D9A9A1B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43243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Perche puo batterci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CDDC9-A3F2-4DC1-AC63-8610EB19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2862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Come difendersi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A8701-E70E-41CB-840D-08CD551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701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D82C-4193-4FF8-86C2-FCEBE6BD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3210"/>
            <a:ext cx="2324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Pompe di calore / solare termico / biomassa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526A4-B321-4D64-B20A-B3C198B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3210"/>
            <a:ext cx="43243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ROI noto, incentivi, manutentori locali, rischio percepito basso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A96F5-36B9-4171-BB10-37C8B566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23210"/>
            <a:ext cx="42862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sfidarle sul COP; target dove calore + BTC + FV surplus creano extra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8194C-D80C-4CD3-9B1C-67EEFBE0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232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09AEE-543B-4EA1-801C-5D050EA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8520"/>
            <a:ext cx="2324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FV + accumulo / energy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6A875-6DB8-4AB4-9ABF-423E26E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98520"/>
            <a:ext cx="43243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stesso budget, meno rischio narrativo, uso tutto l'anno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6F18D-AEDC-49C4-88CD-D908C9F4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8520"/>
            <a:ext cx="42862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posizionarsi su autoconsumo termico e calore misurato, non su batteria alternativa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3546D-5C90-438C-BDD8-C8C38C6D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763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7D137-98AE-4391-BD27-4565251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3830"/>
            <a:ext cx="2324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Termotecnici locali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01124-8FA1-46DA-9FD1-14CD0CB7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73830"/>
            <a:ext cx="43243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fiducia, accesso al cliente, influenza sulla decisione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448A2-0E63-4786-A8DD-F45AE9A7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73830"/>
            <a:ext cx="42862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trasformarli in canale: kit, manuale, margine installatore, DICO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016D0-6627-4B3D-A7DD-DB37B54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2940"/>
            <a:ext cx="11391900" cy="575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6E14B-EBA1-4B81-AE38-338BBCE1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9140"/>
            <a:ext cx="23241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DIY ASIC + ducting/immersione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5906E-2945-444A-9220-4D27BD3B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49140"/>
            <a:ext cx="43243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molto piu economico per bitcoiner tecnici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8FF93-CB2B-40F0-9C3E-062B2D1A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9140"/>
            <a:ext cx="42862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vendere sicurezza, garanzia, report, spegnimento automatico, responsabilita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1890A-0C88-4B9A-99E1-F1B3BFC0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4765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4ED0E-2B7A-4980-981C-09CF96E4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71700"/>
            <a:ext cx="447675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F5898-9A99-4A48-AAE7-37778DDC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443865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17F5C-E684-473E-B7C5-4E7CD70C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B3A"/>
                </a:solidFill>
              </a:defRPr>
            </a:pPr>
            <a:r>
              <a:rPr sz="1575" b="1">
                <a:solidFill>
                  <a:srgbClr val="B84B3A"/>
                </a:solidFill>
              </a:rPr>
              <a:t>Brutale ma utile: se la proposta e solo 'riscalda e mina', perdiamo contro pompe di calore o DIY. Se e 'calore B2B misurato + BTC non-custodial', ha una nicchia difendibile.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A8A77-92E9-4DDB-A932-8D20E11A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GSE Conto Termico come benchmark incentivi termici; GSE FV 2024; analisi competitiva interna.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61B13-1CE6-4E01-8204-B686889A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014304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50F8D9-80C7-4967-9EFF-2B11AD79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A3B69-2E91-4F8C-BA52-904DBA1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Posizionamento: non essere una stufa Bitcoin italiana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B8439-31FB-4E1B-B804-DA1C040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La nicchia difendibile e un servizio locale B2B con installazione, telemetria, sicurezza e dati energetici; non un prodotto retail contro heater gia pronti.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86AC-DD88-40F8-A2E0-962E553D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09A42-AFA6-42C9-82A1-E756C5F2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6C62"/>
                </a:solidFill>
              </a:defRPr>
            </a:pPr>
            <a:r>
              <a:rPr sz="1950" b="0">
                <a:solidFill>
                  <a:srgbClr val="176C62"/>
                </a:solidFill>
              </a:rPr>
              <a:t>Dove vinciamo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08D6A-AEDE-4831-822C-337A39BB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Siti con carico termico alto, locale tecnico, proprietario operativo, FV/surplus o energia buona.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07A51-E37C-4EC6-BB4E-C018C193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CED96-827F-499F-8541-2E97BF93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4B3A"/>
                </a:solidFill>
              </a:defRPr>
            </a:pPr>
            <a:r>
              <a:rPr sz="1950" b="0">
                <a:solidFill>
                  <a:srgbClr val="B84B3A"/>
                </a:solidFill>
              </a:rPr>
              <a:t>Dove perdiamo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9ABBC-0375-4A8A-AA4F-16BC1271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B2C retail, stanze singole, ROI puro contro pompa di calore, clienti che vogliono rendita BTC.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08195-E3E5-4F16-8418-0BDB659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C5C57-316C-4383-8B76-D6967609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F4C9B"/>
                </a:solidFill>
              </a:defRPr>
            </a:pPr>
            <a:r>
              <a:rPr sz="1950" b="0">
                <a:solidFill>
                  <a:srgbClr val="2F4C9B"/>
                </a:solidFill>
              </a:rPr>
              <a:t>Moat realistico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06308-BE44-48AC-939F-35BD9EB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Dati pilota, manuale installazione, rete termotecnici, dashboard kWh/BTC e contratti non-custody.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3D8E0-13F6-4C3C-86D0-56D055C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2E2AD-9C21-4365-B530-FCA3317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27A29"/>
                </a:solidFill>
              </a:defRPr>
            </a:pPr>
            <a:r>
              <a:rPr sz="1950" b="0">
                <a:solidFill>
                  <a:srgbClr val="D27A29"/>
                </a:solidFill>
              </a:rPr>
              <a:t>Mossa iniziale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9691F-B07B-4C52-AA58-55310A0C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5 piloti documentati in Italia prima di brand, stock, brevetti o campagna retail.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B406C-0950-4E3E-A7AB-CFA15AA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0477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D5B6B-96FB-4E26-BE13-F1F3CE3B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5467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Claim da usare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679AE-789F-45BE-887B-EA304ADB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0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Claim da evitare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534FE-E44A-446B-B2D1-EFFA101F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F1F3D-5291-47B4-8253-22114F19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5467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riduce un costo termico misurato e genera BTC come upside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0EBB0-914F-4F2F-82CD-76D3202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62575"/>
            <a:ext cx="470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acqua calda gratis, investimento garantito, rendimento BTC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11C1F-1188-47FD-B7FF-45A5E672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C55C2-D194-4D80-BC7B-6D969CE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9585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0F6D2-6122-40E6-B5DF-ED759E87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competitor: 21Energy, Heatbit, RY3T; confronto alternative su modello energetico interno.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90A6C-7D13-4BB3-9130-86A5351F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984523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CBAD8-1901-4B7C-B857-6980F53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DBCDC-3BD6-4F3C-B632-0545D14B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ricavi e margini per la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3BDA6-6A15-405E-BFD2-B9DD13DE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1CB17-AE0E-47B6-8B7C-94BFF966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Prodotto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AA659-C14D-43FD-AE7E-C1E27D9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Prezzo 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6CF79-8897-41BC-A8E2-C10A970B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diretto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9C846-59F7-4662-AE56-ED8C8ED4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Margine lordo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BE45F-F9A2-41F7-82A6-80034A4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Ricorrente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7FEB0-902B-4608-A254-2EF70355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196B7-BBF8-4F5E-BDEA-4C5A53AD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Kit hospitality 1-2 ASIC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2E909-0AE2-4546-8A69-76C4989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24k medio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2B125-AD4F-4D5B-ADBD-F637AD8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17,2k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27342-6FEA-4B5C-A180-BC00B76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6,8k / 28%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5E0F9-BDDE-497D-8B67-A7034662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99-250/mese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DDFF2-6716-4053-AFF6-B4FDD86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690E2-B2E2-4A02-B770-04EE12EF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Modulo essiccazione 4 ASIC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6EF43-EC1F-4880-8B06-ECBB6477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55k medio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99A8C-36E7-416E-BF3D-01F73E0A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39k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FEF85-A292-4AB9-ACDA-E1B7FCFD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16k / 29%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2BF6D-AC7F-49DE-8176-C1763A87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200-400/mese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81ACD-A95E-4ABF-936D-CE188DB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53F9D-5A28-48FA-8B00-05FE9E3F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8622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Dashboard/assistenza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58863-4DEB-4268-A93C-BB2A60D8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inclusa o SaaS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47CEE-55E6-43A0-9CBF-1FD5122F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hosting + supporto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574B6-4F0D-4798-A0ED-3E8C029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60-65%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6510D-1238-4A8E-8B1A-4A5AEF19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8622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report kWh/BTC/allarmi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D86F0-9F68-41FB-9990-6BF33B49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2381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411D5-26DC-4DEC-8D72-B602A245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E6620-D7F9-4393-A7AF-0F3FFFD3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57AC2F-01C7-46A8-A7B4-5BEFE98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0CD38-A3D4-4BB7-9007-616EBEC7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3009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6296A4-401F-42ED-888B-4B89CC3C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31D66D-00A4-4025-AF91-FEA67B36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C62"/>
                </a:solidFill>
              </a:defRPr>
            </a:pPr>
            <a:r>
              <a:rPr sz="1650" b="0">
                <a:solidFill>
                  <a:srgbClr val="176C62"/>
                </a:solidFill>
              </a:rPr>
              <a:t>Margine obiettivo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9CE531-5AB1-4629-9165-68126550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30-35% hardware+installazione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82B8E1-5B19-4396-8F85-31DAC702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825E9E-E3E9-4901-83E6-3BC10BA8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7A29"/>
                </a:solidFill>
              </a:defRPr>
            </a:pPr>
            <a:r>
              <a:rPr sz="1650" b="0">
                <a:solidFill>
                  <a:srgbClr val="D27A29"/>
                </a:solidFill>
              </a:rPr>
              <a:t>Break-even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FB6135-086B-46FD-8911-9FE0852C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25-35 installazioni/anno mixate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57CC2A-2D49-48AC-8FF5-F28349C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ACFEAD-F96B-41B2-AAC3-EB12607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4B3A"/>
                </a:solidFill>
              </a:defRPr>
            </a:pPr>
            <a:r>
              <a:rPr sz="1650" b="0">
                <a:solidFill>
                  <a:srgbClr val="B84B3A"/>
                </a:solidFill>
              </a:rPr>
              <a:t>Nemico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A5EAC-52D4-43FF-9393-73E9B992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installazioni custom non standard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18106D-F364-42AA-B930-AC17970C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0881EE-06DA-413A-BAF4-876C07CE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405616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0A606-D7E0-4873-BABC-54D3EA6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19265-A637-45C0-8F54-E4A26837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Scalabilita: da artigianato tecnico a rete installatori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A0C40-CD9E-4C88-8FEE-E9A9F71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0-3 mesi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F69B6-D8C6-4A73-8ABC-ADD09CC4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47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Dimostratore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DC821-7ED2-44F3-9394-6FC856C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25-50k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762CA-7BBC-46A7-87EF-DD9B030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 sito visibile, dashboard, sicurezza, primi dati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82F61-13E4-4A54-B4AC-B8C24D31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2937F-960A-4972-8F4B-AB63F4A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3-9 mesi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10B04-C24D-4A38-99C8-1F489688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5 piloti paganti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7B362-6C78-4144-B7AE-5FF6B50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80-150k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B98C0-3E7C-4EBF-AEF1-C1FEF0C2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 hospitality + 2 essiccazione; contratti veri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AAAB2-D71F-4EB4-94E0-22BF55F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C9869-EC62-4EE6-BF27-F555463D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9-18 mesi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020C8-A21D-4169-8B5C-2FDE9972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4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25 installazioni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DED0D-68BD-4BBA-BCB3-525B8AC3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200-350k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2A7CC-E831-4EA3-9A81-F0E84D5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manuale installatori, kit standard, casi 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6DA6E-48DC-4E3F-9435-67267ED6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C39A4-315C-41FB-9ADB-81A9F7D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18-36 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B0414-745C-402B-A840-9B8EF9B7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100+ installazioni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49B25-5A06-4575-9E7D-8DE6D23B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500k-1M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7B3E2-03E5-44E8-899C-B5A22AE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partner regionali, stock componenti, service desk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B9C75-8E75-4CC7-B5AD-2201A585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9B930-E23F-40FF-8748-094A165D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Prima assunzione full-time solo dopo 5 siti paganti e zero incidenti. Prima rete installatori solo dopo kit ripetibile.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CA614-31A3-4EA6-A56C-39BBDD8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D5631-E8A2-4C81-BC51-1AA14DDB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438727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26C0A-6203-4D5E-911F-8408DA70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24766-7CC9-4055-91C4-B791C78F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Proiezione startup: possibile solo con disciplina commerciale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9AED9-7FF2-43AA-897C-6A185DE2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A6C1F-0359-44BF-87DD-267D4E42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Anno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7706E-5EFD-42B5-84CA-35B007BA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Mix installazioni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535AE-B374-4F6A-964C-F4E0059E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Ricavi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91E07-90EB-4F55-8B73-850FE81A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Gross profit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B3333-2CA0-41CD-AA7D-643B2065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Opex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46903-1C12-4C7B-8DC9-3B04BF7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EBITDA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6C01A-FB30-45FA-A2B1-0585D31F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2F1FB-26EE-41A0-819F-7B302AEC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4EEF1-2633-40F7-8837-637AD93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hospitality + 2 essiccazione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A80E9-55DC-43E7-B3AA-108DBA6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264k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E57BD-3A0A-4D74-9CEC-0A1DA41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79k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50EF2-B8F1-473C-823A-A6E3CBE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180k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7D982-5E15-4AF5-AD2D-6B9BB51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-101k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E74D8-5481-4255-B9F5-7CFF18D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6991E-77DE-491B-92C8-C76C5A56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847BB-EC04-4AE8-B98B-9EA4D37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20 hospitality + 10 essiccazione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7BE99-9552-4A74-B2C2-36F4A261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1,10M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D549A-0B5D-4A1C-B22E-666401AC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341k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B78E7-82BA-4C56-858C-2663943C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300k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1B05A-6998-49B2-AF13-DA75948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282BA-3E63-44F2-B477-A02C7FE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0217A-F614-471D-99FE-D014E07C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91BDB-ABD6-419F-B69D-7C729037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45 hospitality + 25 essiccazione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77890-CFCF-49D6-B040-0CA20D19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2,64M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81D750-30A1-48ED-9190-27923DB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823k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7F8A7-0FA1-47FE-829B-CA02239A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500k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B46C8D-1674-45DE-AE2D-47243A8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243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323k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DF683-A0BE-43C0-B321-AF108BB3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4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576178-603E-4093-B452-C91EEA88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7640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970D23-6D49-4AE8-8BA7-3B9E70AA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CDA51-8CA3-431E-8A65-C64526E9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FCDB03-DB5E-472C-AD0F-D89E352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1619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25F1A-74E6-4178-B9F9-A2EBBA24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19621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28C34B-8ADA-4CE9-86CC-7BECB97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DDC6E6-D6F8-4E11-B243-9C572D3B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2451100" cy="8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8677CC-34EA-4D80-975B-A68B5728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9555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-101.000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B974D7-944B-4DF3-B247-A2F155DC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C9ACAD-7395-4117-96F9-A2AD72A1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5686425"/>
            <a:ext cx="245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0EC9A8-7B90-47A9-8FB9-01534E4A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419725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41.000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E3EBB5-0F77-4157-A8B2-5B7E2807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C79221-94F9-4BA0-90AF-971CF86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5461260"/>
            <a:ext cx="2451100" cy="272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507845-9B07-42DC-AF1C-9CBA82A8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519456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323.000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51E745-F17B-445F-8063-30B4DEA8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943042-C6FA-49F2-8579-D3BBF7FF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46B"/>
                </a:solidFill>
              </a:defRPr>
            </a:pPr>
            <a:r>
              <a:rPr sz="1200" b="1">
                <a:solidFill>
                  <a:srgbClr val="5A646B"/>
                </a:solidFill>
              </a:rPr>
              <a:t>EBITDA scenario disciplinato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319B7A-B9CF-432A-8EE8-36DA8356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D0C051-47F2-4941-B35A-C502D2C6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875039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18F16A-F2D9-44B9-A879-E6C60220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F7B2C-14A9-4FF2-9852-4BA468A6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Rischi, compliance e kill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71CA0-02AC-4733-A5C0-2B67C50F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39559-25EE-48C2-A16C-3E98F79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Rischio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BF5D0-3951-4FB8-BE81-77C6ECC5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Come si controlla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EDFDB-C7DD-4FB5-872F-2BE663C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Stop se...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C422F-4C09-4941-86EF-53C069B3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9B40A-948C-4EDD-B5B1-02F4618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Energia cara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70EB2-E217-4956-A66A-4C9377EE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82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cliente con FV/contratto buono; soglia kWh calcolata da bolletta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F0D1C-5C99-4A54-AE3E-0C964ECF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82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costo energia &gt; soglia per 6 mesi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AA95A-47B9-4BB4-8FED-108B1E4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765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A5A16-E478-476C-B5F9-7B514456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6385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non usato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3D849-A2C7-4FEA-AC94-D6A1E06D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6385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contatore termico e log ore utili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885E4-49FF-4C9E-865D-EB751C8A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6385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 &lt;3.500 hospitality o &lt;3.000 essiccazione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33734-B783-4966-9216-EB12EA87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A4EE8-54AF-42C6-A129-1109EC35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Installazione pericolosa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A1E4C-41D2-433C-BFF9-5EB3DEC0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1947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DICO, elettricista/termotecnico, assicurazione 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7FDCC-A0AB-4963-8014-1878FF0D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1947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 incidente grave o near-miss ripetuto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CB1FF-760E-46DF-B4C8-F2551210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89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8339C-0B25-4B36-81AF-DF6EE40B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51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BTC/difficulty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7644F-CF35-4E30-8C83-0A340DD4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51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basare vendita su prezzo BTC; sensitivity trasparente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F462D-8B71-4555-9D69-07E739E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751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ROI dipende solo da BTC alto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BC784-7EB7-4338-BA7E-388C4B44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45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5B4AC-D3FE-443E-89B4-595D5360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07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Regolatorio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2EF47-59E2-4525-BA2F-9A73F614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07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 custody, no gestione fondi, wallet/pool intestati al cliente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BD6A0-08EA-41AC-BB8B-AE840B58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07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serve autorizzazione finanziaria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B136D-54EF-456E-AD90-159E592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6957F1-C65E-4E83-BCBB-1A9D1458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D3C679-ADBC-4AA0-969F-FE02EEC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962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7DC57-D301-43DB-9F25-6C4DDC2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Kill criteria principale: 5 siti paganti devono dimostrare beneficio netto &gt; EUR 1.500/anno o valore produttivo documentato.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1FAF5-2D79-4F41-948A-9091AF71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regolatorie: modello evita custodia/servizi finanziari; impianti da eseguire con professionisti abilitati.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BBAB88-E627-40EE-B070-638BCF3D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540255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2D240-7367-49A8-B48F-F048C4B0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63516-2CA8-4AA5-AC15-DB426AEA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Decisione proposta e richiesta al partner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BB18E-FA87-471C-B4BA-B2F51EB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Procedere con un pilota commerciale, non con una startup industriale completa.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BEBB3-7600-4C72-9913-C2504B32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227D9-0B91-405B-800B-0778D7AE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6C62"/>
                </a:solidFill>
              </a:defRPr>
            </a:pPr>
            <a:r>
              <a:rPr sz="2250" b="0">
                <a:solidFill>
                  <a:srgbClr val="176C62"/>
                </a:solidFill>
              </a:rPr>
              <a:t>Fare 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42C2C-01CC-45AF-AE6E-4BD9D104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 dimostratore + 3 strutture hospitality + 2 siti essiccazione. Tutti con contatore termico e dati pubblicabili.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DC4D6-B4E6-4AED-8E1F-317A14BA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BFE7E-CB69-4B0F-8529-6FB3B35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F4C9B"/>
                </a:solidFill>
              </a:defRPr>
            </a:pPr>
            <a:r>
              <a:rPr sz="2250" b="0">
                <a:solidFill>
                  <a:srgbClr val="2F4C9B"/>
                </a:solidFill>
              </a:rPr>
              <a:t>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CE23-68BB-4054-84BA-984590F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25-50k per MVP; EUR 120-250k per 5 piloti paganti e manuale installazione.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8D048-38F7-4A98-A1A3-8AB0485E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57868-6059-4A1B-B757-0CDA0CE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84B3A"/>
                </a:solidFill>
              </a:defRPr>
            </a:pPr>
            <a:r>
              <a:rPr sz="2250" b="0">
                <a:solidFill>
                  <a:srgbClr val="B84B3A"/>
                </a:solidFill>
              </a:rPr>
              <a:t>Non fare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1E8DA-6AAC-4A4B-BFF0-E4256D5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Hardware proprietario, vendita B2C larga, promessa di rendita BTC o acqua calda gratis.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A2447-47FC-4028-A8B4-B8EB7DD8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Ask: accesso a 5 clienti pilota, installatore termotecnico partner, budget MVP e disponibilita a fermarsi se i dati non tengono.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474CF-6FAD-4BC5-BB33-0FE5503F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6F699-7A6F-450F-8426-C94B5DFC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189850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24AB-34FD-40AD-A05E-F5DAC921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0DF60-ED14-4D62-A1FE-14EE8501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Appendice fonti e assunzioni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78B9C-C0AC-4568-8587-A2B020BA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C3FCF-61C7-483B-ACEC-5C0CE521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Fonte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2F82B-FA5B-40C0-9FDA-9E5A2F04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Uso nel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ED762-6B49-4B44-9880-6A68E8C5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6AD2C-4223-4BA9-B84B-1CFAF74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Turismo C19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86B51-876A-4198-BA7D-A686EDC3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82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466,2M presenze; 32.943 alberghi; 232.376 extra-alberghieri; agriturismi e B&amp;B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3B18A-F29A-4B42-B04C-94DCA01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480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A61CC-BB8A-415C-917E-ADAAAB06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100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Agricoltura C13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1DE70-A339-467F-9D84-4420857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100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1,13M aziende agricole; 6% attivita connesse; agriturismi &gt;26k; struttura agricola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579EA-186E-4EDF-9CD3-D3006066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79478-8E56-4734-A051-0C959145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377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GSE Solare FV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F6272-B3E1-447A-8952-EF12DBB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1,875M impianti FV Italia; 50.297 impianti FV Trentino-Alto Adige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22E72-1591-40CA-9666-875A7E14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03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2C63F-9B23-4F83-B37C-CE5E7010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65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Modello BTC/ASIC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C84D8-6ED1-41E9-832B-8052597C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65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ASIC S21 200 TH/s, 3,56 kW; BTC EUR 55.889; ricavo mining EUR 62/MWh elettrico; scenari BTC/costi 5 anni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C5AAA-954A-4A32-BA49-BCA98A10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42E77-3E83-4369-A2C8-A88F185B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93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Competitor Italia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67569-EB2B-482A-A4B9-299E94FC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593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21Energy Ofen/Edge disponibili in EU/Italy; Heatbit consumer; RY3T idronico; alternative termiche locali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9ADDB-78B4-4585-ABB8-5A382E6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0480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D1095-F910-4597-BECD-D2C72D0C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83439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30052-B35F-46DB-B3B6-07B37821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 stime SAM/SOM, payback e proiezioni sono derivate: vanno validate con bollette, ore termiche e dati di processo dei singoli siti pilota.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4D38F-8D38-4BC9-B631-C43DA349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Link principali: ISTAT C19/C13; GSE FV; 21energy.com; heatbit.com; ry3t.com; research/output/model_data.json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CFD94-C21C-4B35-8946-B19BDD30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91404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2026-06-21T15:04:16.8450000Z</dcterms:created>
  <dcterms:modified xsi:type="dcterms:W3CDTF">2026-06-21T15:04:16.8450000Z</dcterms:modified>
</coreProperties>
</file>