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fb10cb6e5a4e34" /><Relationship Type="http://schemas.openxmlformats.org/officeDocument/2006/relationships/extended-properties" Target="/docProps/app.xml" Id="R1eddbf7203f04e27" /><Relationship Type="http://schemas.openxmlformats.org/officeDocument/2006/relationships/officeDocument" Target="/ppt/presentation.xml" Id="R2a1e3cb971bd43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8fab12829c48e8"/>
  </p:sldMasterIdLst>
  <p:notesMasterIdLst>
    <p:notesMasterId xmlns:r="http://schemas.openxmlformats.org/officeDocument/2006/relationships" r:id="R6176f7e360e84c75"/>
  </p:notesMasterIdLst>
  <p:sldIdLst>
    <p:sldId xmlns:r="http://schemas.openxmlformats.org/officeDocument/2006/relationships" id="256" r:id="Re210f72f565a4cc4"/>
    <p:sldId xmlns:r="http://schemas.openxmlformats.org/officeDocument/2006/relationships" id="257" r:id="Rfee8d0dbec854e66"/>
    <p:sldId xmlns:r="http://schemas.openxmlformats.org/officeDocument/2006/relationships" id="258" r:id="Rac4d0b0c874e451a"/>
    <p:sldId xmlns:r="http://schemas.openxmlformats.org/officeDocument/2006/relationships" id="259" r:id="Rc9f3009c1dc3414a"/>
    <p:sldId xmlns:r="http://schemas.openxmlformats.org/officeDocument/2006/relationships" id="260" r:id="R339d33159c834dbc"/>
    <p:sldId xmlns:r="http://schemas.openxmlformats.org/officeDocument/2006/relationships" id="261" r:id="Rbc21b5a933b74f90"/>
    <p:sldId xmlns:r="http://schemas.openxmlformats.org/officeDocument/2006/relationships" id="262" r:id="R0d7460afd79b4bb5"/>
    <p:sldId xmlns:r="http://schemas.openxmlformats.org/officeDocument/2006/relationships" id="263" r:id="R9227e50544fc4806"/>
    <p:sldId xmlns:r="http://schemas.openxmlformats.org/officeDocument/2006/relationships" id="264" r:id="R9e05496d16c045f6"/>
    <p:sldId xmlns:r="http://schemas.openxmlformats.org/officeDocument/2006/relationships" id="265" r:id="R13f7713917584ffc"/>
    <p:sldId xmlns:r="http://schemas.openxmlformats.org/officeDocument/2006/relationships" id="266" r:id="Ra0c52502d4d2430c"/>
    <p:sldId xmlns:r="http://schemas.openxmlformats.org/officeDocument/2006/relationships" id="267" r:id="R0b85f7a2c26a4f8c"/>
    <p:sldId xmlns:r="http://schemas.openxmlformats.org/officeDocument/2006/relationships" id="268" r:id="R7b4eeaae687343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cb2860bb32458d" /><Relationship Type="http://schemas.openxmlformats.org/officeDocument/2006/relationships/slideMaster" Target="/ppt/slideMasters/slideMaster1.xml" Id="R928fab12829c48e8" /><Relationship Type="http://schemas.openxmlformats.org/officeDocument/2006/relationships/notesMaster" Target="/ppt/notesMasters/notesMaster1.xml" Id="R6176f7e360e84c75" /><Relationship Type="http://schemas.openxmlformats.org/officeDocument/2006/relationships/presProps" Target="/ppt/presProps.xml" Id="Racd42d3e92744eab" /><Relationship Type="http://schemas.openxmlformats.org/officeDocument/2006/relationships/tableStyles" Target="/ppt/tableStyles.xml" Id="R6190c73653e64b0c" /><Relationship Type="http://schemas.openxmlformats.org/officeDocument/2006/relationships/slide" Target="/ppt/slides/slide1.xml" Id="Re210f72f565a4cc4" /><Relationship Type="http://schemas.openxmlformats.org/officeDocument/2006/relationships/slide" Target="/ppt/slides/slide2.xml" Id="Rfee8d0dbec854e66" /><Relationship Type="http://schemas.openxmlformats.org/officeDocument/2006/relationships/slide" Target="/ppt/slides/slide3.xml" Id="Rac4d0b0c874e451a" /><Relationship Type="http://schemas.openxmlformats.org/officeDocument/2006/relationships/slide" Target="/ppt/slides/slide4.xml" Id="Rc9f3009c1dc3414a" /><Relationship Type="http://schemas.openxmlformats.org/officeDocument/2006/relationships/slide" Target="/ppt/slides/slide5.xml" Id="R339d33159c834dbc" /><Relationship Type="http://schemas.openxmlformats.org/officeDocument/2006/relationships/slide" Target="/ppt/slides/slide6.xml" Id="Rbc21b5a933b74f90" /><Relationship Type="http://schemas.openxmlformats.org/officeDocument/2006/relationships/slide" Target="/ppt/slides/slide7.xml" Id="R0d7460afd79b4bb5" /><Relationship Type="http://schemas.openxmlformats.org/officeDocument/2006/relationships/slide" Target="/ppt/slides/slide8.xml" Id="R9227e50544fc4806" /><Relationship Type="http://schemas.openxmlformats.org/officeDocument/2006/relationships/slide" Target="/ppt/slides/slide9.xml" Id="R9e05496d16c045f6" /><Relationship Type="http://schemas.openxmlformats.org/officeDocument/2006/relationships/slide" Target="/ppt/slides/slide10.xml" Id="R13f7713917584ffc" /><Relationship Type="http://schemas.openxmlformats.org/officeDocument/2006/relationships/slide" Target="/ppt/slides/slide11.xml" Id="Ra0c52502d4d2430c" /><Relationship Type="http://schemas.openxmlformats.org/officeDocument/2006/relationships/slide" Target="/ppt/slides/slide12.xml" Id="R0b85f7a2c26a4f8c" /><Relationship Type="http://schemas.openxmlformats.org/officeDocument/2006/relationships/slide" Target="/ppt/slides/slide13.xml" Id="R7b4eeaae687343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b8269b580d4f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3eed09d9e34504" /><Relationship Type="http://schemas.openxmlformats.org/officeDocument/2006/relationships/notesMaster" Target="/ppt/notesMasters/notesMaster1.xml" Id="Rea890bf49c6346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65d4e178d84159" /><Relationship Type="http://schemas.openxmlformats.org/officeDocument/2006/relationships/notesMaster" Target="/ppt/notesMasters/notesMaster1.xml" Id="Rcfed4661f35040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4ea9ad49654594" /><Relationship Type="http://schemas.openxmlformats.org/officeDocument/2006/relationships/notesMaster" Target="/ppt/notesMasters/notesMaster1.xml" Id="Raa22d7844fbb45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e40350afe04e2d" /><Relationship Type="http://schemas.openxmlformats.org/officeDocument/2006/relationships/notesMaster" Target="/ppt/notesMasters/notesMaster1.xml" Id="R10c85c8c5ac540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6b20f0c51e4ae2" /><Relationship Type="http://schemas.openxmlformats.org/officeDocument/2006/relationships/notesMaster" Target="/ppt/notesMasters/notesMaster1.xml" Id="R1bcafcde5a8046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9e87f1077f48f1" /><Relationship Type="http://schemas.openxmlformats.org/officeDocument/2006/relationships/notesMaster" Target="/ppt/notesMasters/notesMaster1.xml" Id="R172ad83fe7a248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309688a8ef4bd7" /><Relationship Type="http://schemas.openxmlformats.org/officeDocument/2006/relationships/notesMaster" Target="/ppt/notesMasters/notesMaster1.xml" Id="Ra33c0579aa7646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96dde0e5534e0c" /><Relationship Type="http://schemas.openxmlformats.org/officeDocument/2006/relationships/notesMaster" Target="/ppt/notesMasters/notesMaster1.xml" Id="Re2a1de3c5f8343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bc5d105a614c55" /><Relationship Type="http://schemas.openxmlformats.org/officeDocument/2006/relationships/notesMaster" Target="/ppt/notesMasters/notesMaster1.xml" Id="Rcbbca827052c4d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0eeb04bd554428" /><Relationship Type="http://schemas.openxmlformats.org/officeDocument/2006/relationships/notesMaster" Target="/ppt/notesMasters/notesMaster1.xml" Id="R9f1fed3276da45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a2006671ec4807" /><Relationship Type="http://schemas.openxmlformats.org/officeDocument/2006/relationships/notesMaster" Target="/ppt/notesMasters/notesMaster1.xml" Id="Rde34ec3b332645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d86ba5dc5f419b" /><Relationship Type="http://schemas.openxmlformats.org/officeDocument/2006/relationships/notesMaster" Target="/ppt/notesMasters/notesMaster1.xml" Id="R2e883b9046504c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66e9ff9c244aa1" /><Relationship Type="http://schemas.openxmlformats.org/officeDocument/2006/relationships/notesMaster" Target="/ppt/notesMasters/notesMaster1.xml" Id="R855271b72cf54b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franchezza: non e una presentazione commerciale, e una decisione di fattibilita.</a:t>
            </a:r>
          </a:p>
          <a:p xmlns:a="http://schemas.openxmlformats.org/drawingml/2006/main">
            <a:r>
              <a:t>La tesi iniziale: tecnologia possibile, business domestico generalista debole, nicchia potenzialmente testabile.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e la slide piu importante: se il partner vuole sentire solo entusiasmo, il progetto e gia a rischio.</a:t>
            </a:r>
          </a:p>
          <a:p xmlns:a="http://schemas.openxmlformats.org/drawingml/2006/main">
            <a:r>
              <a:t>La tesi investibile e pilota integrato, non prodotto hardware proprietario.</a:t>
            </a:r>
          </a:p>
          <a:p xmlns:a="http://schemas.openxmlformats.org/drawingml/2006/main">
            <a:r>
              <a:t>Dichiara subito che BTC upside e ottimizzazione costi sono stati considerati: migliorano il pilota, ma non trasformano la famiglia media in mercato scalabile.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prima l'energia: un miner e una resistenza elettrica intelligente, non una pompa di calore.</a:t>
            </a:r>
          </a:p>
          <a:p xmlns:a="http://schemas.openxmlformats.org/drawingml/2006/main">
            <a:r>
              <a:t>Il software deve ottimizzare: temperatura accumulo, FV disponibile, costo energia, pool mining, sicurezza.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Questo e il cuore tecnico-economico: ACS-only non e un carico abbastanza continuo.</a:t>
            </a:r>
          </a:p>
          <a:p xmlns:a="http://schemas.openxmlformats.org/drawingml/2006/main">
            <a:r>
              <a:t>Il target deve avere carichi termici maggiori: ospitalita, lavanderia, spa, piscina, riscaldamento integrativo.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vendere la media: scenario realistico payback circa 42 anni.</a:t>
            </a:r>
          </a:p>
          <a:p xmlns:a="http://schemas.openxmlformats.org/drawingml/2006/main">
            <a:r>
              <a:t>L'unico scenario bello richiede troppe condizioni simultanee per essere mercato largo.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tabella rende esplicito dove si rompe la narrativa commerciale.</a:t>
            </a:r>
          </a:p>
          <a:p xmlns:a="http://schemas.openxmlformats.org/drawingml/2006/main">
            <a:r>
              <a:t>Il partner deve vedere che non stiamo nascondendo l'elettricita consumata.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e la risposta alla domanda naturale del partner: e se BTC sale?</a:t>
            </a:r>
          </a:p>
          <a:p xmlns:a="http://schemas.openxmlformats.org/drawingml/2006/main">
            <a:r>
              <a:t>Risposta onesta: il prezzo BTC aiuta molto, ma non puo essere la base del business plan perche difficulty e hashrate di rete tendono ad adattarsi.</a:t>
            </a:r>
          </a:p>
          <a:p xmlns:a="http://schemas.openxmlformats.org/drawingml/2006/main">
            <a:r>
              <a:t>Il vero miglioramento e combinare standardizzazione installativa, CAPEX piu basso, energia FV/surplus e clienti con piu ore termiche della famiglia media.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mercato non si dimensiona partendo dai boiler, ma dai siti dove il calore puo essere usato e il cliente accetta mining.</a:t>
            </a:r>
          </a:p>
          <a:p xmlns:a="http://schemas.openxmlformats.org/drawingml/2006/main">
            <a:r>
              <a:t>Il focus Trentino-Alto Adige e utile per piloti, non per scalare da solo.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 va chiarito il posizionamento: non vendiamo un gadget a tutti, cerchiamo pochi siti dove il carico termico giustifica l'esperimento.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Heatbit e 21Energy dimostrano che la narrativa esiste. RY3T dimostra che il vero campo e idronico/impiantistico.</a:t>
            </a:r>
          </a:p>
          <a:p xmlns:a="http://schemas.openxmlformats.org/drawingml/2006/main">
            <a:r>
              <a:t>Il nostro vantaggio non sarebbe il miner, ma l'integrazione locale e la scelta siti.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serve a evitare l'illusione: anche se trovi clienti, l'azienda deve avere margine abbastanza alto da pagare team e responsabilita.</a:t>
            </a:r>
          </a:p>
          <a:p xmlns:a="http://schemas.openxmlformats.org/drawingml/2006/main">
            <a:r>
              <a:t>Il modello integratore e piu realistico dell'hardware, ma non e venture-grade senza standardizzazione forte.</a:t>
            </a:r>
          </a:p>
          <a:p xmlns:a="http://schemas.openxmlformats.org/drawingml/2006/main">
            <a:r>
              <a:t>L'ottimizzazione costi va cercata soprattutto qui: kit standard, installatori partner, commissioning remoto, meno ore custom.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roadmap deve rassicurare il partner: non bruciamo capitale per dimostrare una tesi fragile.</a:t>
            </a:r>
          </a:p>
          <a:p xmlns:a="http://schemas.openxmlformats.org/drawingml/2006/main">
            <a:r>
              <a:t>Il primo investimento compra apprendimento, non scala.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con una richiesta concreta: non serve consenso generico, serve decidere se il partner puo portare canale, installazione o capitale.</a:t>
            </a:r>
          </a:p>
          <a:p xmlns:a="http://schemas.openxmlformats.org/drawingml/2006/main">
            <a:r>
              <a:t>La frase finale: e un pilota di nicchia, non ancora una startup scalabile.</a:t>
            </a:r>
          </a:p>
          <a:p xmlns:a="http://schemas.openxmlformats.org/drawingml/2006/main">
            <a:r>
              <a:t>Se il partner e bullish su BTC, bene: trattiamolo come upside di scenario, non come fondazione del piano.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a1b0d53d94b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f04fb6920449aa" /><Relationship Type="http://schemas.openxmlformats.org/officeDocument/2006/relationships/slideLayout" Target="/ppt/slideLayouts/slideLayout1.xml" Id="R7089acffdfb14f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89acffdfb14f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f9db2eac24c96" /><Relationship Type="http://schemas.openxmlformats.org/officeDocument/2006/relationships/notesSlide" Target="/ppt/notesSlides/notesSlide1.xml" Id="R599c89865e2546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962b4dfa04c01" /><Relationship Type="http://schemas.openxmlformats.org/officeDocument/2006/relationships/notesSlide" Target="/ppt/notesSlides/notesSlide2.xml" Id="Rdb4ac02a296c41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6b6c7e84f47c6" /><Relationship Type="http://schemas.openxmlformats.org/officeDocument/2006/relationships/notesSlide" Target="/ppt/notesSlides/notesSlide3.xml" Id="Rd324f1ec238740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fef132de741b9" /><Relationship Type="http://schemas.openxmlformats.org/officeDocument/2006/relationships/chart" Target="/ppt/slides/charts/chart1.xml" Id="R709f1440c9f74699" /><Relationship Type="http://schemas.openxmlformats.org/officeDocument/2006/relationships/notesSlide" Target="/ppt/notesSlides/notesSlide4.xml" Id="R8b86d5679c8a43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f96bb1216464c" /><Relationship Type="http://schemas.openxmlformats.org/officeDocument/2006/relationships/notesSlide" Target="/ppt/notesSlides/notesSlide5.xml" Id="R03fa72c71aa942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5807529284e8e" /><Relationship Type="http://schemas.openxmlformats.org/officeDocument/2006/relationships/notesSlide" Target="/ppt/notesSlides/notesSlide6.xml" Id="R6eb9181097e14c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350926b3d41ec" /><Relationship Type="http://schemas.openxmlformats.org/officeDocument/2006/relationships/notesSlide" Target="/ppt/notesSlides/notesSlide7.xml" Id="R36d3752e89cf4e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3662d862f48e2" /><Relationship Type="http://schemas.openxmlformats.org/officeDocument/2006/relationships/notesSlide" Target="/ppt/notesSlides/notesSlide8.xml" Id="Rc7aac65e40a64d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fde2ff9e74b85" /><Relationship Type="http://schemas.openxmlformats.org/officeDocument/2006/relationships/notesSlide" Target="/ppt/notesSlides/notesSlide9.xml" Id="R1c939c0b891f42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33dca5af1467a" /><Relationship Type="http://schemas.openxmlformats.org/officeDocument/2006/relationships/notesSlide" Target="/ppt/notesSlides/notesSlide10.xml" Id="R0b510bf1a7a344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03c6ae0904450" /><Relationship Type="http://schemas.openxmlformats.org/officeDocument/2006/relationships/notesSlide" Target="/ppt/notesSlides/notesSlide11.xml" Id="R8322ee81a5544c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7e7c46c794732" /><Relationship Type="http://schemas.openxmlformats.org/officeDocument/2006/relationships/notesSlide" Target="/ppt/notesSlides/notesSlide12.xml" Id="R775feb90245e42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2761c9a474090" /><Relationship Type="http://schemas.openxmlformats.org/officeDocument/2006/relationships/notesSlide" Target="/ppt/notesSlides/notesSlide13.xml" Id="Rd0e09324fb664594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kWh/anno</c:v>
          </c:tx>
          <c:spPr>
            <a:solidFill xmlns:a="http://schemas.openxmlformats.org/drawingml/2006/main">
              <a:srgbClr val="1B6F6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ACS utile</c:v>
              </c:pt>
              <c:pt idx="1">
                <c:v>Elettricita per ACS</c:v>
              </c:pt>
              <c:pt idx="2">
                <c:v>ASIC 24/7</c:v>
              </c:pt>
            </c:strLit>
          </c:cat>
          <c:val>
            <c:numLit>
              <c:formatCode>General</c:formatCode>
              <c:ptCount val="3"/>
              <c:pt idx="0">
                <c:v>2300</c:v>
              </c:pt>
              <c:pt idx="1">
                <c:v>2706</c:v>
              </c:pt>
              <c:pt idx="2">
                <c:v>31186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3CAC62-FDC8-4E7B-A8B2-D561E1A7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F66"/>
                </a:solidFill>
              </a:defRPr>
            </a:pPr>
            <a:r>
              <a:rPr sz="1500" b="1">
                <a:solidFill>
                  <a:srgbClr val="555F66"/>
                </a:solidFill>
              </a:rPr>
              <a:t>Reality check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8BAD0-7653-4C02-8AF3-6B51D8AC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9239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11111"/>
                </a:solidFill>
              </a:defRPr>
            </a:pPr>
            <a:r>
              <a:rPr sz="4050" b="0">
                <a:solidFill>
                  <a:srgbClr val="111111"/>
                </a:solidFill>
              </a:rPr>
              <a:t>Recupero calore da ASIC Bitcoin per acqua calda sanitaria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7EDEA-1CE6-4D20-ABD5-E16AF988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F66"/>
                </a:solidFill>
              </a:defRPr>
            </a:pPr>
            <a:r>
              <a:rPr sz="1800" b="0">
                <a:solidFill>
                  <a:srgbClr val="555F66"/>
                </a:solidFill>
              </a:rPr>
              <a:t>La domanda non e: funziona tecnicamente? La domanda e: puo diventare un business profittevole e scalabile?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9AEFD-7F8B-4F04-A900-3D07E771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F66"/>
                </a:solidFill>
              </a:defRPr>
            </a:pPr>
            <a:r>
              <a:rPr sz="1200" b="0">
                <a:solidFill>
                  <a:srgbClr val="555F66"/>
                </a:solidFill>
              </a:rPr>
              <a:t>Preparato per discussione con potenziale business partner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F70F7-FA5D-4814-A0E1-4E147E13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67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F66"/>
                </a:solidFill>
              </a:defRPr>
            </a:pPr>
            <a:r>
              <a:rPr sz="1200" b="0">
                <a:solidFill>
                  <a:srgbClr val="555F66"/>
                </a:solidFill>
              </a:rPr>
              <a:t>2026-06-21</a:t>
            </a:r>
          </a:p>
        </p:txBody>
      </p:sp>
    </p:spTree>
    <p:extLst>
      <p:ext uri="{BB962C8B-B14F-4D97-AF65-F5344CB8AC3E}">
        <p14:creationId xmlns:p14="http://schemas.microsoft.com/office/powerpoint/2010/main" val="9997330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A90B38-D554-49EB-8B74-1C5A2F1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F66"/>
                </a:solidFill>
              </a:defRPr>
            </a:pPr>
            <a:r>
              <a:rPr sz="1200" b="1">
                <a:solidFill>
                  <a:srgbClr val="555F66"/>
                </a:solidFill>
              </a:rPr>
              <a:t>ASIC HEAT RECOVERY / BUSINESS PARTNER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7AF76-3DA2-465C-AAD9-0202365B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Verdetto: non e ancora una startup domestica scalabile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E0CAD-E19B-4C30-A220-DEF78402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F66"/>
                </a:solidFill>
              </a:defRPr>
            </a:pPr>
            <a:r>
              <a:rPr sz="1725" b="0">
                <a:solidFill>
                  <a:srgbClr val="555F66"/>
                </a:solidFill>
              </a:rPr>
              <a:t>L'idea diventa interessante solo se restringiamo molto il target, ottimizziamo costi/energia e misuriamo un pilota pagante.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6027B-D389-47AE-826E-D2AC66A8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6270D-53D0-4E80-AE42-45ED1906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84D3A"/>
                </a:solidFill>
              </a:defRPr>
            </a:pPr>
            <a:r>
              <a:rPr sz="2700" b="0">
                <a:solidFill>
                  <a:srgbClr val="B84D3A"/>
                </a:solidFill>
              </a:rPr>
              <a:t>28/100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2C820-5D1B-4177-B6B7-16FDEA30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2076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Probabilita B2C ACS-only: troppo fragile per famiglia media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20482-71D0-4B57-B714-41CF8448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90218-54AB-4891-AB2F-9FE7B1A5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146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D67B2A"/>
                </a:solidFill>
              </a:defRPr>
            </a:pPr>
            <a:r>
              <a:rPr sz="2700" b="0">
                <a:solidFill>
                  <a:srgbClr val="D67B2A"/>
                </a:solidFill>
              </a:rPr>
              <a:t>45/100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1D01C-7053-464A-B5C3-9747C4D5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24200"/>
            <a:ext cx="2076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Probabilita nicchia: agriturismi, B&amp;B, case grandi con FV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A10CB-BFD6-465C-9B36-AD8E403C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D3B8B-4A56-498C-9EDE-C2F4D7D6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B6F68"/>
                </a:solidFill>
              </a:defRPr>
            </a:pPr>
            <a:r>
              <a:rPr sz="2400" b="0">
                <a:solidFill>
                  <a:srgbClr val="1B6F68"/>
                </a:solidFill>
              </a:rPr>
              <a:t>EUR 250-400k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135D5-3ABF-43F2-878D-CC558BAA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2076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Capitale minimo per 5-10 piloti seri, non per industrializzare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BE56A-B2DC-47F2-B6C2-16E13F23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47900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5417B-DF09-4988-936A-E28A87C8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146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344B9B"/>
                </a:solidFill>
              </a:defRPr>
            </a:pPr>
            <a:r>
              <a:rPr sz="2700" b="0">
                <a:solidFill>
                  <a:srgbClr val="344B9B"/>
                </a:solidFill>
              </a:rPr>
              <a:t>No HW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B7C41-4529-43F0-974A-EB6B7C5F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24200"/>
            <a:ext cx="2076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Non sviluppare hardware proprietario prima della domanda pagante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4CA1B-D373-4611-BE21-C3EAD54A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Fonte: modello interno su dati GSE 2024, CoinGecko e mempool.space al 2026-06-21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B8070-4668-4ACE-9C7C-9A20B199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957691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05498B-9F9F-4C6D-8EEA-0F26DB05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F66"/>
                </a:solidFill>
              </a:defRPr>
            </a:pPr>
            <a:r>
              <a:rPr sz="1200" b="1">
                <a:solidFill>
                  <a:srgbClr val="555F66"/>
                </a:solidFill>
              </a:rPr>
              <a:t>ASIC HEAT RECOVERY / BUSINESS PARTNER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32670-1674-40E9-9C7F-00B3118D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Il sistema, spiegato da zero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CCAE9-C3CF-4890-9C72-952E09DF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F66"/>
                </a:solidFill>
              </a:defRPr>
            </a:pPr>
            <a:r>
              <a:rPr sz="1725" b="0">
                <a:solidFill>
                  <a:srgbClr val="555F66"/>
                </a:solidFill>
              </a:rPr>
              <a:t>Un ASIC trasforma elettricita in calcolo Bitcoin e quasi tutto il consumo diventa calore. Il business prova a catturare quel calore e usarlo per ACS.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19AED-4C2F-4AFE-A8FE-E2E3D20E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81300"/>
            <a:ext cx="18097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E76B7-883F-4D20-BF21-D66F0F55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ASIC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60533-1719-44E7-A572-9DC81321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314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Genera hash SHA-256 e calore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96E6D-9335-4F42-8C5D-AAEC45D4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90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55F66"/>
                </a:solidFill>
              </a:defRPr>
            </a:pPr>
            <a:r>
              <a:rPr sz="2100" b="0">
                <a:solidFill>
                  <a:srgbClr val="555F66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DE658-DF3C-4674-81B8-04BA7190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81300"/>
            <a:ext cx="18097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6B1A6-F246-4CD3-9071-94DE18D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Recupero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72A2F-19D2-42FD-ADFF-07F2468A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1314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Air-to-water, hydro o immersione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B40DE-36CF-450E-B2E0-37DD06E0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90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55F66"/>
                </a:solidFill>
              </a:defRPr>
            </a:pPr>
            <a:r>
              <a:rPr sz="2100" b="0">
                <a:solidFill>
                  <a:srgbClr val="555F66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F726B-C1C9-4561-BA87-79542142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8097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B9614-B669-47FD-B3AA-287BE3F5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48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Scambio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1463B-FBA3-4371-8FE9-50638E65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62350"/>
            <a:ext cx="1314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Separa circuito miner e ACS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88336-A421-4266-B9D9-FB5047ED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55F66"/>
                </a:solidFill>
              </a:defRPr>
            </a:pPr>
            <a:r>
              <a:rPr sz="2100" b="0">
                <a:solidFill>
                  <a:srgbClr val="555F66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E2CB9-C70C-43DD-8CD2-DEA0A249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8097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F905B-1EE9-438F-81FF-31014410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48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Accumulo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AA642-31AC-4000-B3D9-6659397B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62350"/>
            <a:ext cx="1314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Boiler/puffer per stoccare calore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934D0-E293-4F00-B896-A82A6975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90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55F66"/>
                </a:solidFill>
              </a:defRPr>
            </a:pPr>
            <a:r>
              <a:rPr sz="2100" b="0">
                <a:solidFill>
                  <a:srgbClr val="555F66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C30ED6-AC23-4768-9010-DC1B97FC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8097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40C2F-F536-48C6-80E1-8EBD7AE9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48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Software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18C28-35E7-46F5-AFA4-4468BAD2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62350"/>
            <a:ext cx="1314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Accende solo quando ha senso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6B0D36-13A8-4DD3-97E6-C16EDBC4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La parte difficile non e recuperare calore: e accendere abbastanza ore utili senza comprare elettricita retail per minare in perdita.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2A643-C66A-4EEA-8542-2AA0E136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Fonte: modello interno su dati GSE 2024, CoinGecko e mempool.space al 2026-06-21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04532-26A2-449E-87CB-AB56FCA5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33835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54DA89-6C06-4B28-8BBA-764D5542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F66"/>
                </a:solidFill>
              </a:defRPr>
            </a:pPr>
            <a:r>
              <a:rPr sz="1200" b="1">
                <a:solidFill>
                  <a:srgbClr val="555F66"/>
                </a:solidFill>
              </a:rPr>
              <a:t>ASIC HEAT RECOVERY / BUSINESS PARTNER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D8014-F21F-4BBA-AAE9-5C1F93BF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Il collo di bottiglia: ACS media usa poche ore equivalenti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0E821-E14E-425A-A980-6D4F851D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81150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F66"/>
                </a:solidFill>
              </a:defRPr>
            </a:pPr>
            <a:r>
              <a:rPr sz="1800" b="0">
                <a:solidFill>
                  <a:srgbClr val="555F66"/>
                </a:solidFill>
              </a:rPr>
              <a:t>Una famiglia media non assorbe abbastanza calore per giustificare un ASIC moderno acceso spesso.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0050" y="1466850"/>
          <a:ext xmlns:a="http://schemas.openxmlformats.org/drawingml/2006/main" cx="5334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9f1440c9f7469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7DA00-51CE-47E9-8DF9-69C1C324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424CE-83C8-4507-BA93-9C174F1C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67B2A"/>
                </a:solidFill>
              </a:defRPr>
            </a:pPr>
            <a:r>
              <a:rPr sz="2250" b="0">
                <a:solidFill>
                  <a:srgbClr val="D67B2A"/>
                </a:solidFill>
              </a:rPr>
              <a:t>760 h/anno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F9EDD-E48F-4FD0-B591-EA7225EB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Ore ASIC necessarie per coprire solo ACS familiare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E18DA-2516-4556-A7A6-2B08B2A7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664E9-501B-4C6F-AD28-B02AEDE7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84D3A"/>
                </a:solidFill>
              </a:defRPr>
            </a:pPr>
            <a:r>
              <a:rPr sz="2250" b="0">
                <a:solidFill>
                  <a:srgbClr val="B84D3A"/>
                </a:solidFill>
              </a:rPr>
              <a:t>31.186 kWh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81C8F-6521-4B70-8E63-64B5959C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62350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Consumo annuo se resta acceso 24/7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EB7EC-1EA0-477E-A19F-4CC4E375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577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Se lo spegni spesso mini poco. Se lo tieni acceso sprechi calore o compri energia cara.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68D9E-6BD8-4293-B8A7-3BB18E89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Fonte: modello interno su dati GSE 2024, CoinGecko e mempool.space al 2026-06-21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E450E-22FD-42B8-86D1-E29C122F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47297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7BBAE2-C731-43DA-B2C5-5F160A9F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F66"/>
                </a:solidFill>
              </a:defRPr>
            </a:pPr>
            <a:r>
              <a:rPr sz="1200" b="1">
                <a:solidFill>
                  <a:srgbClr val="555F66"/>
                </a:solidFill>
              </a:rPr>
              <a:t>ASIC HEAT RECOVERY / BUSINESS PARTNER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CFF75-EFBD-48EC-A1FE-A7A8EA21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Economia cliente: scenario realistico non vende da solo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DAF2C-1DF8-4743-9F69-B2B721D4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F66"/>
                </a:solidFill>
              </a:defRPr>
            </a:pPr>
            <a:r>
              <a:rPr sz="1575" b="0">
                <a:solidFill>
                  <a:srgbClr val="555F66"/>
                </a:solidFill>
              </a:rPr>
              <a:t>Famiglia media italiana, impianto installato, ASIC S21 200 TH/s, BTC e hashrate al 2026-06-21.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83408-3EC0-4C38-9404-3D8E6DDB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571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85DEA-685E-4236-B6FB-164F94BD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84D3A"/>
                </a:solidFill>
              </a:defRPr>
            </a:pPr>
            <a:r>
              <a:rPr sz="2100" b="0">
                <a:solidFill>
                  <a:srgbClr val="B84D3A"/>
                </a:solidFill>
              </a:rPr>
              <a:t>Pessimistico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5BA14-A43D-43ED-AD80-F455CCCA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2076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-503 / anno netto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Payback: mai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Costo installato: EUR 9000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94203-B4A2-457E-9F0A-3C425CBB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571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B845F-25E9-4055-8659-847FFC06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336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67B2A"/>
                </a:solidFill>
              </a:defRPr>
            </a:pPr>
            <a:r>
              <a:rPr sz="2100" b="0">
                <a:solidFill>
                  <a:srgbClr val="D67B2A"/>
                </a:solidFill>
              </a:rPr>
              <a:t>Realistico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F5060-F6AB-4E17-9ECE-A16AB32C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24200"/>
            <a:ext cx="2076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188 / anno netto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Payback: 42 anni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Costo installato: EUR 7900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F3262-7348-4845-8A33-70FB2EA1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571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E07F5-51BF-4AEE-9F3A-4419E632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B6F68"/>
                </a:solidFill>
              </a:defRPr>
            </a:pPr>
            <a:r>
              <a:rPr sz="2100" b="0">
                <a:solidFill>
                  <a:srgbClr val="1B6F68"/>
                </a:solidFill>
              </a:rPr>
              <a:t>Ottimistico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2A168-8221-4EA9-8420-115D797D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2076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723 / anno netto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Payback: 9 anni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Costo installato: EUR 6500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308CB-0EC7-4A50-B01C-C45E3093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2571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57DE3-C6C5-422D-9572-DEAC95AF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336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Messaggio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F773B-4AEC-4826-9B7B-0670950C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24200"/>
            <a:ext cx="2076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Il ROI familiare e debole. Il cliente compra solo se ha FV, ACS costosa e interesse Bitcoin.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7A38E-5AAC-4E46-945A-2C93B66D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Fonte: modello interno su dati GSE 2024, CoinGecko e mempool.space al 2026-06-21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94C6C-8126-47C7-9EB4-6AC5293B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90600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3A6969-F47A-4F55-8BDA-E878C17B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F66"/>
                </a:solidFill>
              </a:defRPr>
            </a:pPr>
            <a:r>
              <a:rPr sz="1200" b="1">
                <a:solidFill>
                  <a:srgbClr val="555F66"/>
                </a:solidFill>
              </a:rPr>
              <a:t>ASIC HEAT RECOVERY / BUSINESS PARTNER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075D5-BBB5-4D7E-AF63-C50996F0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Scenari cliente: il payback dipende da assunzioni molto forti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E1FAD-A5AB-44E7-8573-F5D2BCD1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52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C7506-B541-4F9A-BC96-E77724BB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809750"/>
            <a:ext cx="1428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CAAE7-26B5-4166-9611-62894CA2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1428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A6850-C9C1-4256-A620-67433888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09750"/>
            <a:ext cx="1381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AA9EE-BC94-40AB-8CE1-1B607A2E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809750"/>
            <a:ext cx="1143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36B31-09A8-4180-AE85-CE9A3C3D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809750"/>
            <a:ext cx="1285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1CBBD-9BE6-484C-99FF-6601F1B9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09750"/>
            <a:ext cx="11906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991B9-3990-46E5-9940-553C7DB4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09750"/>
            <a:ext cx="1143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7B4B2-CD42-4DD5-A1F2-118FD213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E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73815-90A1-47B5-AFD9-9ADD3508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85950"/>
            <a:ext cx="137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Scenario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4FE40-B673-442E-80D3-18482F1F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85950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Costo impianto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00290-FDCF-4E90-B65D-25924F8A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85950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Energia miner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106C0-3F39-4935-A69F-2E0E1E28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85950"/>
            <a:ext cx="1228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Costo energia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92FE2-81B0-4B49-ABFA-7448D708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85950"/>
            <a:ext cx="990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BTC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B0519-740A-4A02-828F-E76087A8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85950"/>
            <a:ext cx="11334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Risparmio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78BC7-D660-440B-A799-14D0A303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1038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Netto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B78B0-7650-46E3-871B-20BFD34D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85950"/>
            <a:ext cx="990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3F09E-C496-40D6-8957-B814EF7D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760405-1791-4A00-9A79-30E31D65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43200"/>
            <a:ext cx="137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Pessimistico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C102B-C34F-4839-8238-6690F74A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43200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9.000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41E728-FB0A-42AB-9C91-B2311D13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2.706 kWh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D388EB-5BF8-4504-9CED-71097D6B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43200"/>
            <a:ext cx="1228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866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6B4439-11C9-4218-89A5-621D4D68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43200"/>
            <a:ext cx="990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110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052F29-740B-4B5E-8E65-C581D6E7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43200"/>
            <a:ext cx="11334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253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D6E1C0-72AD-4E56-BA1F-D9F6A7DB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1038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-503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582E17-8209-402F-95C0-C38DED5F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43200"/>
            <a:ext cx="990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EA13A0-0C09-47A6-BF9D-2C62B3AB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1C98AA-B7F6-447C-B8D1-43C530D3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00450"/>
            <a:ext cx="137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Realistico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4574F7-D813-4922-88B1-31B9FE9C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7.900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C072C6-BD34-4C54-8036-4A9403C5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0450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2.706 kWh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10ED56-4BAF-441C-917D-12477356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1228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487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4D0CE1-C2A4-4E3D-9905-DE256DD2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0450"/>
            <a:ext cx="990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169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73E65E-1DEB-4D83-BD96-067CEF52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00450"/>
            <a:ext cx="11334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506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FF2DFF-C915-4BDE-B4E7-55063450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1038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188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FF0BC6-7F15-456A-B12C-75F0F74F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00450"/>
            <a:ext cx="990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42 anni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9DFF6C-E0E6-4E2C-94C9-655C658E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70D554-6373-402E-9B04-B30F6869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137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Ottimistico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8CDCAB-598D-4D3C-94CE-8FDD4E64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57700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6.500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93572B-C557-46E3-855B-7394FCEF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2.706 kWh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A45317-34C8-425A-A650-40CD9C2A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1228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216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AFEBF7-2CC8-4FC4-A82D-A31CA1A0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57700"/>
            <a:ext cx="990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296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21033C-1E82-455F-A817-9E0EDB49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57700"/>
            <a:ext cx="11334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644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331DD4-9C14-4040-9975-E8ED64F8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1038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723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01B0D1-31AD-4744-83A9-42268B40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57700"/>
            <a:ext cx="990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9 anni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09D684-0F3D-4B57-86F7-B1A25E73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Interpretazione: il modello ACS-only non puo reggersi su una promessa di payback. Deve essere venduto come pilota di nicchia o spostato su carichi termici piu alti.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544C87-73BD-4A2F-903A-2DA99BD1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Fonte: modello interno su dati GSE 2024, CoinGecko e mempool.space al 2026-06-21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154F32-7D46-46CF-9A0C-8D8EC29A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693332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1BFB1C-9DDC-48DF-8693-D22F5527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F66"/>
                </a:solidFill>
              </a:defRPr>
            </a:pPr>
            <a:r>
              <a:rPr sz="1200" b="1">
                <a:solidFill>
                  <a:srgbClr val="555F66"/>
                </a:solidFill>
              </a:rPr>
              <a:t>ASIC HEAT RECOVERY / BUSINESS PARTNER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F9D3A-12A2-40B2-9718-A25CF1FD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Sensitivity: BTC e costi possono salvare il pilota?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CCCCA-795A-413E-BFA9-987CAE72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F66"/>
                </a:solidFill>
              </a:defRPr>
            </a:pPr>
            <a:r>
              <a:rPr sz="1650" b="0">
                <a:solidFill>
                  <a:srgbClr val="555F66"/>
                </a:solidFill>
              </a:rPr>
              <a:t>Sì, migliorano molto il caso. Ma BTC da solo non basta: serve anche tagliare CAPEX, usare energia economica/FV e aumentare le ore termiche utili.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23EE0-7639-48FB-B852-D60B5A94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61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69BA4-C988-40FC-9C57-445A2F38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90750"/>
            <a:ext cx="2000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CF502-0B10-4822-9860-A326EC61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190750"/>
            <a:ext cx="1428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30483-9823-4735-A2B4-2DA53E42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90750"/>
            <a:ext cx="53435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58A7E-C672-4215-B06D-AEB6F0D6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13919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E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8E74A-9405-4B8D-B654-AD15C039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66950"/>
            <a:ext cx="2466975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4DA11-CDF4-4CF6-B673-6BDEFC06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66950"/>
            <a:ext cx="184785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Netto cliente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AB63A-09B3-4030-A9EB-ABA19D6D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66950"/>
            <a:ext cx="127635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2E6D3-8909-41D2-A9BF-FCCD93B3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5191125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Lettura brutale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26AD8-1CB6-4A82-8056-C4A59650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98750"/>
            <a:ext cx="113919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244CE-AB7B-4CC2-A64B-0FCA4622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74950"/>
            <a:ext cx="2466975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 realistico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F2070-340D-44A1-ACF2-75C30915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74950"/>
            <a:ext cx="184785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188 / anno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E5F32-3185-4E62-AD83-502DB7D6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74950"/>
            <a:ext cx="127635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42 anni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22D9B-F850-432F-AA6A-6F54E371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74950"/>
            <a:ext cx="5191125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Non vendibile come ROI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9F505-A3B7-4F9D-9251-27287E5A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6750"/>
            <a:ext cx="113919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5F856-597A-44DC-A996-286C7B6D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82950"/>
            <a:ext cx="2466975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BTC/hashprice +100%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E53F3-D09C-4461-941B-642BDF38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82950"/>
            <a:ext cx="184785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357 / anno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56C6C-92E1-4062-8C70-2BDA9CD7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82950"/>
            <a:ext cx="127635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22 anni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A369E-8AAD-42A4-A0D7-21269CCE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82950"/>
            <a:ext cx="5191125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Meglio, ma ancora troppo lungo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85E70-AEE0-42BF-8458-015D6BA7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13919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761D1C-A12C-4F43-B115-E4BC446C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90950"/>
            <a:ext cx="2466975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Costi ottimizzati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98FF9C-3127-46FF-93CD-0009A320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90950"/>
            <a:ext cx="184785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350 / anno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E2B2EB-B660-43AA-ADEE-B0047D97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90950"/>
            <a:ext cx="127635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17 anni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8501BB-9AD8-4F95-A950-7E811981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90950"/>
            <a:ext cx="5191125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CAPEX -25%, energia piu economica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EA2946-6E46-41D1-B30E-BE870984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2750"/>
            <a:ext cx="113919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8007E1-697A-4AE9-8AE9-6F0BAA7E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98950"/>
            <a:ext cx="2466975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Costi + BTC +100%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D0C1B6-361A-48D8-88D5-BD4AFF65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98950"/>
            <a:ext cx="184785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519 / anno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58B58F-BCBF-4816-AA57-06EFDD1A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98950"/>
            <a:ext cx="127635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11 anni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5BFB6D-17FB-466A-8F26-40705E9D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98950"/>
            <a:ext cx="5191125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Diventa un pilota difendibile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1FE9D2-6E47-4663-B528-32018755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30750"/>
            <a:ext cx="113919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44428E-8B53-496E-A579-0B86A680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06950"/>
            <a:ext cx="2466975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Stretch case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A67692-AC5E-4FBB-8AB8-5DF37546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06950"/>
            <a:ext cx="184785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766 / anno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A816A5-E83E-4F77-9B75-D16463B6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06950"/>
            <a:ext cx="127635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7 anni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81E1CD-F367-468F-BD28-DF7B506B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06950"/>
            <a:ext cx="5191125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Serve FV forte o ACS molto costosa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C4609B-89F2-42DD-9D81-952E0D75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4D3A"/>
                </a:solidFill>
              </a:defRPr>
            </a:pPr>
            <a:r>
              <a:rPr sz="1575" b="1">
                <a:solidFill>
                  <a:srgbClr val="B84D3A"/>
                </a:solidFill>
              </a:rPr>
              <a:t>Nota: BTC +100% qui assume che difficulty e fee non assorbano tutto l'upside. Nel lungo periodo conta l'hashprice, non solo il prezzo BTC.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E741D6-4DF8-4239-B7CA-C37ABC56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Fonte: modello interno su dati GSE 2024, CoinGecko e mempool.space al 2026-06-21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81DE95-B746-4200-9FC9-CF258A7A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222772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84640D-ADE5-4EBE-BA53-46747091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F66"/>
                </a:solidFill>
              </a:defRPr>
            </a:pPr>
            <a:r>
              <a:rPr sz="1200" b="1">
                <a:solidFill>
                  <a:srgbClr val="555F66"/>
                </a:solidFill>
              </a:rPr>
              <a:t>ASIC HEAT RECOVERY / BUSINESS PARTNER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4AD89-24E5-4654-8F8F-6D38EA08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Mercato: grande in teoria, piccolo se filtrato correttamente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C4DFA-EF50-4B6D-ACA6-3D71DEAE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F66"/>
                </a:solidFill>
              </a:defRPr>
            </a:pPr>
            <a:r>
              <a:rPr sz="1650" b="0">
                <a:solidFill>
                  <a:srgbClr val="555F66"/>
                </a:solidFill>
              </a:rPr>
              <a:t>Il TAM e ampio, ma il vero SAM richiede casa/spazio tecnico, FV, surplus, quadro adeguato e apertura al mining.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B30F4-7BE6-4933-8B2E-2B09B404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5717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C263F-C3DA-4666-99B4-1A634F03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B6F68"/>
                </a:solidFill>
              </a:defRPr>
            </a:pPr>
            <a:r>
              <a:rPr sz="2700" b="0">
                <a:solidFill>
                  <a:srgbClr val="1B6F68"/>
                </a:solidFill>
              </a:rPr>
              <a:t>1,60M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08A0F-2E28-46E7-BCB2-008F227B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076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Impianti FV residenziali in Italia (GSE 2024)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F0B08-D2E8-4ECE-AE99-9F4C73B9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5717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C656A-FEE3-422D-B80E-DAF96F21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336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B6F68"/>
                </a:solidFill>
              </a:defRPr>
            </a:pPr>
            <a:r>
              <a:rPr sz="2700" b="0">
                <a:solidFill>
                  <a:srgbClr val="1B6F68"/>
                </a:solidFill>
              </a:rPr>
              <a:t>38.772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90CE8-0B6B-443A-82EC-9E74E4E6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076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Impianti FV residenziali in Trentino-Alto Adige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E53CE-EF46-4BAA-9909-CAED740C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5717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78460-7A2E-437A-98B5-C6206063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67B2A"/>
                </a:solidFill>
              </a:defRPr>
            </a:pPr>
            <a:r>
              <a:rPr sz="2400" b="0">
                <a:solidFill>
                  <a:srgbClr val="D67B2A"/>
                </a:solidFill>
              </a:rPr>
              <a:t>80k-180k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E9C12-5A52-4884-A25C-F9698C6F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2076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SAM Italia stimato dopo filtri tecnici e commerciali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5F259-DECF-4160-B5B8-BC85FE80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25717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CE7C8-2F21-48AE-9677-E4D81206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336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84D3A"/>
                </a:solidFill>
              </a:defRPr>
            </a:pPr>
            <a:r>
              <a:rPr sz="2700" b="0">
                <a:solidFill>
                  <a:srgbClr val="B84D3A"/>
                </a:solidFill>
              </a:rPr>
              <a:t>20-60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8D3A9-47E8-4088-8018-3CB87957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2076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SOM TAA realistico nei primi 3 anni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177E1-F9A1-417D-88B7-BE52D34E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Fonte: GSE Solare Fotovoltaico 2024, allegato XLSX; stime SAM/SOM derivate.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5F0FE-5764-4910-85D8-E28E246C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31086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D3DC87-98F3-487A-8A96-17888E74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F66"/>
                </a:solidFill>
              </a:defRPr>
            </a:pPr>
            <a:r>
              <a:rPr sz="1200" b="1">
                <a:solidFill>
                  <a:srgbClr val="555F66"/>
                </a:solidFill>
              </a:rPr>
              <a:t>ASIC HEAT RECOVERY / BUSINESS PARTNER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83373-A630-44F8-AE5F-29D1FA08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Migliori clienti: non famiglia media, ma carichi termici continui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6AFC7-3CA7-4FD7-A968-CC922BA8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666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BE4D3-80EE-44A4-A96A-7DB5AD8F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2381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F1E2B-682F-4D75-BA8B-D488AEB2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95450"/>
            <a:ext cx="4572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1CCF0-A263-4BEC-8EED-5E1F34C1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95450"/>
            <a:ext cx="3771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A98A4-16F1-48EC-97D6-DCDB1F4D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3919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E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7FC1B-34B2-44ED-A0A0-1CE9D219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71650"/>
            <a:ext cx="5143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Rank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D249C-F23E-4A58-ADE9-EFEA0A1C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2228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Segmento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9ED21-C462-4EF4-8858-2CF25F96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71650"/>
            <a:ext cx="44196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Perche puo comprare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A527F-90CF-46FB-A8EC-15C3DC74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71650"/>
            <a:ext cx="36195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Rischio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6CA0E-BC1B-4F05-A3E9-EB1BB44E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0450"/>
            <a:ext cx="113919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4CCF2-B5AE-4414-9ECB-BC70F34D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6650"/>
            <a:ext cx="5143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CC8FC-0C0C-494A-964D-A8C37506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6650"/>
            <a:ext cx="2228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Agriturismi / B&amp;B con FV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E1CCF-0F7F-46D8-8F6F-D46CA912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6650"/>
            <a:ext cx="44196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ACS, lavanderia, spa o piscina aumentano ore utili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879B5-6A41-47C0-BA7B-B9E65F43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6650"/>
            <a:ext cx="36195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Installazioni diverse sito per sito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D3A61-A879-43B9-984B-EF15F7C5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5450"/>
            <a:ext cx="113919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D5AF9-D9D0-47C4-92B3-40965CBB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1650"/>
            <a:ext cx="5143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AE538-13F3-4604-AEBA-B73EDCED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1650"/>
            <a:ext cx="2228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Bitcoiner con casa grande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D4891-6FCD-4160-A4D3-A17E409F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1650"/>
            <a:ext cx="44196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Capisce narrativa e accetta volatilita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30E122-02D2-43C7-9C6B-4CD79DE6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1650"/>
            <a:ext cx="36195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Mercato piccolo, spesso DIY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C13F3-4944-4174-9986-831310A8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13919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20DE8-38ED-4284-A380-CFC71ACA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5143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9444DD-3DF9-4DC9-BDEC-29EEDB5E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2228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Case indipendenti con FV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4E1B9F-A070-4C14-9891-A9C82B97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76650"/>
            <a:ext cx="44196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Spazio tecnico e possibile surplus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F9285-93B1-4624-8288-217B428A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6195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Payback debole senza ACS elettrica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169E94-4D30-4041-970D-0ED16129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5450"/>
            <a:ext cx="113919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DF7E20-D64C-456C-A4CC-A82ED28A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11650"/>
            <a:ext cx="5143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D2FE71-DAB4-4D36-ABF4-D21F0AE6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11650"/>
            <a:ext cx="2228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Early adopter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30FDF-31BA-49FD-B082-38791F32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11650"/>
            <a:ext cx="44196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Buoni piloti e feedback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2B2CC1-A878-4E49-ACD6-E51C9DA4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11650"/>
            <a:ext cx="36195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CAC alto, non scala da solo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EF8A5D-EB18-4379-BD0A-84C65448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0450"/>
            <a:ext cx="11391900" cy="63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5F4D71-63E4-4244-981A-132285A5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46650"/>
            <a:ext cx="5143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AF0221-5BCB-4759-9A04-34F54232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46650"/>
            <a:ext cx="222885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Famiglia media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9ECB18-EF5E-40F2-9FC5-98A76CFA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46650"/>
            <a:ext cx="44196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Mercato grande sulla carta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C19248-74F2-4ADB-88F0-3A3292AD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46650"/>
            <a:ext cx="3619500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Da evitare: ROI insufficiente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5DC1B6-E166-48F4-AC9D-F78F04F9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Target iniziale consigliato: ospitalita piccola/premium in TAA con FV e bisogno termico misurabile.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EAF229-C12A-4828-8C93-096F7B09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Fonte: modello interno su dati GSE 2024, CoinGecko e mempool.space al 2026-06-21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A93E47-2A3A-46F8-9116-93A826FD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238847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34A5D3-F2B6-4379-BA67-F8E1E647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F66"/>
                </a:solidFill>
              </a:defRPr>
            </a:pPr>
            <a:r>
              <a:rPr sz="1200" b="1">
                <a:solidFill>
                  <a:srgbClr val="555F66"/>
                </a:solidFill>
              </a:rPr>
              <a:t>ASIC HEAT RECOVERY / BUSINESS PARTNER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687EB-0325-4C22-93FA-E7C71917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Concorrenza: validano il tema, ma non risolvono ACS domestica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DA7BF-70D1-42BF-BD16-4CEB8AD6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809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FAEBC-FC95-4E82-9EA4-6738387D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76400"/>
            <a:ext cx="161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B4531-B820-4CB5-AD1D-7BC11E8A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76400"/>
            <a:ext cx="3905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65A63-D643-4560-951C-1DE11A7D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76400"/>
            <a:ext cx="405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E10E2-FA3B-4F84-A4BD-28204739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E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6832B-20CC-4E55-B54C-43EEC88D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Competitor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A2F35-31E6-4D36-904A-5DA171E5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52600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Prezzo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5678A-6AE3-4CD2-AC17-EC48E67A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52600"/>
            <a:ext cx="3752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Cosa fa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55884-9037-43C3-AFE8-84897BEC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Punto debole per noi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5C165-9ECA-4988-86C6-DE2FD587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4E5D9-F059-4F32-909E-4F16A391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955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Heatbit Trio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2C7A5-E537-4DCF-88EC-FA3E7550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95550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USD 849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710BF-E024-4E6B-8E4A-C842EE25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3752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10 TH/s, heater aria + purificatore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0D8EE-F37D-44C5-81B0-75C44DDE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955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Non ACS; hashrate basso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A59A7-2C62-42D5-A3F3-A4A58957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BE72C-AD5F-4160-9F28-7367C84B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Heatbit Maxi Pro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DB7CC8-DED4-4DBC-B3BC-CF96459C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38500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USD 1.499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25A05-072C-477B-8456-6A183C1C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38500"/>
            <a:ext cx="3752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Fino a 60 TH/s, 1,5 kW mining heat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7A1FF-6C62-497A-9A49-BFCED442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Riscaldamento ambiente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D5E1A-6FF7-4A6C-A696-569B31CC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BA8576-8F22-4E09-B707-4820A7F2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814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21Energy Ofen 2/Pro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766952-2EEC-4015-8685-EACDC5E5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81450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1.780-2.410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278540-E212-4865-A06B-C054C568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3752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40-60 TH/s, heater aria 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0A4515-5848-44BF-AC3E-EC911175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Non idronico, ROI limitato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C2CF1D-B110-4721-8497-587EE182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CB207-917F-427E-8F26-B9C275D5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2440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RY3T 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7492F7-FFF4-45BD-9AE7-0736F511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24400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Non pubblicato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BAB294-E705-4842-863A-29D3213C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24400"/>
            <a:ext cx="3752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Modulo idronico 7-14 kW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392C39-6CE2-4FC1-A06D-BB102937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Piu vicino, ma alta potenza/CAPEX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FF3549-0B51-4971-B4E5-29E4E288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Spazio competitivo plausibile: integrazione locale, termotecnica, monitoraggio e target con vero carico termico.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8066B1-7319-4AD6-B489-8047CC63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Fonti competitor: Heatbit, 21Energy, RY3T, pagine prodotto consultate il 2026-06-21.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DCAE75-24D4-4C24-9330-2B5414DB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57594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AACA84-E2CE-43DF-AE21-FAC9FFFD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F66"/>
                </a:solidFill>
              </a:defRPr>
            </a:pPr>
            <a:r>
              <a:rPr sz="1200" b="1">
                <a:solidFill>
                  <a:srgbClr val="555F66"/>
                </a:solidFill>
              </a:rPr>
              <a:t>ASIC HEAT RECOVERY / BUSINESS PARTNER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0A3EA-9677-4170-A258-3FD6815A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Economia azienda: margine basso, assistenza alta, break-even lontano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7295F-137C-4373-A1AB-2518B5E6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0AD00-EE66-4CE6-926F-ECE21295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1625600" cy="953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2DD8B-EA55-4469-B12B-8357C17D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87073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EUR -208.675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D7B18-B7A1-4579-806C-7BDD7E33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3000"/>
            <a:ext cx="177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F66"/>
                </a:solidFill>
              </a:defRPr>
            </a:pPr>
            <a:r>
              <a:rPr sz="1125" b="0">
                <a:solidFill>
                  <a:srgbClr val="555F66"/>
                </a:solidFill>
              </a:rPr>
              <a:t>10/anno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FA5F6-2E98-4F7D-98F8-6234522F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250" y="3457575"/>
            <a:ext cx="1625600" cy="1037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05F76-F25C-4A1B-8702-C4AE7D22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050" y="4570787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EUR -227.000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77D1D-0C8F-49AA-85AD-C791C5FB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050" y="4953000"/>
            <a:ext cx="177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F66"/>
                </a:solidFill>
              </a:defRPr>
            </a:pPr>
            <a:r>
              <a:rPr sz="1125" b="0">
                <a:solidFill>
                  <a:srgbClr val="555F66"/>
                </a:solidFill>
              </a:rPr>
              <a:t>50/anno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E45A7-8AB5-4AE5-88F7-B456DEEA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3457575"/>
            <a:ext cx="1625600" cy="11021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B805F-D422-4635-A951-3CD14F47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50" y="4635886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EUR -241.250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AF33B-083C-4FF3-9FE8-3702E43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50" y="4953000"/>
            <a:ext cx="177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F66"/>
                </a:solidFill>
              </a:defRPr>
            </a:pPr>
            <a:r>
              <a:rPr sz="1125" b="0">
                <a:solidFill>
                  <a:srgbClr val="555F66"/>
                </a:solidFill>
              </a:rPr>
              <a:t>100/anno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74B93-E512-4B7D-890E-733A4E7E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EBIT stimato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33BE7-88E7-4BEB-82EB-BEA39FBF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431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84A80-F83D-4C16-AB8E-553A860F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B84D3A"/>
                </a:solidFill>
              </a:defRPr>
            </a:pPr>
            <a:r>
              <a:rPr sz="2550" b="0">
                <a:solidFill>
                  <a:srgbClr val="B84D3A"/>
                </a:solidFill>
              </a:rPr>
              <a:t>11,8%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90EEB-964A-48D3-AD91-BCD44BDE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Margine lordo unitario stimato su EUR 8.900 prezzo installato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3FACF-C838-4F2A-A607-B49D74A3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31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3F467-2DD2-4FAA-B1BF-80FA7B9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098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B84D3A"/>
                </a:solidFill>
              </a:defRPr>
            </a:pPr>
            <a:r>
              <a:rPr sz="2550" b="0">
                <a:solidFill>
                  <a:srgbClr val="B84D3A"/>
                </a:solidFill>
              </a:rPr>
              <a:t>&gt;300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6D339-53A7-4711-84E0-3B42E621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19400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Installazioni/anno per break-even con margine unitario attuale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E36D2-1501-44A4-B922-2ACB5CDB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43400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Il business non scala bene se ogni installazione resta custom e richiede progettazione + assistenza ad alto contatto.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53205-EBDD-4A98-A48E-3C327C7D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Fonte: modello interno su dati GSE 2024, CoinGecko e mempool.space al 2026-06-21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1BE8E-A200-405F-8F6C-F7D35629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992541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5C04A3-7CC5-48B2-944D-1CD0C5BF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F66"/>
                </a:solidFill>
              </a:defRPr>
            </a:pPr>
            <a:r>
              <a:rPr sz="1200" b="1">
                <a:solidFill>
                  <a:srgbClr val="555F66"/>
                </a:solidFill>
              </a:rPr>
              <a:t>ASIC HEAT RECOVERY / BUSINESS PARTNER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719AA-8D60-4980-A889-1CE9402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Go-to-market: un pilota con kill criteria, non un lancio largo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225D4-92CE-4097-B18E-0E4DBA65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6F68"/>
                </a:solidFill>
              </a:defRPr>
            </a:pPr>
            <a:r>
              <a:rPr sz="1800" b="1">
                <a:solidFill>
                  <a:srgbClr val="1B6F68"/>
                </a:solidFill>
              </a:rPr>
              <a:t>0-3 mesi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0307F-7B1C-408D-A83D-4B268E82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66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Prototipo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B64C3-8A2E-4F30-B704-3963FB9A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66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F66"/>
                </a:solidFill>
              </a:defRPr>
            </a:pPr>
            <a:r>
              <a:rPr sz="1575" b="0">
                <a:solidFill>
                  <a:srgbClr val="555F66"/>
                </a:solidFill>
              </a:rPr>
              <a:t>EUR 20-40k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B0317-324F-4858-A9DF-124AB129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Recupero &gt;80%, telemetria 30 giorni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17209-36D8-4FC6-9073-81F81D12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82EA7-74A4-4247-B1F7-3135FD21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6F68"/>
                </a:solidFill>
              </a:defRPr>
            </a:pPr>
            <a:r>
              <a:rPr sz="1800" b="1">
                <a:solidFill>
                  <a:srgbClr val="1B6F68"/>
                </a:solidFill>
              </a:rPr>
              <a:t>3-6 mesi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B08FD-DF3A-4CE6-B058-86F5AAE3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1-3 piloti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D5D67-7063-408C-BCE5-1E805809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F66"/>
                </a:solidFill>
              </a:defRPr>
            </a:pPr>
            <a:r>
              <a:rPr sz="1575" b="0">
                <a:solidFill>
                  <a:srgbClr val="555F66"/>
                </a:solidFill>
              </a:rPr>
              <a:t>EUR 30-70k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15F2B-88EA-4B55-9BC5-6CD2EF9C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Zero incidenti, ore utili &gt;700/anno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42335-91CC-43F3-A4B0-9338034D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6EECF-79B8-44F4-8E05-DA4EF83E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7B2A"/>
                </a:solidFill>
              </a:defRPr>
            </a:pPr>
            <a:r>
              <a:rPr sz="1800" b="1">
                <a:solidFill>
                  <a:srgbClr val="D67B2A"/>
                </a:solidFill>
              </a:rPr>
              <a:t>6-12 mesi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31C98-A64F-4AD5-9E15-E830B6BB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Primi 10 clienti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D88B7-59F1-467C-B6EE-F39ED849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F66"/>
                </a:solidFill>
              </a:defRPr>
            </a:pPr>
            <a:r>
              <a:rPr sz="1575" b="0">
                <a:solidFill>
                  <a:srgbClr val="555F66"/>
                </a:solidFill>
              </a:rPr>
              <a:t>EUR 120-220k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FA42C-2275-4EEC-BE35-8E54080C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CAC &lt; EUR 1.500, installazione &lt;2 giorni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FB40B-45F2-4DB2-9546-EAFEF0B0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B8230-EB68-4236-80D7-4EB348E2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7B2A"/>
                </a:solidFill>
              </a:defRPr>
            </a:pPr>
            <a:r>
              <a:rPr sz="1800" b="1">
                <a:solidFill>
                  <a:srgbClr val="D67B2A"/>
                </a:solidFill>
              </a:rPr>
              <a:t>12-24 mesi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4E661-78E0-4D82-871C-21DADB97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38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Espansione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989EC-FC8A-419A-AAC4-BC8F0E5C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F66"/>
                </a:solidFill>
              </a:defRPr>
            </a:pPr>
            <a:r>
              <a:rPr sz="1575" b="0">
                <a:solidFill>
                  <a:srgbClr val="555F66"/>
                </a:solidFill>
              </a:rPr>
              <a:t>EUR 250-500k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845CB-43FC-41B6-A20F-64FCC19D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50 installazioni cumulative, partner installatori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28B9B-F0D5-4955-A487-D8305EDE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D93B4-C0F1-41B7-9EC1-50089635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D3A"/>
                </a:solidFill>
              </a:defRPr>
            </a:pPr>
            <a:r>
              <a:rPr sz="1650" b="1">
                <a:solidFill>
                  <a:srgbClr val="B84D3A"/>
                </a:solidFill>
              </a:rPr>
              <a:t>Kill criteria: fermarsi se 5 clienti paganti non dimostrano EUR 600-1.000/anno di beneficio netto reale o willingness-to-pay extra-ROI.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5C482-9FAE-49E7-A2B9-8CDC99C3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Fonte: modello interno su dati GSE 2024, CoinGecko e mempool.space al 2026-06-21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D1C562-1715-4E3A-98A5-E36D0503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68723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0D2752-ED79-4CFD-ACA3-70D76DFD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Decisione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E7236-B77A-48EA-AA90-62766052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Procedere solo se il partner accetta un esperimento stretto e falsificabile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B593D-5781-47D4-AC8B-DE74E90F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35718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AC8C3-E484-4CC2-BE52-E241BBE0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48000"/>
            <a:ext cx="3076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B6F68"/>
                </a:solidFill>
              </a:defRPr>
            </a:pPr>
            <a:r>
              <a:rPr sz="2250" b="0">
                <a:solidFill>
                  <a:srgbClr val="1B6F68"/>
                </a:solidFill>
              </a:rPr>
              <a:t>Fare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6CB42-B350-49B6-B980-A5614E2B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7600"/>
            <a:ext cx="30765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5-10 piloti paganti in TAA, target hospitality/FV, componenti esistenti, dashboard misure reali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1FE9E-A662-4445-9EDA-00F98CA0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5718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E9328-4AE6-453F-81F6-6DF7CA96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3076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84D3A"/>
                </a:solidFill>
              </a:defRPr>
            </a:pPr>
            <a:r>
              <a:rPr sz="2250" b="0">
                <a:solidFill>
                  <a:srgbClr val="B84D3A"/>
                </a:solidFill>
              </a:rPr>
              <a:t>Non fare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A6876-B646-47E0-9B2E-09A7B41D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57600"/>
            <a:ext cx="30765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Hardware proprietario, campagna B2C larga, promessa di acqua calda gratis, business plan su famiglia media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792F4-5B37-4DD0-B0EF-8E45F6D3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Ask al partner: accesso a installatori/clienti pilota + budget EUR 250-400k + disciplina di stop/go.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FA8ED-638D-47E8-B3CE-91A253ED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Appendice completa: research/output/asic_heat_recovery_startup_report.html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7E409-F818-49F5-A84E-400C1C83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4923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2026-06-21T13:58:00.1820000Z</dcterms:created>
  <dcterms:modified xsi:type="dcterms:W3CDTF">2026-06-21T13:58:00.1820000Z</dcterms:modified>
</coreProperties>
</file>