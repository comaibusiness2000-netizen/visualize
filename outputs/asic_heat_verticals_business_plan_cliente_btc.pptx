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c7fc5240f4d7d" /><Relationship Type="http://schemas.openxmlformats.org/officeDocument/2006/relationships/extended-properties" Target="/docProps/app.xml" Id="Rc1f614d7bed74578" /><Relationship Type="http://schemas.openxmlformats.org/officeDocument/2006/relationships/officeDocument" Target="/ppt/presentation.xml" Id="R4b793ceef3ff46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5e42b53f24be7"/>
  </p:sldMasterIdLst>
  <p:notesMasterIdLst>
    <p:notesMasterId xmlns:r="http://schemas.openxmlformats.org/officeDocument/2006/relationships" r:id="R3037dae4fdb04301"/>
  </p:notesMasterIdLst>
  <p:sldIdLst>
    <p:sldId xmlns:r="http://schemas.openxmlformats.org/officeDocument/2006/relationships" id="256" r:id="Ra33ab4439a334457"/>
    <p:sldId xmlns:r="http://schemas.openxmlformats.org/officeDocument/2006/relationships" id="257" r:id="R91463e6ec10f4b94"/>
    <p:sldId xmlns:r="http://schemas.openxmlformats.org/officeDocument/2006/relationships" id="258" r:id="R68de7e6f3e8c4659"/>
    <p:sldId xmlns:r="http://schemas.openxmlformats.org/officeDocument/2006/relationships" id="259" r:id="Rf0aa8b4f88e449e0"/>
    <p:sldId xmlns:r="http://schemas.openxmlformats.org/officeDocument/2006/relationships" id="260" r:id="R63a4b661d50a4a47"/>
    <p:sldId xmlns:r="http://schemas.openxmlformats.org/officeDocument/2006/relationships" id="261" r:id="Rddcb5367e81d4e81"/>
    <p:sldId xmlns:r="http://schemas.openxmlformats.org/officeDocument/2006/relationships" id="262" r:id="Rb6657ee8ef884bdd"/>
    <p:sldId xmlns:r="http://schemas.openxmlformats.org/officeDocument/2006/relationships" id="263" r:id="Rc989c52b961f46fe"/>
    <p:sldId xmlns:r="http://schemas.openxmlformats.org/officeDocument/2006/relationships" id="264" r:id="R1cb3e1dff68c42d4"/>
    <p:sldId xmlns:r="http://schemas.openxmlformats.org/officeDocument/2006/relationships" id="265" r:id="R6d7168427da0477b"/>
    <p:sldId xmlns:r="http://schemas.openxmlformats.org/officeDocument/2006/relationships" id="266" r:id="R1d2973a8ee754770"/>
    <p:sldId xmlns:r="http://schemas.openxmlformats.org/officeDocument/2006/relationships" id="267" r:id="R9fa809741bb44aab"/>
    <p:sldId xmlns:r="http://schemas.openxmlformats.org/officeDocument/2006/relationships" id="268" r:id="R9039ef94a37c4d0e"/>
    <p:sldId xmlns:r="http://schemas.openxmlformats.org/officeDocument/2006/relationships" id="269" r:id="Re62bb17f877d4e35"/>
    <p:sldId xmlns:r="http://schemas.openxmlformats.org/officeDocument/2006/relationships" id="270" r:id="R68c18024a70b4f0e"/>
    <p:sldId xmlns:r="http://schemas.openxmlformats.org/officeDocument/2006/relationships" id="271" r:id="R15cb787bbc2e4f68"/>
    <p:sldId xmlns:r="http://schemas.openxmlformats.org/officeDocument/2006/relationships" id="272" r:id="R583fd664240c4b0b"/>
    <p:sldId xmlns:r="http://schemas.openxmlformats.org/officeDocument/2006/relationships" id="273" r:id="R9d8604dd40cc42b5"/>
    <p:sldId xmlns:r="http://schemas.openxmlformats.org/officeDocument/2006/relationships" id="274" r:id="R909f9f4ea92341ac"/>
    <p:sldId xmlns:r="http://schemas.openxmlformats.org/officeDocument/2006/relationships" id="275" r:id="Rfe410a6ad97c4f3b"/>
    <p:sldId xmlns:r="http://schemas.openxmlformats.org/officeDocument/2006/relationships" id="276" r:id="R6828976a9fc443ac"/>
    <p:sldId xmlns:r="http://schemas.openxmlformats.org/officeDocument/2006/relationships" id="277" r:id="R8b14cc68ec1b4c79"/>
    <p:sldId xmlns:r="http://schemas.openxmlformats.org/officeDocument/2006/relationships" id="278" r:id="R7261ee97baeb44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002fbb2554dab" /><Relationship Type="http://schemas.openxmlformats.org/officeDocument/2006/relationships/slideMaster" Target="/ppt/slideMasters/slideMaster1.xml" Id="Rb155e42b53f24be7" /><Relationship Type="http://schemas.openxmlformats.org/officeDocument/2006/relationships/notesMaster" Target="/ppt/notesMasters/notesMaster1.xml" Id="R3037dae4fdb04301" /><Relationship Type="http://schemas.openxmlformats.org/officeDocument/2006/relationships/presProps" Target="/ppt/presProps.xml" Id="R3c38f7e96cd74552" /><Relationship Type="http://schemas.openxmlformats.org/officeDocument/2006/relationships/tableStyles" Target="/ppt/tableStyles.xml" Id="R7854083f2fcf4726" /><Relationship Type="http://schemas.openxmlformats.org/officeDocument/2006/relationships/slide" Target="/ppt/slides/slide1.xml" Id="Ra33ab4439a334457" /><Relationship Type="http://schemas.openxmlformats.org/officeDocument/2006/relationships/slide" Target="/ppt/slides/slide2.xml" Id="R91463e6ec10f4b94" /><Relationship Type="http://schemas.openxmlformats.org/officeDocument/2006/relationships/slide" Target="/ppt/slides/slide3.xml" Id="R68de7e6f3e8c4659" /><Relationship Type="http://schemas.openxmlformats.org/officeDocument/2006/relationships/slide" Target="/ppt/slides/slide4.xml" Id="Rf0aa8b4f88e449e0" /><Relationship Type="http://schemas.openxmlformats.org/officeDocument/2006/relationships/slide" Target="/ppt/slides/slide5.xml" Id="R63a4b661d50a4a47" /><Relationship Type="http://schemas.openxmlformats.org/officeDocument/2006/relationships/slide" Target="/ppt/slides/slide6.xml" Id="Rddcb5367e81d4e81" /><Relationship Type="http://schemas.openxmlformats.org/officeDocument/2006/relationships/slide" Target="/ppt/slides/slide7.xml" Id="Rb6657ee8ef884bdd" /><Relationship Type="http://schemas.openxmlformats.org/officeDocument/2006/relationships/slide" Target="/ppt/slides/slide8.xml" Id="Rc989c52b961f46fe" /><Relationship Type="http://schemas.openxmlformats.org/officeDocument/2006/relationships/slide" Target="/ppt/slides/slide9.xml" Id="R1cb3e1dff68c42d4" /><Relationship Type="http://schemas.openxmlformats.org/officeDocument/2006/relationships/slide" Target="/ppt/slides/slide10.xml" Id="R6d7168427da0477b" /><Relationship Type="http://schemas.openxmlformats.org/officeDocument/2006/relationships/slide" Target="/ppt/slides/slide11.xml" Id="R1d2973a8ee754770" /><Relationship Type="http://schemas.openxmlformats.org/officeDocument/2006/relationships/slide" Target="/ppt/slides/slide12.xml" Id="R9fa809741bb44aab" /><Relationship Type="http://schemas.openxmlformats.org/officeDocument/2006/relationships/slide" Target="/ppt/slides/slide13.xml" Id="R9039ef94a37c4d0e" /><Relationship Type="http://schemas.openxmlformats.org/officeDocument/2006/relationships/slide" Target="/ppt/slides/slide14.xml" Id="Re62bb17f877d4e35" /><Relationship Type="http://schemas.openxmlformats.org/officeDocument/2006/relationships/slide" Target="/ppt/slides/slide15.xml" Id="R68c18024a70b4f0e" /><Relationship Type="http://schemas.openxmlformats.org/officeDocument/2006/relationships/slide" Target="/ppt/slides/slide16.xml" Id="R15cb787bbc2e4f68" /><Relationship Type="http://schemas.openxmlformats.org/officeDocument/2006/relationships/slide" Target="/ppt/slides/slide17.xml" Id="R583fd664240c4b0b" /><Relationship Type="http://schemas.openxmlformats.org/officeDocument/2006/relationships/slide" Target="/ppt/slides/slide18.xml" Id="R9d8604dd40cc42b5" /><Relationship Type="http://schemas.openxmlformats.org/officeDocument/2006/relationships/slide" Target="/ppt/slides/slide19.xml" Id="R909f9f4ea92341ac" /><Relationship Type="http://schemas.openxmlformats.org/officeDocument/2006/relationships/slide" Target="/ppt/slides/slide20.xml" Id="Rfe410a6ad97c4f3b" /><Relationship Type="http://schemas.openxmlformats.org/officeDocument/2006/relationships/slide" Target="/ppt/slides/slide21.xml" Id="R6828976a9fc443ac" /><Relationship Type="http://schemas.openxmlformats.org/officeDocument/2006/relationships/slide" Target="/ppt/slides/slide22.xml" Id="R8b14cc68ec1b4c79" /><Relationship Type="http://schemas.openxmlformats.org/officeDocument/2006/relationships/slide" Target="/ppt/slides/slide23.xml" Id="R7261ee97baeb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ed1fc82179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da83ebf6a4302" /><Relationship Type="http://schemas.openxmlformats.org/officeDocument/2006/relationships/notesMaster" Target="/ppt/notesMasters/notesMaster1.xml" Id="Rc788f6c4aadf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4fc3dcadc4b15" /><Relationship Type="http://schemas.openxmlformats.org/officeDocument/2006/relationships/notesMaster" Target="/ppt/notesMasters/notesMaster1.xml" Id="R418f0474cbab41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cb509390f9489c" /><Relationship Type="http://schemas.openxmlformats.org/officeDocument/2006/relationships/notesMaster" Target="/ppt/notesMasters/notesMaster1.xml" Id="Rb935920b2d2342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8c3cc206cf4261" /><Relationship Type="http://schemas.openxmlformats.org/officeDocument/2006/relationships/notesMaster" Target="/ppt/notesMasters/notesMaster1.xml" Id="R5130c02d5b3243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3de9cc18d442f7" /><Relationship Type="http://schemas.openxmlformats.org/officeDocument/2006/relationships/notesMaster" Target="/ppt/notesMasters/notesMaster1.xml" Id="R459d8be323a9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3a537fbd0742a3" /><Relationship Type="http://schemas.openxmlformats.org/officeDocument/2006/relationships/notesMaster" Target="/ppt/notesMasters/notesMaster1.xml" Id="R164007c3cbe9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6c241cae0b4ddf" /><Relationship Type="http://schemas.openxmlformats.org/officeDocument/2006/relationships/notesMaster" Target="/ppt/notesMasters/notesMaster1.xml" Id="R8ae71413a1dd47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e27714af84be3" /><Relationship Type="http://schemas.openxmlformats.org/officeDocument/2006/relationships/notesMaster" Target="/ppt/notesMasters/notesMaster1.xml" Id="R53de9026e25146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78f23e5b7d49d1" /><Relationship Type="http://schemas.openxmlformats.org/officeDocument/2006/relationships/notesMaster" Target="/ppt/notesMasters/notesMaster1.xml" Id="R37dcdf39e00c46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dbc3874c63480d" /><Relationship Type="http://schemas.openxmlformats.org/officeDocument/2006/relationships/notesMaster" Target="/ppt/notesMasters/notesMaster1.xml" Id="Rf3f6b89de3e640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b7026ba122418c" /><Relationship Type="http://schemas.openxmlformats.org/officeDocument/2006/relationships/notesMaster" Target="/ppt/notesMasters/notesMaster1.xml" Id="Recf1ef35d60d48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1fa0c5b0964474" /><Relationship Type="http://schemas.openxmlformats.org/officeDocument/2006/relationships/notesMaster" Target="/ppt/notesMasters/notesMaster1.xml" Id="Rd040f51f7b234b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f2a03d06a34bdd" /><Relationship Type="http://schemas.openxmlformats.org/officeDocument/2006/relationships/notesMaster" Target="/ppt/notesMasters/notesMaster1.xml" Id="R67f8be34aee247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0c3c69c373490f" /><Relationship Type="http://schemas.openxmlformats.org/officeDocument/2006/relationships/notesMaster" Target="/ppt/notesMasters/notesMaster1.xml" Id="R9acac1cc761545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b7cd2b77dd48f6" /><Relationship Type="http://schemas.openxmlformats.org/officeDocument/2006/relationships/notesMaster" Target="/ppt/notesMasters/notesMaster1.xml" Id="R025428c6adc045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2c1665c7654666" /><Relationship Type="http://schemas.openxmlformats.org/officeDocument/2006/relationships/notesMaster" Target="/ppt/notesMasters/notesMaster1.xml" Id="R00eddc10e20046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5354e3f106431f" /><Relationship Type="http://schemas.openxmlformats.org/officeDocument/2006/relationships/notesMaster" Target="/ppt/notesMasters/notesMaster1.xml" Id="Ra13d62ae55bd4c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aa3c0f2a8449ea" /><Relationship Type="http://schemas.openxmlformats.org/officeDocument/2006/relationships/notesMaster" Target="/ppt/notesMasters/notesMaster1.xml" Id="R94a39162601c47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eddbf586b14ea4" /><Relationship Type="http://schemas.openxmlformats.org/officeDocument/2006/relationships/notesMaster" Target="/ppt/notesMasters/notesMaster1.xml" Id="Rb4e01a1f015f48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641211e0c34250" /><Relationship Type="http://schemas.openxmlformats.org/officeDocument/2006/relationships/notesMaster" Target="/ppt/notesMasters/notesMaster1.xml" Id="R5570427d1f1f4d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bebbf9745e4202" /><Relationship Type="http://schemas.openxmlformats.org/officeDocument/2006/relationships/notesMaster" Target="/ppt/notesMasters/notesMaster1.xml" Id="R4ea430a3eb2d49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c6f2da82c040c4" /><Relationship Type="http://schemas.openxmlformats.org/officeDocument/2006/relationships/notesMaster" Target="/ppt/notesMasters/notesMaster1.xml" Id="R7d5c2c11eff644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b7876afadd4666" /><Relationship Type="http://schemas.openxmlformats.org/officeDocument/2006/relationships/notesMaster" Target="/ppt/notesMasters/notesMaster1.xml" Id="Ra3b533d4892443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spiegando il cambio rispetto alla famiglia media: qui non vendiamo acqua calda gratis, vendiamo un generatore di calore digitale per clienti che consumano calore molte ore.</a:t>
            </a:r>
          </a:p>
          <a:p xmlns:a="http://schemas.openxmlformats.org/drawingml/2006/main">
            <a:r>
              <a:t>Il deck confronta due modelli: hospitality/lavanderia/spa e processi di essiccazione agricola/legno/erbe.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sintesi brutale: la tecnologia e plausibile, ma il business non e provato.</a:t>
            </a:r>
          </a:p>
          <a:p xmlns:a="http://schemas.openxmlformats.org/drawingml/2006/main">
            <a:r>
              <a:t>Con 25-50k possiamo validare, non costruire una societa con magazzino, certificazioni proprietarie e rete installatori nazionale.</a:t>
            </a:r>
          </a:p>
          <a:p xmlns:a="http://schemas.openxmlformats.org/drawingml/2006/main">
            <a:r>
              <a:t>Se un partner interpreta questa slide come 'siamo pronti a scalare', bisogna fermarlo subito.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deve mettere a terra la conversazione: non stiamo dicendo che il business e gia fattibile, stiamo dicendo che e abbastanza plausibile da testare.</a:t>
            </a:r>
          </a:p>
          <a:p xmlns:a="http://schemas.openxmlformats.org/drawingml/2006/main">
            <a:r>
              <a:t>La parte piu debole oggi e la scalabilita: ogni installazione custom uccide margini e velocita.</a:t>
            </a:r>
          </a:p>
          <a:p xmlns:a="http://schemas.openxmlformats.org/drawingml/2006/main">
            <a:r>
              <a:t>La condizione per proseguire e avere dati misurati, non entusiasmo.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una frase semplice: un miner e una resistenza elettrica intelligente. Produce calore e contemporaneamente partecipa al mining.</a:t>
            </a:r>
          </a:p>
          <a:p xmlns:a="http://schemas.openxmlformats.org/drawingml/2006/main">
            <a:r>
              <a:t>Il recupero non crea energia gratis: sposta calore che altrimenti sarebbe buttato via. Il vantaggio nasce se quel calore sostituisce un costo reale.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rende il modello comprensibile: il cliente compra kWh elettrici e riceve BTC piu calore.</a:t>
            </a:r>
          </a:p>
          <a:p xmlns:a="http://schemas.openxmlformats.org/drawingml/2006/main">
            <a:r>
              <a:t>La soglia dipende da hashprice, rendimento termico e valore del calore sostituito. Se il cliente scalda gia a basso costo, il progetto diventa debole.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slide per il cliente: non promettere acqua calda gratis e non promettere rendimenti.</a:t>
            </a:r>
          </a:p>
          <a:p xmlns:a="http://schemas.openxmlformats.org/drawingml/2006/main">
            <a:r>
              <a:t>La proposta deve suonare cosi: lei usa gia calore; noi trasformiamo parte della sua bolletta elettrica in calore utile e BTC, misurando tutto.</a:t>
            </a:r>
          </a:p>
          <a:p xmlns:a="http://schemas.openxmlformats.org/drawingml/2006/main">
            <a:r>
              <a:t>Se manca una baseline energetica chiara, il cliente non e adatto al pilota.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bisogna essere severi: prezzo BTC alto non si traduce automaticamente in pari aumento del profitto mining.</a:t>
            </a:r>
          </a:p>
          <a:p xmlns:a="http://schemas.openxmlformats.org/drawingml/2006/main">
            <a:r>
              <a:t>Difficulty e competizione possono mangiare una parte consistente dell'upside. Per questo il modello passa solo il 60% della variazione prezzo al ricavo mining.</a:t>
            </a:r>
          </a:p>
          <a:p xmlns:a="http://schemas.openxmlformats.org/drawingml/2006/main">
            <a:r>
              <a:t>Il messaggio al partner: BTC migliora il caso, ma non puo essere l'unico motivo per installare.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e la risposta alla domanda 'ma se BTC sale?'. Si, migliora molto, ma solo nei siti gia termicamente sensati.</a:t>
            </a:r>
          </a:p>
          <a:p xmlns:a="http://schemas.openxmlformats.org/drawingml/2006/main">
            <a:r>
              <a:t>Il cliente deve vedere il payback come scenario, non come garanzia. L'offerta deve includere misurazione e possibilita di spegnimento quando non conviene.</a:t>
            </a:r>
          </a:p>
          <a:p xmlns:a="http://schemas.openxmlformats.org/drawingml/2006/main">
            <a:r>
              <a:t>Se il partner vuole vendere solo il bull case, il business diventa fragile e potenzialmente scorretto.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riporta il discorso sulle leve controllabili: sito, ore, costo energia, CAPEX e standardizzazione.</a:t>
            </a:r>
          </a:p>
          <a:p xmlns:a="http://schemas.openxmlformats.org/drawingml/2006/main">
            <a:r>
              <a:t>Un sito mediocre con BTC bull resta rischioso; un sito buono con installazione ottimizzata diventa molto piu presentabile.</a:t>
            </a:r>
          </a:p>
          <a:p xmlns:a="http://schemas.openxmlformats.org/drawingml/2006/main">
            <a:r>
              <a:t>La domanda commerciale giusta non e quanto vale BTC, ma quale cliente ha abbastanza calore e una bolletta tale da assorbire l'impianto.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25-50k non devi inventare un miner. Devi mettere insieme componenti esistenti, sicurezza, dashboard e un sito pilota pagante.</a:t>
            </a:r>
          </a:p>
          <a:p xmlns:a="http://schemas.openxmlformats.org/drawingml/2006/main">
            <a:r>
              <a:t>Il rischio non e solo tecnico: se allaghi un locale tecnico o fai saltare un quadro, il prodotto e morto.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e il modello piu semplice da spiegare a un partner commerciale: il cliente ha acqua calda e biancheria, noi riduciamo una parte del costo creando BTC come sottoprodotto.</a:t>
            </a:r>
          </a:p>
          <a:p xmlns:a="http://schemas.openxmlformats.org/drawingml/2006/main">
            <a:r>
              <a:t>Il vero prodotto e un servizio misurato, non il 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devi essere netto: se l'impianto lavora 3.000 ore o meno, il modello e fragile.</a:t>
            </a:r>
          </a:p>
          <a:p xmlns:a="http://schemas.openxmlformats.org/drawingml/2006/main">
            <a:r>
              <a:t>Con 4.500 ore diventa una proposta borderline ma spiegabile; con 6.500 ore e buona energia diventa interessante.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i numeri ISTAT per mostrare che il mercato generale esiste.</a:t>
            </a:r>
          </a:p>
          <a:p xmlns:a="http://schemas.openxmlformats.org/drawingml/2006/main">
            <a:r>
              <a:t>Poi restringi subito: il nostro mercato servibile non sono 265 mila strutture, ma poche migliaia con profilo tecnico e commerciale adatto.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differenza: nel modello hospitality vendiamo calore ricorrente; nel modello essiccazione vendiamo capacita produttiva.</a:t>
            </a:r>
          </a:p>
          <a:p xmlns:a="http://schemas.openxmlformats.org/drawingml/2006/main">
            <a:r>
              <a:t>Il cliente compra se l'essiccazione gli aumenta margine, velocita o qualita, non solo se risparmia energia.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conclusione e meno comoda ma piu vera: l'essiccazione e ottima solo se il ciclo e lungo o il valore del prodotto e alto.</a:t>
            </a:r>
          </a:p>
          <a:p xmlns:a="http://schemas.openxmlformats.org/drawingml/2006/main">
            <a:r>
              <a:t>Per un agricoltore stagionale con 500-1000 ore, non venderlo come impianto: al massimo noleggio stagionale o servizio condiviso.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numero grande delle aziende agricole non va venduto come TAM vero: la maggior parte non ha bisogno o capitale.</a:t>
            </a:r>
          </a:p>
          <a:p xmlns:a="http://schemas.openxmlformats.org/drawingml/2006/main">
            <a:r>
              <a:t>La parte interessante e il 6% che gia fa attivita connesse: trasformazione, energia, agriturismo, filiere locali.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aiuta il partner a scegliere focus: non si devono lanciare due mercati insieme con 50k.</a:t>
            </a:r>
          </a:p>
          <a:p xmlns:a="http://schemas.openxmlformats.org/drawingml/2006/main">
            <a:r>
              <a:t>Consiglio pragmatico: hospitality come wedge, essiccazione come opzione pilota dove c'e gia processo e alto valore prodotto.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startup guadagna su installazione, standardizzazione e servizio ricorrente. Non deve speculare sui BTC del cliente.</a:t>
            </a:r>
          </a:p>
          <a:p xmlns:a="http://schemas.openxmlformats.org/drawingml/2006/main">
            <a:r>
              <a:t>Il margine lordo deve stare sopra il 30%, altrimenti l'assistenza mangia tutto.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serve correre: il vincolo e fare installazioni ripetibili e sicure.</a:t>
            </a:r>
          </a:p>
          <a:p xmlns:a="http://schemas.openxmlformats.org/drawingml/2006/main">
            <a:r>
              <a:t>La scalabilita arriva quando un installatore terzo puo montare il kit senza il founder in cantiere.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proiezione e volutamente non da pitch gonfiato: Y1 perde soldi, Y2 pareggia solo se si vendono 30 impianti mixati.</a:t>
            </a:r>
          </a:p>
          <a:p xmlns:a="http://schemas.openxmlformats.org/drawingml/2006/main">
            <a:r>
              <a:t>La leva e vendere ticket piu alti a clienti B2B, non fare micro-installazioni domestiche.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serve a far vedere maturita: il business ha rischi fisici, non solo finanziari.</a:t>
            </a:r>
          </a:p>
          <a:p xmlns:a="http://schemas.openxmlformats.org/drawingml/2006/main">
            <a:r>
              <a:t>Non bisogna mai toccare custodia BTC o promettere rendimenti: diventerebbe un altro mestiere e un altro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risorse concrete: clienti, installatore e budget. Se il partner porta solo entusiasmo, non basta.</a:t>
            </a:r>
          </a:p>
          <a:p xmlns:a="http://schemas.openxmlformats.org/drawingml/2006/main">
            <a:r>
              <a:t>La domanda finale e: abbiamo 5 siti adatti da misurare entro 90 giorni?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il partner chiede precisione assoluta, ribadisci che il deck e un business plan per decidere un pilota, non un'offerta tecnica definitiva.</a:t>
            </a:r>
          </a:p>
          <a:p xmlns:a="http://schemas.openxmlformats.org/drawingml/2006/main">
            <a:r>
              <a:t>Ogni cliente va modellato con la sua bolletta e il suo carico termico.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7dbfae66f4e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e0e4dae624fa6" /><Relationship Type="http://schemas.openxmlformats.org/officeDocument/2006/relationships/slideLayout" Target="/ppt/slideLayouts/slideLayout1.xml" Id="Raf82c998d59c42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82c998d59c42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d31f37dae4d0b" /><Relationship Type="http://schemas.openxmlformats.org/officeDocument/2006/relationships/notesSlide" Target="/ppt/notesSlides/notesSlide1.xml" Id="Rd685605a416b4d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a98024e9948f8" /><Relationship Type="http://schemas.openxmlformats.org/officeDocument/2006/relationships/notesSlide" Target="/ppt/notesSlides/notesSlide2.xml" Id="R82578e8bd80e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1b394373d4164" /><Relationship Type="http://schemas.openxmlformats.org/officeDocument/2006/relationships/notesSlide" Target="/ppt/notesSlides/notesSlide3.xml" Id="R0e90ea0b37544c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241da4d7f4f12" /><Relationship Type="http://schemas.openxmlformats.org/officeDocument/2006/relationships/notesSlide" Target="/ppt/notesSlides/notesSlide4.xml" Id="R03fd20d080eb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894be056540a1" /><Relationship Type="http://schemas.openxmlformats.org/officeDocument/2006/relationships/notesSlide" Target="/ppt/notesSlides/notesSlide5.xml" Id="R8b9ce859b40b4a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fac2599974a92" /><Relationship Type="http://schemas.openxmlformats.org/officeDocument/2006/relationships/notesSlide" Target="/ppt/notesSlides/notesSlide6.xml" Id="R90bfafca304d48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bfba3e3ae457f" /><Relationship Type="http://schemas.openxmlformats.org/officeDocument/2006/relationships/notesSlide" Target="/ppt/notesSlides/notesSlide7.xml" Id="R6bb83aec48c4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4b2b2329b407e" /><Relationship Type="http://schemas.openxmlformats.org/officeDocument/2006/relationships/notesSlide" Target="/ppt/notesSlides/notesSlide8.xml" Id="R67c3465a44c843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a564a6370488e" /><Relationship Type="http://schemas.openxmlformats.org/officeDocument/2006/relationships/notesSlide" Target="/ppt/notesSlides/notesSlide9.xml" Id="R6a5ad766437848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cb1b37106460e" /><Relationship Type="http://schemas.openxmlformats.org/officeDocument/2006/relationships/notesSlide" Target="/ppt/notesSlides/notesSlide10.xml" Id="R1a86765d993e4e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6aee2f14a4adc" /><Relationship Type="http://schemas.openxmlformats.org/officeDocument/2006/relationships/notesSlide" Target="/ppt/notesSlides/notesSlide11.xml" Id="R7ebafd23924444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eb43c4c19475b" /><Relationship Type="http://schemas.openxmlformats.org/officeDocument/2006/relationships/notesSlide" Target="/ppt/notesSlides/notesSlide12.xml" Id="R1a0704fd365343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7aed9d61943c2" /><Relationship Type="http://schemas.openxmlformats.org/officeDocument/2006/relationships/notesSlide" Target="/ppt/notesSlides/notesSlide13.xml" Id="R58a0aca4144448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c9f2c3c8f4193" /><Relationship Type="http://schemas.openxmlformats.org/officeDocument/2006/relationships/notesSlide" Target="/ppt/notesSlides/notesSlide14.xml" Id="R79f3f62effde4d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b4ae2d5f6411a" /><Relationship Type="http://schemas.openxmlformats.org/officeDocument/2006/relationships/notesSlide" Target="/ppt/notesSlides/notesSlide15.xml" Id="R99d8e169b1414c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0141225c4fe4" /><Relationship Type="http://schemas.openxmlformats.org/officeDocument/2006/relationships/notesSlide" Target="/ppt/notesSlides/notesSlide16.xml" Id="Re8d1911784b64a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63b187855437c" /><Relationship Type="http://schemas.openxmlformats.org/officeDocument/2006/relationships/notesSlide" Target="/ppt/notesSlides/notesSlide17.xml" Id="Rae1b47a840e04a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f3bc97de47e1" /><Relationship Type="http://schemas.openxmlformats.org/officeDocument/2006/relationships/notesSlide" Target="/ppt/notesSlides/notesSlide18.xml" Id="Rf9119884e2294a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a43b03fef4576" /><Relationship Type="http://schemas.openxmlformats.org/officeDocument/2006/relationships/notesSlide" Target="/ppt/notesSlides/notesSlide19.xml" Id="Re3561895967c48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a1e398df54c96" /><Relationship Type="http://schemas.openxmlformats.org/officeDocument/2006/relationships/notesSlide" Target="/ppt/notesSlides/notesSlide20.xml" Id="Race146ead7b441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661b3bb184d5a" /><Relationship Type="http://schemas.openxmlformats.org/officeDocument/2006/relationships/notesSlide" Target="/ppt/notesSlides/notesSlide21.xml" Id="R439d6f2dc2d24d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40937ad9a4e4b" /><Relationship Type="http://schemas.openxmlformats.org/officeDocument/2006/relationships/notesSlide" Target="/ppt/notesSlides/notesSlide22.xml" Id="R14b71f128e1049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6dc35121e48a2" /><Relationship Type="http://schemas.openxmlformats.org/officeDocument/2006/relationships/notesSlide" Target="/ppt/notesSlides/notesSlide23.xml" Id="R9dad6df6bfcd4f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5A0A8-21B6-4252-9859-A9CECC8A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46B"/>
                </a:solidFill>
              </a:defRPr>
            </a:pPr>
            <a:r>
              <a:rPr sz="1500" b="1">
                <a:solidFill>
                  <a:srgbClr val="5A646B"/>
                </a:solidFill>
              </a:rPr>
              <a:t>Business plan verticale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A4DB5-1FD1-4AAE-9E66-127DEDB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334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11111"/>
                </a:solidFill>
              </a:defRPr>
            </a:pPr>
            <a:r>
              <a:rPr sz="4050" b="0">
                <a:solidFill>
                  <a:srgbClr val="111111"/>
                </a:solidFill>
              </a:rPr>
              <a:t>ASIC heat per hospitality e processi di essiccazione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8100C-E855-43F8-9E48-681ADC0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6B"/>
                </a:solidFill>
              </a:defRPr>
            </a:pPr>
            <a:r>
              <a:rPr sz="1800" b="0">
                <a:solidFill>
                  <a:srgbClr val="5A646B"/>
                </a:solidFill>
              </a:rPr>
              <a:t>Due servizi reali in Italia: calore da mining Bitcoin usato dove serve molte ore, non come gadget domestico.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A4367-0875-4AC5-ADB6-968C1AB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Preparato per partner non tecnico + discussione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50C9-03D2-439E-AE5F-ADA01248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6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618164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046C5-0769-4E4C-A45B-6E24C4C9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AB058-B75B-45C6-941A-21D529B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Verdetto: testabile, ma non ancora un business dimostrato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2D48A-44D6-42E4-827E-87842BEA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La fattibilita non va confusa con il fatto che la tecnologia funzioni. Il punto critico e trovare clienti che usano abbastanza calore e pagano abbastanza margine.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9606A-5136-40DD-805F-CEAF6D65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D129E-5E63-4B13-973D-5B23FA25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6C62"/>
                </a:solidFill>
              </a:defRPr>
            </a:pPr>
            <a:r>
              <a:rPr sz="3150" b="0">
                <a:solidFill>
                  <a:srgbClr val="176C62"/>
                </a:solidFill>
              </a:rPr>
              <a:t>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ACB72-7A0F-4B97-B516-3052ADE4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 senso fare un pilota pagante: hospitality e lavanderie sono il primo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6C5E1-E0BE-48C0-BE14-B94DA9B3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32C6B-C7C8-4D00-BAB3-575F087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27A29"/>
                </a:solidFill>
              </a:defRPr>
            </a:pPr>
            <a:r>
              <a:rPr sz="3150" b="0">
                <a:solidFill>
                  <a:srgbClr val="D27A29"/>
                </a:solidFill>
              </a:rPr>
              <a:t>Forse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FB301-9FF9-45AE-B8E8-A325A8F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Essiccazione: interessante solo con molte ore annue o prodotto ad alto valore.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12D84-EE21-4D28-96CF-11EA84BE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E3844-20CB-41C8-A123-D078035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84B3A"/>
                </a:solidFill>
              </a:defRPr>
            </a:pPr>
            <a:r>
              <a:rPr sz="3150" b="0">
                <a:solidFill>
                  <a:srgbClr val="B84B3A"/>
                </a:solidFill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A20EE-0646-424F-8136-12F9B897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Non e pronta per vendita larga, famiglia media o promessa di rendita BTC.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2157C-2A94-4A1A-AC74-C0BDB61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5761A-8541-4623-A269-DD1F4EC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89F55-C9EA-4A0C-95D5-259E54BC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= dimostratore + LOI. Non e lancio commerciale.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F06CC-FC54-4F78-9D29-3161AF79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Tesi onesta: validare il mercato con 5 siti paganti prima di investire in hardware, team o rete installatori.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875A5-34EB-47DE-9CC9-18CD2EA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11DC0-B6AD-42FC-9815-1D7E3930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5910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6EEA6C-3A88-4694-865E-BC6AADE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791DF-1DE1-484B-8572-F5E52B63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Fattibilita brutale: cosa e vero oggi e cosa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9000B-69D7-41C7-BC66-CAF2E8A5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progetto va trattato come esperimento commerciale misurato. Non e ancora un business plan bancabile senza dati pilota reali.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D3937-4A53-4169-8DC6-FE468909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D02B7-5A33-4D42-9C42-B7215EF7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22E8F-BD58-48D9-9CBE-92A48B43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Valutazione onesta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C19E7-8649-4F33-B456-5220398F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Perche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46C2B-C2C2-4BF5-BE0C-98BF8BCA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BBC9A-9E2F-482A-9F1E-179F7B71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Tecnologia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3D5C4-AFAC-4E47-BCF0-19E0CE80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7/10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E7B54-180A-41BF-A83F-7FE2E55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recuperare calore e fattibile con componenti esistenti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5990B-4834-4E1C-9BF8-C0EB6D1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F7602-FF33-4F27-A49E-FC66D1F3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4CC9-C197-48C8-AA82-8E252E2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55/100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32A46-8047-417C-973A-1006A0D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primo target, ma servono &gt;4.000 ore utili/anno e bollette reali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09961-0867-4DA4-9F6E-F5BE9A32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989D8-FF36-4001-8AB8-A14A339D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3BA44-7D92-46F7-905C-DAC5516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40/100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A7C1C-242A-46EA-BD88-72368D38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upside alto, ma piu stagionale e processo-specifico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EBBE8-822E-4C5C-9A3A-BD7FF764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9A03F-6139-4CD7-A71D-19BC98E1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9DF44-43BD-4845-BBFE-40F9297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3/10 oggi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54C2F-CBDB-411D-AB26-0311B823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troppo custom finche non esiste kit ripetibile e installatori formati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3E13A-1455-48E1-A057-C57D1A5F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88CFD-11F4-4083-A04B-D687C633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Budget 25-50k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BAD3A-9758-4845-9217-36D06C7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6/10 per validare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F2F91-5C10-4659-9B5B-DA77AE7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basta per MVP e LOI, non per lanciare societa industriale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97958-3E42-42DB-85B9-D00E3920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09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50B3F1-2EC4-42CB-BB14-37965F8B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14550"/>
            <a:ext cx="219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5CE34-A977-444F-837E-973166E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71056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F33E3-60D3-4DED-8637-40DC24D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Decisione corretta: partire solo se il partner accetta metriche di stop/go e non vuole vendere una storia piu forte dei dati.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7EDAA-4584-4781-8DD6-4FFFBC78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AE97E1-4578-4FA8-9A16-5CC2ED02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1129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5F961-05E2-42D6-A451-FC51A59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C85E0-B3A3-41B2-ABE0-C85797E6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Spiegazione da zero: un ASIC e una stufa che produce anche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69FFD-21C7-4DB1-BEAE-781ECFF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Un ASIC usa elettricita per fare calcoli della rete Bitcoin. Quasi tutta quell'elettricita diventa calore. Il nostro servizio cattura il calore e lo manda dove 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4F34-7E3F-4502-9F5B-F2EE73E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F653F-3A56-4EE8-AC28-95E38A97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Elettricita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AF30-87A4-41C1-8EA4-48BB37A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 rete, FV o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EA5BF-B415-4626-8794-60C47846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B5DAE-5EFA-495F-BA6D-013B604F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AD38A-8CFC-4411-9466-2351844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ASIC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EFFC2-374C-44C6-BD39-68F9C1B6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calcolo Bitcoin + calore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6147E-8E7E-4E34-95C6-523609FD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3E5A5-5808-46EE-8DAC-BD7277C9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415C-E715-4916-8169-A2F3C58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Scambio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A538D-9A77-4012-BD13-AF9AC274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separa miner e impianto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18122-0933-4D0C-B310-B3391465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6B794-E014-43C5-AE08-80B8FCD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62251-5F66-4066-A807-1A3898B4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Accumulo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BF76C-FB48-4629-B3A3-8F171C35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acqua o aria calda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ECDCD-891A-4E1A-92F5-4F0D448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260D9-1F47-4DB6-8F59-91D50412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6467E-EDA6-4E94-97D9-29A86579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Cliente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B1E0C-522E-41C4-BF0C-C11B935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ACS, lavanderia, spa, essiccazione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1F788-7736-499D-B702-21728863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 S21 assorbe 3.56 kW: circa 3 kW diventano calore utile se il recupero rende 85%.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CBAF6-B60E-4ABD-90B3-3FFDED4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58A0C-36E3-4579-A436-E16900F1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2878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4E0D5-BD0F-4C4B-90FC-263D1F6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8053C-E317-4B60-A73A-1F530F37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La regola economica: elettricita sotto la soglia, oppure non funziona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932BD-21A6-4AC6-B2BD-49D5207A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Ogni kWh elettrico speso produce due ritorni: BTC e calore utile. Se il costo del kWh supera questi ritorni, il cliente perde soldi.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150D8-81E0-4A67-8015-4B4713A5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14A36-3A97-4CCA-B1B9-3484329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F4C9B"/>
                </a:solidFill>
              </a:defRPr>
            </a:pPr>
            <a:r>
              <a:rPr sz="2550" b="0">
                <a:solidFill>
                  <a:srgbClr val="2F4C9B"/>
                </a:solidFill>
              </a:rPr>
              <a:t>BTC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57EC6-0FC0-4667-88F3-3EE7AE9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62 per MWh elettrico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alle condizioni modello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95651-096D-4CD3-8C95-86DF01A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D0D9C-CF03-4B10-A1D8-80A27BC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057A2-E7B8-4730-AC1F-4F1D3C6F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6C62"/>
                </a:solidFill>
              </a:defRPr>
            </a:pPr>
            <a:r>
              <a:rPr sz="2550" b="0">
                <a:solidFill>
                  <a:srgbClr val="176C62"/>
                </a:solidFill>
              </a:rPr>
              <a:t>Calore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5587C-37A2-4217-80F9-D013739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85% del kWh diventa calore utile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 il sito lo assorbe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1B1E7-D278-4498-9416-6F640AA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8C9E6-5387-47BF-BE11-18E71E9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7F901-5BD8-4BCC-A058-D7327D50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4B3A"/>
                </a:solidFill>
              </a:defRPr>
            </a:pPr>
            <a:r>
              <a:rPr sz="2550" b="0">
                <a:solidFill>
                  <a:srgbClr val="B84B3A"/>
                </a:solidFill>
              </a:rPr>
              <a:t>Soglia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2493B-B408-4516-9AE3-77CEA192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Con calore a EUR 0,16/kWh: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energia max 19,8 cent/kWh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10921-9373-4923-82F5-E72050E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Tradotto: con energia industriale a 18-25 cent/kWh serve calore molto prezioso; con FV/surplus o contratti buoni diventa molto piu realistico.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7A68A-C073-43CE-B82F-6BD54D26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F9B5E-3BEB-46CD-B36D-128D270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9896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76729-A561-4D0E-A699-48A66FB4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FA10A-8F67-499B-9A4D-78012CF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Perche un cliente dovrebbe installarlo davvero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F937F-91BB-44DB-AD06-4EACE6DA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cliente non compra Bitcoin. Compra un modo misurabile per abbassare un costo termico reale e riceve BTC come upside, senza custodia da parte nostra.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2A44C-5725-4687-BBC5-8C9D7E4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EC1F8-B9A3-4AF7-8627-9ACAA60A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1. Bolletta termica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C3A8A-03A7-49C2-A2D0-D3CCB940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Sostituisce kWh che il cliente usa gia: ACS, lavanderia, spa, piscina, essiccazione o puffer.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7A04C-7F43-4DB9-91E7-9EA29225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C2A43-D3D4-4A95-A9EB-E37A5465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2. Energia buona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3EEC3-A141-4A13-B1D3-009CC8EE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861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Funziona se il kWh elettrico e sotto soglia: FV, surplus, contratto favorevole o calore molto prezioso.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22ADD-0D6A-488C-BFAC-FC340989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0E490-01C7-4E28-971A-7F6A0B3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3. BTC trasparente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50603-394A-483C-9844-E273D50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Wallet e pool intestati al cliente. Noi vendiamo impianto, telemetria e assistenza: non rendimento finanziario.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1F6E6-B34A-452C-BF62-5AF2CD04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E7B61-5252-44A7-BE26-44A7DEBD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Conviene 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F6CB6-B67C-41AB-94A8-5B28D89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Da scartare 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63983-BC9F-4BC3-B545-C3B4226D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Prova prima di vendere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37ACA-DB5F-48FF-B6A1-E5DC20A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DFC59-7846-4EB3-ACE9-3F0D213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molte ore termiche + costo calore alto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9D4F4-3C07-4809-A27C-33E36FCB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95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gas/PDC gia economici o domanda stagionale bassa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E244E-F025-47D5-A020-9282D959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bollette, profilo orario, contatore termico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FD640-269B-4FE0-8995-2629B86F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EEBA3-B501-46E6-B998-2E52391B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0893F-308E-486D-92D5-E8B85F7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163AE-C22F-47C4-98E4-313AFBC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B3A"/>
                </a:solidFill>
              </a:defRPr>
            </a:pPr>
            <a:r>
              <a:rPr sz="1725" b="1">
                <a:solidFill>
                  <a:srgbClr val="B84B3A"/>
                </a:solidFill>
              </a:rPr>
              <a:t>Regola commerciale: se non si puo misurare il beneficio netto annuo, non va venduto.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9B345-96F0-438B-8354-7D1D3D3F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1BCAE-DDC6-4886-A854-D25FF4AC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41419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B9339-3DA7-4AE9-A45B-1EB47E17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52B2-E0BE-4616-9015-99BFDDC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BTC 5 anni: scenari usati nel modello, non previsioni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6E9F6-2805-4227-81A1-7B19FFB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Ancora dati: BTC a EUR 55.889 nel modello interno al 2026-06-21. La tabella serve a stressare il payback, non a promettere prezzo futuro.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1A02E-0777-443C-B281-737C189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EC398-7457-4D09-A0E4-4C868BA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Scenario BTC/EUR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43105-0C9F-48C1-9E43-D4CCFADF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C9BAD-2083-4ABF-9B18-52882015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B203A-F5BD-40C1-B40F-5EBF3D4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AF1C6-5CBC-4F39-AAEE-2603531B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9C944-FF06-4AF9-B814-8787A99B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EDB4F-0174-40F2-ADEC-2D4EB2A1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5113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2786B-945F-4CF4-9A6C-773D9AF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1313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Prudente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9E630-9325-4B2E-96B3-0E0CD6BD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35k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9ED0E-0F37-4E92-9B36-D6EA633C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40k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3FE51-6709-4B49-A921-78CD1FF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45k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FBAEE-A890-4128-B73B-A253B4CE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34CBE-371D-495B-BE23-961A2A05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55k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3E39D-CF48-4742-BF3D-3370748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445F0-2444-4B62-9301-9D4B3553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7F869-5726-4720-87DC-44881A0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56k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4806D-DF4E-402A-9BBE-8EDCA48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62k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455A4-EA42-444B-8AAE-27D785A3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70k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46B34-22B8-4D5E-8A44-5DD73D1C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78k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3B896-EC4A-4AA1-AFC4-DAEAFD9B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86k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D7CBC-B3F0-4156-9FD9-856B2E58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5738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8818F-C26B-42E6-AB98-E3EA6D6E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1938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A2AD5-95C3-484A-BAA0-51D9BFCB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56k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7AAAB-96C0-4DA8-96D2-6EBC493D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85k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2A2CBD-A8E0-480D-8828-A029DAAD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120k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1B9998-E480-41F3-B385-4B538AC8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160k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B61199-CE2B-42C2-9BFB-A08B43A0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220k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168C9-0ADE-4C4B-9F0F-501E10B9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376959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43E0E-9C0A-471B-8F4B-2C74FD14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109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525FA-D472-43B2-9558-09EDC89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458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16BE1-110A-4E69-BEFC-F028FC3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806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75781B-311E-4C55-940E-4D6C5305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154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C17DC7-82F8-4D31-B993-BCDB9DF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502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8FBB1E-A2EE-4351-A4D6-99B61CE9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92DE7A-C150-4502-8F87-6FE2913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4B3A"/>
                </a:solidFill>
              </a:defRPr>
            </a:pPr>
            <a:r>
              <a:rPr sz="1800" b="0">
                <a:solidFill>
                  <a:srgbClr val="B84B3A"/>
                </a:solidFill>
              </a:rPr>
              <a:t>Assunzione prudente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E4ACDD-ACA2-4B51-B03E-3C0E375C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05450"/>
            <a:ext cx="4305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Solo il 60% della variazione prezzo BTC passa al ricavo mining: il resto puo essere assorbito da difficulty, hashrate e fee.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7ECBD7-5D16-4911-8F45-562BA7F5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696554-05BF-49DA-8A0B-0F71F964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6C62"/>
                </a:solidFill>
              </a:defRPr>
            </a:pPr>
            <a:r>
              <a:rPr sz="1800" b="0">
                <a:solidFill>
                  <a:srgbClr val="176C62"/>
                </a:solidFill>
              </a:rPr>
              <a:t>Lettura corretta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6EF6FC-4A12-406D-95C3-BEECEC1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4305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BTC puo accorciare il payback, ma il business deve reggersi prima su calore usato e kWh elettrico sotto soglia.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26564E-8E22-4512-867A-454DE21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research/output/model_data.json; scenari BTC ipotetici per sensitivity, non forecast.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5EDE8A-3D88-4321-9496-C7E78FEE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95525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B4837-F45E-4175-A388-6A9722F7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9E3A7-2ECD-42A5-95AE-4E71CE8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5 anni: quanto cambia davvero il payback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E15B4-88DA-4D06-9939-AF40850B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46B"/>
                </a:solidFill>
              </a:defRPr>
            </a:pPr>
            <a:r>
              <a:rPr sz="1575" b="0">
                <a:solidFill>
                  <a:srgbClr val="5A646B"/>
                </a:solidFill>
              </a:rPr>
              <a:t>Il conto sotto parte dagli scenari base: hospitality 2 ASIC, essiccazione 4 ASIC. I valori sono cumulati netti dopo CAPEX: se restano negativi, il cliente non ha ancora recuperato l'investimento.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A6F84-F3F8-4D00-AB0F-996CDF4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C62"/>
                </a:solidFill>
              </a:defRPr>
            </a:pPr>
            <a:r>
              <a:rPr sz="1350" b="1">
                <a:solidFill>
                  <a:srgbClr val="176C62"/>
                </a:solidFill>
              </a:rPr>
              <a:t>Hospitality base: 2 ASIC, 4.500 h/anno, energia EUR 0,12/kWh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C9CD6-409B-4122-9910-896BB53B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4C9B"/>
                </a:solidFill>
              </a:defRPr>
            </a:pPr>
            <a:r>
              <a:rPr sz="1350" b="1">
                <a:solidFill>
                  <a:srgbClr val="2F4C9B"/>
                </a:solidFill>
              </a:rPr>
              <a:t>Essiccazione base: 4 ASIC, 4.000 h/anno, energia EUR 0,10/kWh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6E878-E5EA-4DEE-AB61-2B70D53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A46E3-BF42-4852-9AEA-D66C8064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Hospitality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6AD59-E88D-40AA-B887-0804B198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Anno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E64AC-E075-42C9-BDE2-5C1739EA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5y dopo CAPEX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E6DCA-6946-4041-A778-C2C11D4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D0793-8683-4919-8E7A-4A5F37C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EBD34-89EE-4E32-B936-5CBC377B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Prudente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BAE87-C5F0-4122-91A3-8E7B4005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2897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2065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26425-4C6F-4A3D-91A9-C68FB3A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-12.600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409D-9CB4-4D5F-BF16-30B1814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2897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79F30-440D-4316-AE09-AAB0B3D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E78BE-CCE1-4D10-8AB0-77AE0341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9E97F-B58C-44B0-A90F-DCBDAA42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2516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0434C-DC07-4876-B14C-D1C993D4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-9871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08062-3345-44B7-A3E1-33DDC761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D00C1-DFFC-4E2C-B3CA-FA228259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C5B01-CC4B-4F1A-A07C-E66476E2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C0E13-C112-4F6E-B4A2-C03F7AF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9102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2516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9D674B-9FB4-4EB5-93D6-57E114E1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-3662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22C0C-D03C-4DA8-BA64-37C58E3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9102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42D5C-629A-469F-9028-0FE5366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428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3E999-6757-4866-B243-6F9D6F12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71750"/>
            <a:ext cx="123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26ABD-A90F-488E-A670-6E499021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619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412BB-A841-4185-9B4D-3B6B5E20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143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67A4A-3D93-4C83-A824-0601949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F11E01-2D7E-4DC0-9F79-A8AB7CF6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Essiccazione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B79176-2FB9-41D2-9174-9DFF96F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4795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Anno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AB5BF5-8B41-4B3D-BF9C-4520829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479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5y dopo CAPEX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354775-D7D5-4A74-9D7C-75ED1E83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64795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FBA09-BD1A-4DCA-B3BC-A64929EA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5277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0C58D-714D-4468-A335-4D03920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2897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Prudente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067560-88B3-44BA-A379-ECF4B5F2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2897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4811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D5BCA9-5C68-441B-8B35-EAAC721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289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-19.037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764A85-9D6F-453F-A7A5-3BCE6DB9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22897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4959B6-2719-44B5-8839-30BC9EA4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6DE3AC-648A-42A1-9861-F9426F9F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9417C7-587B-40A7-BA74-798970CA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1000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5613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BE88F3-A7D5-40D0-ABF9-0CFD1A2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1000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-14.186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80BA51-CC95-449D-9346-7BE4EC8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81000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FDD2BF-774B-4AEC-8983-2A21DFCE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1482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6E44CE-293D-49BC-A3B9-048B1C7D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8B6F1A-0F3E-4037-8669-346E97D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39102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5613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884EFB-96EA-4C25-BAA4-79313CCC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9102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-3147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81929D-653F-47A5-BEB9-D4BD369A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39102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EA5857-FB73-4072-9886-FA63242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1428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068EF1-8461-4DF7-9FCB-080C3AA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123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23B43B-EF36-49EE-871D-85DB6BEB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1619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A4DCE5-CBDB-44B9-9AC6-B4ECE06A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1143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842411-7B5C-4A10-B304-833CDB31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Lettura brutale: nello scenario prudente il pilota serve solo se il cliente valorizza molto il calore. Nel bull case BTC accelera, ma non salva siti con poche ore utili.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68BBD9-E61C-407C-9C4B-500074C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modello interno; pass-through prezzo BTC -&gt; hashprice al 60%; valori prima di tasse e manutenzione straordinaria.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FAD151-BFFD-496D-B9D6-1E93650A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81725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3FBE3-09F1-47E6-820A-69EF6FD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CCD49-D935-494A-B69A-3A541E35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La leva vera: ottimizzare sito e costi prima di sperare in BTC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26555-3583-46A1-8210-C84072D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prezzo BTC puo aiutare, ma le variabili controllabili sono piu importanti: ore termiche reali, costo elettrico, CAPEX installativo e standardizzazione del kit.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DF029-3602-4A62-97CF-136BBD1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50C4E-155D-49FB-BF3D-17D6D2D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1935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96059-12F1-40B6-B35A-D98F11F5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1935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Leve operative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C241B-07F9-4C07-8A2C-34F5506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C0492-0E4A-4A22-8F6C-3BB3371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5y dopo CAPEX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46F30-66BB-49B1-87E1-B906BD6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1935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7BB68-CE8A-4D25-A31F-9EFB27F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322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97340-F8AD-4762-A2F9-A53A0C59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942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DE177-A9A6-46F9-93F5-A80F1483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942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4.500 h, energia 12c, CAPEX 24k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DDF2B-67EA-43A8-A357-A86C261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942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BC5D8-F5EB-47A7-B989-E168BD6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942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-9871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7515E-6AA9-440F-AFD9-D84E992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7942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1154A-4F3E-4F15-B347-4831535D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329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A8A17-F424-41DF-A80F-9A881CE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949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 ottimizzato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CBD3D-965A-4909-904C-02BC61F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3949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6.500 h, energia 9c, CAPEX 21k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6AF4E-EC83-4527-AC6B-44BD499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949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7E5D5-16CA-4F71-A90B-7A384D8D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949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10.284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19E6B-887B-4F2E-9433-52B3C1BA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3949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anni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3BC37-84CA-4202-93CF-438AD87C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336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54F76-0FB1-45CD-B5AB-818A788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956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265E8-CAEA-45D0-8FF3-DBB1443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956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4.000 h, energia 10c, CAPEX 45k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BA4D3-C799-4D26-AA80-53001DC0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956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0AB36B-2CC8-42E6-A079-4CCE2A21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956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-14.186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C8135-B33A-42E6-89F0-E336E6B3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9956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EE56E-14D7-4BCF-AB69-1E585694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343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279D1-0F01-4DBC-99E2-E018780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5963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 ottimizzata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7DA57-EF38-4470-B660-27E23CD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5963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5.000 h, energia 8c, CAPEX 60k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4D166-A40B-44A9-BA6B-F18A92D1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963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C88C5-5BFC-457A-A130-480C09CC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5963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38.232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7616BF-CF97-4E7E-8533-5A60FA4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5963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anni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F123FA-88C8-4752-AE18-87B10E6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428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00718-036C-4354-BF52-7D9F49E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43150"/>
            <a:ext cx="36671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BDAE64-6CDB-4567-B3DE-B1A8790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1238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024302-7171-486E-AD68-E7AD6D12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23336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7D5DAE-5369-4D8F-AE92-44E0F639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343150"/>
            <a:ext cx="17240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0D6A3C-69AF-47D0-9F4A-72D9B57B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Messaggio al partner: cercare siti ottimi e installazione ripetibile vale piu che costruire il pitch su BTC alto. BTC e upside; il cliente firma per un beneficio energetico misurabile.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15D277-5B84-49D1-8697-6EC9FD8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modello interno; sensitivity su ore, energia, CAPEX e BTC; valori indicativi da validare in pilota.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C1BCA1-24AA-419C-AC12-058665E1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59186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BDBF64-1896-4AB6-935F-968AD708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BDB27-C2CC-4D81-8186-DE0E9A7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Cosa serve per iniziare: non hardware proprietario, ma un kit integrato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16660-B66B-494B-9466-521F5394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76DFB-E18E-4ED0-89DB-5224F62C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Blocco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D7B58-C0FC-43FD-A02D-995C36B7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Cosa include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1C0D0-4C8A-4D48-93E8-56D468B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9E157-0B29-4564-B1AA-8D4790F6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56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40A34-7C81-40AD-814A-226490B6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18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Miner + raffreddamento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5FAE7-8A50-404C-9591-0ECB7E9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18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1-2 ASIC, airflow/hydro/immersione leggera, isolamento acustico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70391-CB17-49EA-9051-08CF1D3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18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4-10k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D81ED-7AE4-45FD-A7A7-8C538F7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495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59DBD-1944-4836-A901-2DC0E95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115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Termotecnica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73F8C-5588-4D77-9BF6-3621CD0F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115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Scambiatore, pompe, valvole, puffer/boiler, sensori temperatura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1B0E1-ADA6-4F57-AB55-DE53FA3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115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6-14k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45412-74DA-40CD-B414-8AF234D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2605B-35D4-46DD-8378-C4AEB762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Elettrico/sicurezza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3BB6D-29C7-4758-8EDB-56428A4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042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Linea dedicata, quadro, protezioni, sezionamento, allarmi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6F3E3-87EC-4076-9501-AC185058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042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ED2BC-35C1-4FB0-B0E4-4527F364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35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736D0-7AAD-4AB5-BB9C-D0219ECC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97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30DDC-6F77-4D3E-AFE1-43AD6852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97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Dashboard, log energia, allarmi, spegnimento automatico,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7A80C-9299-4AAF-BDE1-1692509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97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5-15k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42113-F7C4-4205-B89E-9E087BD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27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00FD7-1836-41B5-9A7D-B82B69DF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89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Assicurazione/legale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DB0B2-C67E-44B2-8EBC-CA6415DC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89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RC installazione, contratti, privacy, non-custody BTC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1B30A-9E65-4065-A6F7-4545C0D2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89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8F49D-D96C-4D1A-BDBC-73CB66F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95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DF7D2-CCEA-41F6-94DD-3184047C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76400"/>
            <a:ext cx="7048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FE6EA-A063-4BEC-95A2-CF12676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22479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A1A5C-D2BF-40AE-94BF-4C048906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Budget 25-50k: un dimostratore serio + telemetria + vendita pilota. Lancio commerciale minimo: 120-250k.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8A5C2-13B8-49C6-AE1F-C3363684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BF88C-6D06-4A74-A904-EB3849A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96822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FBDA4-2C2A-47B1-AC0F-ED0BBBE6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169B3-D900-4F75-80BD-665086FC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1: agriturismi, B&amp;B, spa e lavanderie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7A045-B465-4A8D-A924-30B67858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servizio installa uno o piu moduli ASIC termici per coprire acqua calda, lavanderia, spa/piscina o integrazione di puffer esistenti.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03B63-19EC-4B11-B5B7-68EB3A34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57CE5-0177-402D-836D-C08CCC92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Cliente ideale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31DF4-87DB-429E-98A1-9CB9D6E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Proprietario presente, FV o energia buona, ACS alta, lavanderia, locale tecnico e sensibilita a costi energia.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AA7D0-FE71-4743-A952-81F93D97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F8D07-87FA-4F74-A182-B1A8E99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Offerta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8FF0B-4776-4B66-BFA6-79924081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Vendita/installazione kit + dashboard + manutenzione mensile. Nessuna custodia BTC.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8BB6A-42BA-4DE4-94DC-520FB130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93351-0C1C-4449-9CAE-360B3955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Prezzo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B347A-BEB0-4F44-9524-0DB148B7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18-30k per 1-2 ASIC installati; EUR 99-250/mese monitoring e assistenza.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AA9A5-F138-49EA-BE07-9DC128FB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5F9C2-7EA1-4AA1-A925-87BF2D5E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D4B96"/>
                </a:solidFill>
              </a:defRPr>
            </a:pPr>
            <a:r>
              <a:rPr sz="2100" b="0">
                <a:solidFill>
                  <a:srgbClr val="6D4B96"/>
                </a:solidFill>
              </a:rPr>
              <a:t>Perche 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E84AB-09A1-4063-999B-1F0D2289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Turismo record, extra-alberghiero in crescita, costi energia ancora sensibili.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13EA8-3AAD-44EC-9754-7259B92C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Go-to-market iniziale: 5 piloti in strutture con bollette reali e contatore termico. Senza dati kWh, niente promessa commerciale.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351A2-55C4-4578-9BA2-CB41F20C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mercato: ISTAT ASI 2025 Turismo; modello economico interno BTC/ASIC.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566F1-FC97-4D4B-9F41-49A7D05E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1940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BA130-362C-4C01-8479-88ED2998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7B2C5-9440-49F2-B984-0152E06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cliente hospitality: funziona solo sopra 4.000 ore utili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14DDF-DCA1-4D55-B2C0-A0A76F9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CAA09-88BF-4E23-BA14-6D65870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 2 ASIC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9B7E8-2B8D-4983-BE52-6261299D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175260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286EC-D1C6-4587-B6F0-FE33099C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Energia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01313-45B8-4A66-A2CF-AB46E31F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824A3-39EC-4A0B-B442-490102B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F5B86-B5BD-4B9E-B069-7AE99B3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66D52-2384-47D9-BB80-5DDB407D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11206-A05F-458B-9EF4-EA8E9AB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55C72-C416-4B78-B649-53DA1F52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256222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3.000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34000-A4D6-4B85-9FCF-15BEA7D9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21.360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676F1-6A71-4C29-8196-48B06ADA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18,2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E84DE-1A61-4F4A-854B-E482B07E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1A562-BC99-4F75-B16E-589D62C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33437-5E3D-4230-87E6-5823AA21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C171C-0A54-494D-9BD0-39ED4D9B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1BE7A-E6BB-4129-8E63-8CB39320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337185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4.500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23D5A-51A0-4B01-ABD7-118BBED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32.040 kWh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ED5D7-A8C8-4357-9141-F9593CCF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27,2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A7703-BA10-400C-8C5E-A0AE40F4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CA772-4C32-4C5E-95F1-9474ECA3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9,5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5949E-72BD-483C-B96E-97B798E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E6959-EB17-4B01-BCFC-87544DA9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03B2C-804A-4463-8D5D-DF05205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418147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6.500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D629F-6EEF-4E62-A006-D67F02F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46.280 kWh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7C9EB-811C-4C35-ACB6-B79E59C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39,3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0DD9B7-A00A-4AA6-B3FF-6A327B59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727BD-14AF-488D-BE0C-8B31A88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4,1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17981-E5D0-4338-9839-776D64DA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46C76-D111-4201-BE7C-FE90FC61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179" y="1676400"/>
            <a:ext cx="1449878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4E3A8-E498-478C-8DB6-5B74CCF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057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28A63-7412-4B8A-A7C2-F9AC0E4E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875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EC9AC2-1631-468E-8082-B7A05F6F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004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549DE4-8FE9-4007-9D9A-AF547537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821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4FEEC7-420E-4C0A-BBF7-E20AA89C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D1A1C7-DF19-4555-A8F5-D04B2011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643107-FF08-45CD-A144-A685EB4E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DDB5A4-8868-4298-BCF4-B306DC7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51736A-AFA4-4663-A523-092316A2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2389"/>
            <a:ext cx="2959100" cy="120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E9D40F-DD7F-4A94-BE1E-130FBE30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568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9EEBB7-9C0D-4887-ACF2-7161037A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61874D-2513-4012-BA23-9A63D41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74329"/>
            <a:ext cx="2959100" cy="278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2819A7-5B8B-4CE4-AAF5-F41B7B5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500762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5CBF01-D24B-41C1-8988-A720907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35CD9D-B9D3-4CF2-A1A5-41E87CF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A7541F-1037-47D3-95DA-794186E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65470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DC160F-C964-4E02-B4D1-2C5C7E4C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1C60D-3065-4107-AD9A-38CE28F8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hospitality: grande in superficie, selettivo nella pratica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E1FF-F49F-44FA-AFB5-2294BB61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ISTAT 2024 fotografa un mercato ricettivo enorme, ma il nostro cliente non e ogni struttura: serve carico termico, spazio tecnico e decisione rapida.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AAAC9-C193-4C53-A705-09BBBD2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68A70-5569-42BA-AC7D-B5C0FB11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466,2M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520-53A2-456C-A453-ACDCFEF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Presenze turistiche Italia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039BC-F3CF-4A5A-9BFB-7E1DB71E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E4E67-E5A3-45FB-863E-8B54CAE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32.943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C3E6D-F96C-4788-9498-A145BC8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Esercizi alberghieri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3ADFD-DA4B-4B0F-8868-0A512DC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4B893-82BB-41DB-9ADF-A12FDA84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21.215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2183F-CF41-47E9-9C87-21F3EFC8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Agriturismi ricettivi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9574-9B6C-4240-9F86-E33B4EB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4137B-188E-487D-A6DE-53EB327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D4B96"/>
                </a:solidFill>
              </a:defRPr>
            </a:pPr>
            <a:r>
              <a:rPr sz="2700" b="0">
                <a:solidFill>
                  <a:srgbClr val="6D4B96"/>
                </a:solidFill>
              </a:rPr>
              <a:t>35.015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AA66F-AC1C-4CDD-8263-3C8D7B3C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B&amp;B rilevati da ISTAT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7A541-9A34-47E1-B75F-AF24EBA0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F0725-365D-44D7-972D-44203660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Filtro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B846C-4D57-4CE0-BF63-72A40FE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Italia stimata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E90AF-4687-4768-8BEE-0BD275D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Perche entra nel SAM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155CA-1DDA-47A8-A9B7-47063132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1DA7F-27A8-4BB9-996A-10F3026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Carico termico alto + FV/energia buona + proprietario operativo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E139D-5C02-4FDA-8C93-FC5777E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2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3.000-8.000 siti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D2FC1-CB3F-4058-BDDB-39D3BE2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244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agriturismi, piccoli hotel, spa, lavanderie, strutture montane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D6F73-D210-4427-96F2-2AC7B93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530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BB25F-D3B0-4CBE-B34D-D16D3992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SOM 3 anni realistico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04948-6E1F-4C79-ACE7-59A6FD78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100-250 installazioni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E6508-11E3-4A37-813E-B48CD96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292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dipende da installatori e casi studio misurati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305C3-63E1-4391-90AC-80C9063F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DA12C-0576-42BC-B354-F242E76C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434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DCF5CA-72B9-40CE-9119-FF532648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565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7F1DBB-A05C-464F-82DC-FD70661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Turismo, Prospetto 19.1 e 19.2; stime SAM/SOM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A3111-E50B-4605-99C2-B2D58BFC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6935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C14C8-37A1-43C6-AAD3-AE118841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C39A3-B957-492D-BBB6-D49B452B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2: essiccazione agricola, legno ed erbe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EE1BD-53B0-4C8A-AFC6-C688C364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Qui il calore non serve per comfort, ma per processo: asciugare prodotto, ridurre tempi, stabilizzare qualita e liberare spazio di magazzino.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D8246-D176-4FB3-B190-90A14F1D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8A47-E983-4033-8C88-602693D0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Agricolo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F7118-B438-4985-8FB0-AACDCF50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Erbe officinali, peperoncino, frutta, funghi, piccoli lotti premium, foraggio di nicchia.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FB0EB-E176-475D-9CB1-66C7DE59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5701-1C0A-4F8F-BDEF-19E70AC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Legno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1AA7C-F5F0-4AE8-A878-AC488E2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Legna da ardere premium, tavole piccole, falegnamerie e micro-sawmill con cella.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B264C-7BA2-460D-9D6E-BA18938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07F86-82C5-4F89-BB9D-64AEB521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Servizio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16FA9-34DA-4795-A332-860C4D2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Modulo aria calda 2-6 ASIC + sensori umidita/temperatura + ricette di processo.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A4CEC-349C-45E6-9613-2525A57F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46E14-2405-43F1-A2F9-032D6723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4B3A"/>
                </a:solidFill>
              </a:defRPr>
            </a:pPr>
            <a:r>
              <a:rPr sz="2100" b="0">
                <a:solidFill>
                  <a:srgbClr val="B84B3A"/>
                </a:solidFill>
              </a:rPr>
              <a:t>Rischio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7D498-7EA4-4928-B677-FBA15709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Stagionalita: se lavora poche settimane, il payback crolla.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F701E-2F2F-4537-9619-996CCAD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Questo modello puo battere hospitality solo se il processo gira 3.500-5.000 ore/anno o se il prodotto essiccato ha alto margine.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D7B29-28F1-4510-B76A-EF87163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assunzioni operative interne su essiccazione.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C2C57-5B47-4F7D-8002-836D4BF9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55942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FF1F2-72B8-4A5C-ACC7-12705EE0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F17B4-C459-4143-9EAF-F5F19D4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essiccazione: ore e valore del calore decidono tutto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ABFCA-C921-4F95-A28B-5625551F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A5978-E491-415B-80F2-2E191FE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6D11E-473F-4B5D-85B2-0C5C152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Modulo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446E-88C5-4B02-85A0-CF8CCA5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604CC-6E62-4D89-8EDF-B3B26818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175260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4CF19-E0F4-420F-B96C-91414B72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175260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BAA9F-B2D2-4F87-A8DF-FC912931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175260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3AFDC-C192-4139-A281-EDFB30F1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F65BA-9EBF-454A-AA4D-C5104BE1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Stagionale 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CB582-4E47-4C83-BAB1-54A9E02A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DB21F-ECD4-4BF5-A94F-597736FF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2.000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94D20-E187-45C6-AAC4-A96145E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256222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24,2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A4C2C-4AA2-4632-86CF-D82BF712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256222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04B9-3990-4101-B754-E15A58A0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256222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25,7 anni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C922E-91C9-44E8-87B7-E0812CB1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6F239-83EF-4998-A745-521E0DB9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 difendibile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87D6D-02F5-4453-9137-C9D74E7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5196A-0E8A-4B1B-BE6D-8A346031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4.000 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F192B-9094-42C3-B5E0-D3B9A492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337185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48,4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DFE0A-FFBB-420E-ABFB-0A2EA87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337185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BDBA6-9F20-4F23-A59D-6667EF4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337185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8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AE70A-05F1-4872-B4DB-7E422110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66115-A5D0-4838-856A-B0BFD00C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FDA30-4272-4ED9-A2F4-CF860C86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ASIC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42541-61D0-497E-B425-AE6594DB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5.000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EA4548-9956-4AAF-912F-0D099156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418147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90,8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E42E0-3DD5-45A5-9475-4C286318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418147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E27FD3-F778-44CA-8CD8-A8926442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418147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4,7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3DD98F-4F79-439C-8B25-8A264C3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5259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B6A23-B468-4E06-81D5-37846A8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45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76F9A-EEA0-4FBD-A398-17E9FF5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091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315398-E2F8-481A-98E5-C579B84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36" y="1676400"/>
            <a:ext cx="215522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B8DAE2-DA2E-4720-AB09-84CFA6DF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761" y="1676400"/>
            <a:ext cx="225785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D29D6F-543A-41EC-ADE9-8BDA66D7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15" y="1676400"/>
            <a:ext cx="184733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28655D-1233-4CE7-A4CA-E27D0130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F7ED68-A3C6-4F2A-8DB6-812B8896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EF40C8-9451-4B39-A5CB-94D70012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102287-C559-4DEE-AB04-AC3D433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9D005E-9AF3-44A3-9501-5F953316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6403"/>
            <a:ext cx="2959100" cy="11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2B191C-5961-497B-B735-6E96863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9703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D5A37C-C1FA-441D-892C-71E5974E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42B240-5797-4A17-A11E-0B54E241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52112"/>
            <a:ext cx="2959100" cy="300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3EC700-90E8-4FFD-9395-A1474BA6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985412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8B53ED-2CAF-4E65-AE71-F670D46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783478-F8BC-42B0-8E63-0605828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E04A31-C30D-4E43-8C88-8747E190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17198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62372-A566-4BD6-B7DD-488002C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905E-7138-4A83-963C-77D212A1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essiccazione: non enorme, ma molto piu verticale e B2B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2208-7E6C-4FFB-AAD4-122A05C1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mercato va cercato tra aziende che gia diversificano, trasformano prodotto o hanno bisogno di asciugatura controllata.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FA4C8-3684-4AA0-BFEA-83B9111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C7316-54AB-42A2-A0B4-0F063C6A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1,13M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54C23-D6AB-49CF-BB8D-56D7C35F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Unita produttive agricole in Italia secondo ISTAT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73FA8-CFB3-4026-922D-ECEDCB61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3140E-DC4A-4A20-9732-48D4304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3788F-E7B3-42F3-89C7-79A184E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Aziende agricole con attivita remunerative connesse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41472-DC3B-44F4-B017-773E631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07A9E-4292-4465-8B4F-B22DED73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Nord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1F437-7356-41CD-BE95-DA36DA7E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Quota attivita connesse piu alta: 12-13% nel Nord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2CA9A-E0A4-4E83-8788-F49C305B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1A467-AFF2-40B3-A8FA-ED871398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D4B96"/>
                </a:solidFill>
              </a:defRPr>
            </a:pPr>
            <a:r>
              <a:rPr sz="2400" b="0">
                <a:solidFill>
                  <a:srgbClr val="6D4B96"/>
                </a:solidFill>
              </a:rPr>
              <a:t>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64B28-9CDE-4C38-A39A-0ED1D7CF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1.000-3.000 siti potenziali: erbe, legno, frutta, funghi, piccoli processi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47B55-958C-425B-B23B-3660591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3682E-BC40-48C1-AD85-C08FD40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Segmento migliore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533A1-59ED-467D-AA34-4809B339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958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Motivo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75E1C-2DD2-40E0-AE94-C58BF76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958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Problema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C1720-7167-497F-8E4B-4217AE0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90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1A840-94FA-48D4-9627-DCAD1F11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52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Erbe/prodotti premium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41476-6458-4586-AC2F-C59A984E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752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Valore prodotto alto, basse temperature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034E2-2A7C-466F-B9F9-12E61701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52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volumi piccoli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EC1C4-39AF-4817-B9AF-88BCF8E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84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17BE1-5000-44B6-8ED2-FD8825B6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46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Legno/legna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9FF96-6B80-4139-902B-1DCA7BC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546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lunghe e calore continuo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E9706-675E-4BBF-B2FE-407F717C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546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essiccazione critica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2843F-EE9B-4696-8240-6C3796C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D4C8B-D570-4E62-9E2F-9CE44A7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ED5C6-14B9-46E3-AB72-0040C38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9706A-CCE2-4E14-B633-C349254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stime SAM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317E7-8BAD-4443-B5ED-1E57E01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45794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0B0CD-4C2B-45FD-AFC4-096AC1E5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CE06-F4D4-4723-ABF6-2C83866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Confronto dei due modelli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F2E84-4792-4BE9-A810-EDEBE39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A968E-C779-44DC-90CF-3A384A9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Criterio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84891-0DE2-4E25-B709-B92BC64E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Hospitality / lavanderia / 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49A28-B1C4-42A0-86ED-1336A767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Essiccazione agricola / legno / erbe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ACB2F-02C1-472C-A91B-12CFD3D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5D988-C49E-44DF-A330-D0188BDA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Facilita vendita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05F7A-4708-49A0-BE54-8F8C9092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Alta: problema chiaro, bollette e ACS visibili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D1D6C-AC1B-45E1-A8E4-FB76D56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Media: cliente piu tecnico e processo-specifico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11D38-098F-47C2-9B88-BA34CB0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81B6D-803B-46E1-9F99-FC55C70F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200CF-DCE9-4984-8F2A-0727C80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4.000-7.000 se il sito e giusto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CD967-525B-470F-81D1-18A838FF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2.000-5.000; spesso stagionale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8901B-8F78-43DE-BBF6-41BC8F69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83CBB-0E89-41B9-981B-B5F58130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Ticket installato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239AC-DF8E-44AD-B19A-EC4E5690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18-30k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59F35-3B00-4E6A-93DA-EAFE6E0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35-70k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582E3-907A-4C32-9740-20E0ECB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33544-5AD6-4E3F-822B-1D16F56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Payback realistico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591CD-3C49-4C31-A89A-7D423C9C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4-10 anni nei siti buoni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5725-581B-4496-B2C8-960746A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5-12 anni, ma solo con ore/processo adatto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2D22B-3B95-4CB4-B922-3A61B12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EBB33-6E8B-4212-A085-131F8B01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9A8FE-53B0-4C5B-AAA0-022088BF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Migliore: installatori termotecnici e casi studio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435EF-92B3-40B8-8343-04EC3B97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Piu verticale: necessita ricette di processo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7B66D-9930-43F5-99D6-F63C13C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0195A-26BB-4778-816E-8C380290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Rischio maggiore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7BEB8-3492-4C9A-B1B3-8493774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sottoutilizzato fuori stagione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D81E4-2E45-4190-AE6A-2C928F8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prodotto e cicli troppo brevi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BB024-AAED-4D82-99F8-718AC22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ED4D9-4265-4854-A53A-6454864D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BEEA10-DA76-450A-8D30-E5C40A5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7400E7-265D-489A-B8B3-B415794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Priorita consigliata: partire da hospitality per validare vendita/installazione; usare essiccazione come seconda linea su 2-3 pilot premium.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186C29-295F-42A3-8FA1-6B6D47A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74135C-2AFC-4A82-BE5E-32F0BEA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38541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D5D3B-A622-4352-A72F-0B7C9AF6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C52CE-DD3D-469E-8F63-A7D886BE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ricavi e margini per la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61AA0-6BC9-4449-850A-D749FCF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164F9-1589-4CD8-9AF2-5A18E273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Prodotto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8E551-FB9F-464D-8EC6-2F2E625D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Prezzo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6F0B7-A95D-46E2-8DE2-165F2A95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diretto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A4356-F97A-4D72-8111-E1F4EDD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Margine lordo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ADCF3-015A-4C67-92BF-177D3A3C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Ricorrente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D809E-A909-4E17-83B0-50D1466D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1A719-7217-4104-8537-AB46DB7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Kit hospitality 1-2 ASIC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EE004-C401-4109-955A-C527B7ED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24k medio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F3E36-9B26-4FEE-A24F-BD8E6DF0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17,2k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3193C-5A81-465C-A434-8A3F5ACB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6,8k / 28%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A4C5D-B798-4EC7-AF22-71CBF141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99-250/mese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64CA8-BCE9-45C5-B3B5-98E232E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24436-CFEC-4428-85F5-C84EDF8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Modulo essiccazione 4 ASIC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C9C9E-04D2-45F1-AF4C-E171B14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55k medio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D96AA-22A8-48E0-9728-E658AD7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39k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D9F37-C675-47A1-B0FC-826AF5C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16k / 29%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7AFD3-343A-4958-98E4-22FAB071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200-400/mese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E2A0D-C3FD-4531-AE78-1FEB384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7C04C-14C3-49E3-9D67-FAD3B088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8622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Dashboard/assistenza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010CA-D93D-4E44-87A2-95179BF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inclusa o SaaS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7B101-C8E8-448C-B8D0-678334AC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hosting + supporto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7E218-3F37-4B38-A9C0-7EF97A48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60-65%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A22B1-08E2-4664-8C6D-333E79B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8622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report kWh/BTC/allarmi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4C1E6-2B8B-482D-BE90-BF80B4EF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2381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F329E-F32B-489D-9306-872F532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BC63E-9ADC-4AC1-9DEB-6E903522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AE049-6232-48F5-9DD9-6859703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6C285-72BE-465F-B66B-EC24639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3009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FACA0-70F5-48E2-9C65-0BD1799F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C8D90-CC17-40F0-AE03-315AB70A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C62"/>
                </a:solidFill>
              </a:defRPr>
            </a:pPr>
            <a:r>
              <a:rPr sz="1650" b="0">
                <a:solidFill>
                  <a:srgbClr val="176C62"/>
                </a:solidFill>
              </a:rPr>
              <a:t>Margine obiettivo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90C78-C931-4A52-A8FB-48A0EF1D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30-35% hardware+installazione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B46F5-5694-478D-A565-80D5D26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A7AF2-6BB0-44A3-A956-7D6BB0D8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7A29"/>
                </a:solidFill>
              </a:defRPr>
            </a:pPr>
            <a:r>
              <a:rPr sz="1650" b="0">
                <a:solidFill>
                  <a:srgbClr val="D27A29"/>
                </a:solidFill>
              </a:rPr>
              <a:t>Break-even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5D7A0-E7F1-48B4-9652-55C1CBE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25-35 installazioni/anno mixate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931713-507F-4369-9D64-79CF34CD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927319-3C14-411F-B155-6F62D1F1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4B3A"/>
                </a:solidFill>
              </a:defRPr>
            </a:pPr>
            <a:r>
              <a:rPr sz="1650" b="0">
                <a:solidFill>
                  <a:srgbClr val="B84B3A"/>
                </a:solidFill>
              </a:rPr>
              <a:t>Nemico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A3E164-9169-4ED6-BE8D-F3542E9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installazioni custom non standard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9F07B0-8594-4918-ABC7-0870B56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2CA7E8-13A8-4E9B-8D11-28E7AA7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53531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4A81A-5ACB-4499-AE76-1EA0E90B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23EF5-9CD6-499B-940A-F266F27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Scalabilita: da artigianato tecnico a rete installatori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A0134-4C91-4BE7-A27F-F314CC6C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0-3 mesi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4383B-46A1-4749-8CD3-11F0A824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Dimostratore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F367A-EC28-4262-A8EB-86104D9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25-50k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8C838-8F4B-4CE1-ADD4-7C91045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 sito visibile, dashboard, sicurezza, primi dati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EC790-85C1-40B1-864E-445A8C0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39D8-F5C7-400C-9E93-D5AE54DF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3-9 mesi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9C44C-0E7B-4F9D-941D-5DF9436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5 piloti paganti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A8EFB-E015-41AA-9155-39E8283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80-150k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5CE9B-F8BA-47B6-B172-626BB5A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 hospitality + 2 essiccazione; contratti veri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5123D-30D1-4F56-A9B1-4852B73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E7869-B1DE-4761-88D1-A694AE01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9-18 mesi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4B12-3E52-468F-89EE-FE61402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25 installazioni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39EB8-631C-40CD-AE87-25B05D9F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200-350k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F2FEA-CE74-4111-AF52-10FC42C5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manuale installatori, kit standard, casi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03B97-2266-43BB-997A-A0E6355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54406-8E8A-4A6E-987D-1AD07E65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18-36 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1A54A-A375-454C-964C-E1AA2F1E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100+ installazioni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CBEAB-3CDC-4895-95EB-901C823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500k-1M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5B4B0-129D-4171-9B48-ACBE899D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partner regionali, stock componenti, service desk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6AE0F-7DD3-4FBA-974A-3EBA0EE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3B5FF-F290-4732-A8CD-7066923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Prima assunzione full-time solo dopo 5 siti paganti e zero incidenti. Prima rete installatori solo dopo kit ripetibile.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DBC19-66BB-4871-AD7F-8F07A5A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28335-BECB-46A0-8470-62F49A08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713282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AD2AE-06F3-4CD4-B608-31930ADC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AB678-9F01-4BFB-8646-CD3EBA4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Proiezione startup: possibile solo con disciplina commerciale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7E36A-6D52-4981-9CC9-9A705D4A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45063-C538-4DF9-8FEC-F14AC311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Anno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64C1E-0E29-4465-B174-AF5DA99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Mix installazioni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07687-4E6F-4793-AB45-B6C6487F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Ricavi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F0193-8B9D-458D-A991-47B6AC0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Gross profit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B24D0-A849-47DD-81D5-A664A67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B8C3F-1591-4F9B-BEB6-02E69F2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EBITDA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69DC1-8F09-4996-A781-F6FBD669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9DD8B-FE12-4628-9CC3-DB30BB7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A8B1D-4F43-4017-9CF7-35C2541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hospitality + 2 essiccazione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91A16-4668-415C-9587-8B2B5C7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264k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0279E-D57B-4983-9337-E831B6E8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79k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CC641-E193-42BC-9789-9E2EA030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180k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FCC2B-C91B-4A79-841E-22C9B9E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-101k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CBB4B-5A03-4EF2-B2B8-3ED2917C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C8BB9-DCD0-48F8-BA30-BA4A5D6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7BD4A-3A4B-4A2E-BA0B-3A5ADBDD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20 hospitality + 10 essiccazione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729B0-5397-4F64-B256-E5B5BA68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1,10M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26D43-69C9-4C42-AAC9-0CFCD92D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341k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5FBB7-0179-463D-BC35-9A64C2F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300k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7DA67-05FD-4F57-875D-3E262EAD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0042F-35D0-4EFE-B04E-9EFC863F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3C180-B51A-4087-9BBA-9012410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B2E99-4CBC-45DC-AD23-A954742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45 hospitality + 25 essiccazione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02832-FD66-4656-A132-B01664D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2,64M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B4CF8-7487-46BD-AC68-3E3D17F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823k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58F343-DE46-4CC8-8C37-0EA6E037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500k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010F4-7A05-404B-80A4-E4C483E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243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323k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12DB6-2CD5-48D9-81F8-1C169E2C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4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CAC0E-AF4D-4E5D-91CC-E211A1C4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7640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9839B-D32E-4FF0-AB3C-EED26DDB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94EEE-1D1A-4B29-9596-E2B63237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399A03-B2EB-44C1-A035-2A354B6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1619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FA25EC-6B58-4525-87E4-72DE9979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19621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EC90CD-DD58-4862-A6DB-D7F4B21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21375-F6BD-429D-97EC-6D38D6F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2451100" cy="8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559CE7-EF5D-43AB-85A0-2DBCEBC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9555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-101.000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996501-806F-496C-99DB-1B9B1EA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AF4F9F-4495-44D2-8FD9-9CF4C4C6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5686425"/>
            <a:ext cx="245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BB49CA-543F-4610-ACE3-D139CB3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419725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41.000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47CEF5-258F-4669-8148-E390E6C4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F75685-1906-45BB-9558-B77977A4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461260"/>
            <a:ext cx="2451100" cy="272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68FDE1-E8A4-4527-9BC4-1B13EA3F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519456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323.000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C515A5-A89A-4409-98A6-577378BA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9EFDE5-4910-49A8-AFC6-4EDD2EFA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46B"/>
                </a:solidFill>
              </a:defRPr>
            </a:pPr>
            <a:r>
              <a:rPr sz="1200" b="1">
                <a:solidFill>
                  <a:srgbClr val="5A646B"/>
                </a:solidFill>
              </a:rPr>
              <a:t>EBITDA scenario disciplinato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C4524A-CFBF-4EA9-8248-92374EBF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3870DB-7945-4507-8F31-B0371861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753435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91C7F-8D8C-4F4D-A903-16B4C52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A6A0A-1665-4CEC-82B8-099CEF2D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Rischi, compliance e kill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CA03C-B142-4706-81BE-8005B10E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05C15-9C58-40F2-B038-08456B57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Rischio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4ACD6-BFE8-435D-9A7A-577D1EA3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Come si controlla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D73D1-B908-48E5-987E-B8471115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Stop se...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26DDB-3216-4978-8159-9C7E1AB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55FBF-F79C-4F11-8954-B62A9054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Energia cara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C92A1-B974-4839-9113-A71ED6C7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82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cliente con FV/contratto buono; soglia kWh calcolata da bolletta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22CB8-6E7E-4EB3-A8BA-430389C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82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costo energia &gt; soglia per 6 mesi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9F83E-79D3-4A1E-B1A1-B8C8A4B8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765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0CDDD-F4DD-4483-924F-F43D031E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385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non usato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11310-6C6C-48A2-B05F-B940FE91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6385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contatore termico e log ore utili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8E63E-63D7-46E1-B6BB-8F8EC7BC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6385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 &lt;3.500 hospitality o &lt;3.000 essiccazione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1C49A-8CDA-498A-A4DE-F2F9BB99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ECE9D-F4C2-4846-8918-D617CA5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Installazione pericolosa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24330-7EBB-4F37-B29B-3EB9D61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1947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DICO, elettricista/termotecnico, assicurazione 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DD504-927B-4E02-B0C8-AEC30569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1947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 incidente grave o near-miss ripetuto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27379-A2E3-4182-A9D0-5AAAE1CC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89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73A31-2353-4110-ABFA-0CAE11BB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51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BTC/difficulty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C5E1F-F4F0-419E-A2A2-5B1CD13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51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basare vendita su prezzo BTC; sensitivity trasparente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AE565-E4A7-40EF-B931-8857AF9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751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ROI dipende solo da BTC alto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B65AF-1338-4B97-B74C-D1E44ECC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45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66F22-FFDA-4BCE-BB15-5A8E1C9B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07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Regolatorio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80891-4624-446F-848F-4F9BF5A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07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 custody, no gestione fondi, wallet/pool intestati al cliente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D8AB5-FE9E-41D5-A56E-6D1EF01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07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serve autorizzazione finanziaria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FB636-8BB0-41E5-B231-CD7A9490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5143F-FFFD-4937-8741-A4D5858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4C440-8872-4D5B-852A-F1BAF2AA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962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2DC07-4E05-463C-B3D0-41874645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Kill criteria principale: 5 siti paganti devono dimostrare beneficio netto &gt; EUR 1.500/anno o valore produttivo documentato.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601C3D-0CAF-4A64-B262-12F551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regolatorie: modello evita custodia/servizi finanziari; impianti da eseguire con professionisti abilitati.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FAC62-AC1F-41C3-874B-28684266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282241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B18BA-F7E1-4056-B077-019329AC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27BDE-4F63-434B-A261-DAD9B307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Decisione proposta e richiesta al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0D6E7-0F47-4356-9258-7CBA8133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Procedere con un pilota commerciale, non con una startup industriale 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C48D9-D300-4063-B653-B2FF90EF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CA25A-8D6E-42CE-9876-1BAB12A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6C62"/>
                </a:solidFill>
              </a:defRPr>
            </a:pPr>
            <a:r>
              <a:rPr sz="2250" b="0">
                <a:solidFill>
                  <a:srgbClr val="176C62"/>
                </a:solidFill>
              </a:rPr>
              <a:t>Fare 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44FFC-696A-4F1F-8E86-739805A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 dimostratore + 3 strutture hospitality + 2 siti essiccazione. Tutti con contatore termico e dati pubblicabili.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5B3C2-548D-4336-B636-E5EE48D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4E11F-F70C-47B3-8D27-68D84773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F4C9B"/>
                </a:solidFill>
              </a:defRPr>
            </a:pPr>
            <a:r>
              <a:rPr sz="2250" b="0">
                <a:solidFill>
                  <a:srgbClr val="2F4C9B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EA312-891D-4BC1-87F9-6A4E720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per MVP; EUR 120-250k per 5 piloti paganti e manuale installazione.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392E-42D0-4712-A77A-81B9C4E8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34610-4CDC-4138-9C15-0FE55C7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4B3A"/>
                </a:solidFill>
              </a:defRPr>
            </a:pPr>
            <a:r>
              <a:rPr sz="2250" b="0">
                <a:solidFill>
                  <a:srgbClr val="B84B3A"/>
                </a:solidFill>
              </a:rPr>
              <a:t>Non fare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BCA5C-60F4-41C0-8E88-0DD7D19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Hardware proprietario, vendita B2C larga, promessa di rendita BTC o acqua calda gratis.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F8B0E-B1F9-496C-B83E-98D1AB5E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Ask: accesso a 5 clienti pilota, installatore termotecnico partner, budget MVP e disponibilita a fermarsi se i dati non tengono.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3F427-CCF7-4E14-B936-6F076CB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2A754-78A3-4148-AF20-D376830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533627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7C9C5-3CAB-4C1F-9EAF-A2CEA9B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95A5A-AF06-43D7-9455-5B25C59B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Appendice fonti e assunzioni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2EDC9-570B-4FA2-AC89-DA740974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54C91-2758-4594-BFE5-C53B582B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Fonte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77706-EDDB-42EE-BC8D-19DA2B4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Uso nel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AEAC3-81F0-4259-8AA5-721B88B0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49F60-01F7-4C2A-BAA0-23B704E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Turismo C19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6809B-9B42-4698-8463-75D54C1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82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466,2M presenze; 32.943 alberghi; 232.376 extra-alberghieri; agriturismi e B&amp;B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902E4-9BD0-459D-AB88-865449C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480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D3ED3-18A5-4457-98E2-DEA96D1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100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Agricoltura C13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E14DD-BD5D-467A-AC74-CEAE1AB5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100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1,13M aziende agricole; 6% attivita connesse; agriturismi &gt;26k; struttura agricola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E3D07-2DAC-4CF6-BED2-1BEDE28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CC243-8C1D-4044-BACC-3C0331FB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377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GSE Solare FV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39D3-1D80-4C96-BBB2-33E2FF8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1,875M impianti FV Italia; 50.297 impianti FV Trentino-Alto Adige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847EE-E7A1-491B-A7A8-399468D5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03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EAD2E-801A-45B3-8B25-C83ED351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65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Modello BTC/ASIC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01931-F65F-4FB1-AD90-B93C9430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65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ASIC S21 200 TH/s, 3,56 kW; BTC EUR 55.889; ricavo mining EUR 62/MWh elettrico; scenari BTC/costi 5 anni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96D34-F705-43D9-97B9-5DE9FA2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BB6A5-A964-4EAE-A642-32D1FD13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93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Benchmark competitor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31A6F-5A42-4C5D-B5AB-50BF2906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93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Heatbit, 21Energy, RY3T: heater/miner aria e soluzioni idroniche come validazione di mercato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1C76B-D9F6-4149-9D1F-28CE09F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67115-9B15-4ADC-8256-30BF8731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83439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DCE04-2CBF-4B27-8A14-9FA8395E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 stime SAM/SOM, payback e proiezioni sono derivate: vanno validate con bollette, ore termiche e dati di processo dei singoli siti pilota.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9E8E5-EDE0-472A-8D6C-727E9995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Link principali: istat.it/storage/ASI/2025/capitoli/C19.pdf; C13.pdf; research/output/model_data.json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D87FE-C3BC-46DF-8388-3E289A0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36613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2026-06-21T14:58:53.7590000Z</dcterms:created>
  <dcterms:modified xsi:type="dcterms:W3CDTF">2026-06-21T14:58:53.7600000Z</dcterms:modified>
</coreProperties>
</file>