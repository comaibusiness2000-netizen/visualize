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b669ffa0f349ce" /><Relationship Type="http://schemas.openxmlformats.org/officeDocument/2006/relationships/extended-properties" Target="/docProps/app.xml" Id="Rc7813e2249c94301" /><Relationship Type="http://schemas.openxmlformats.org/officeDocument/2006/relationships/officeDocument" Target="/ppt/presentation.xml" Id="R40623ed414aa4a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46907423464d5d"/>
  </p:sldMasterIdLst>
  <p:notesMasterIdLst>
    <p:notesMasterId xmlns:r="http://schemas.openxmlformats.org/officeDocument/2006/relationships" r:id="Re91ee63a9d944c6e"/>
  </p:notesMasterIdLst>
  <p:sldIdLst>
    <p:sldId xmlns:r="http://schemas.openxmlformats.org/officeDocument/2006/relationships" id="256" r:id="Ra4770c141768444c"/>
    <p:sldId xmlns:r="http://schemas.openxmlformats.org/officeDocument/2006/relationships" id="257" r:id="R3c5a2e5b39524c85"/>
    <p:sldId xmlns:r="http://schemas.openxmlformats.org/officeDocument/2006/relationships" id="258" r:id="R60ba307e7fc34ef4"/>
    <p:sldId xmlns:r="http://schemas.openxmlformats.org/officeDocument/2006/relationships" id="259" r:id="R2b87fa32854c4596"/>
    <p:sldId xmlns:r="http://schemas.openxmlformats.org/officeDocument/2006/relationships" id="260" r:id="R9a96316584b74b60"/>
    <p:sldId xmlns:r="http://schemas.openxmlformats.org/officeDocument/2006/relationships" id="261" r:id="R31c694c38d9d4c98"/>
    <p:sldId xmlns:r="http://schemas.openxmlformats.org/officeDocument/2006/relationships" id="262" r:id="R10bd3f29d6a0424f"/>
    <p:sldId xmlns:r="http://schemas.openxmlformats.org/officeDocument/2006/relationships" id="263" r:id="R2251b8558ab34083"/>
    <p:sldId xmlns:r="http://schemas.openxmlformats.org/officeDocument/2006/relationships" id="264" r:id="Rafe4c024d5904f55"/>
    <p:sldId xmlns:r="http://schemas.openxmlformats.org/officeDocument/2006/relationships" id="265" r:id="Rdfc7487e52034018"/>
    <p:sldId xmlns:r="http://schemas.openxmlformats.org/officeDocument/2006/relationships" id="266" r:id="Rfda2a0c2208e499f"/>
    <p:sldId xmlns:r="http://schemas.openxmlformats.org/officeDocument/2006/relationships" id="267" r:id="Re2a86801663b45af"/>
    <p:sldId xmlns:r="http://schemas.openxmlformats.org/officeDocument/2006/relationships" id="268" r:id="R5a183cfb26c14da0"/>
    <p:sldId xmlns:r="http://schemas.openxmlformats.org/officeDocument/2006/relationships" id="269" r:id="Rebd7ee2b3cca4016"/>
    <p:sldId xmlns:r="http://schemas.openxmlformats.org/officeDocument/2006/relationships" id="270" r:id="Ra4395b5f70124f9e"/>
    <p:sldId xmlns:r="http://schemas.openxmlformats.org/officeDocument/2006/relationships" id="271" r:id="R4782f4ec7096480a"/>
    <p:sldId xmlns:r="http://schemas.openxmlformats.org/officeDocument/2006/relationships" id="272" r:id="R64f1062801734326"/>
    <p:sldId xmlns:r="http://schemas.openxmlformats.org/officeDocument/2006/relationships" id="273" r:id="Ra0a642401ad645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822c168f040c6" /><Relationship Type="http://schemas.openxmlformats.org/officeDocument/2006/relationships/slideMaster" Target="/ppt/slideMasters/slideMaster1.xml" Id="Rcd46907423464d5d" /><Relationship Type="http://schemas.openxmlformats.org/officeDocument/2006/relationships/notesMaster" Target="/ppt/notesMasters/notesMaster1.xml" Id="Re91ee63a9d944c6e" /><Relationship Type="http://schemas.openxmlformats.org/officeDocument/2006/relationships/presProps" Target="/ppt/presProps.xml" Id="R98cc772cebd14113" /><Relationship Type="http://schemas.openxmlformats.org/officeDocument/2006/relationships/tableStyles" Target="/ppt/tableStyles.xml" Id="R9a4e56086d144d4b" /><Relationship Type="http://schemas.openxmlformats.org/officeDocument/2006/relationships/slide" Target="/ppt/slides/slide1.xml" Id="Ra4770c141768444c" /><Relationship Type="http://schemas.openxmlformats.org/officeDocument/2006/relationships/slide" Target="/ppt/slides/slide2.xml" Id="R3c5a2e5b39524c85" /><Relationship Type="http://schemas.openxmlformats.org/officeDocument/2006/relationships/slide" Target="/ppt/slides/slide3.xml" Id="R60ba307e7fc34ef4" /><Relationship Type="http://schemas.openxmlformats.org/officeDocument/2006/relationships/slide" Target="/ppt/slides/slide4.xml" Id="R2b87fa32854c4596" /><Relationship Type="http://schemas.openxmlformats.org/officeDocument/2006/relationships/slide" Target="/ppt/slides/slide5.xml" Id="R9a96316584b74b60" /><Relationship Type="http://schemas.openxmlformats.org/officeDocument/2006/relationships/slide" Target="/ppt/slides/slide6.xml" Id="R31c694c38d9d4c98" /><Relationship Type="http://schemas.openxmlformats.org/officeDocument/2006/relationships/slide" Target="/ppt/slides/slide7.xml" Id="R10bd3f29d6a0424f" /><Relationship Type="http://schemas.openxmlformats.org/officeDocument/2006/relationships/slide" Target="/ppt/slides/slide8.xml" Id="R2251b8558ab34083" /><Relationship Type="http://schemas.openxmlformats.org/officeDocument/2006/relationships/slide" Target="/ppt/slides/slide9.xml" Id="Rafe4c024d5904f55" /><Relationship Type="http://schemas.openxmlformats.org/officeDocument/2006/relationships/slide" Target="/ppt/slides/slide10.xml" Id="Rdfc7487e52034018" /><Relationship Type="http://schemas.openxmlformats.org/officeDocument/2006/relationships/slide" Target="/ppt/slides/slide11.xml" Id="Rfda2a0c2208e499f" /><Relationship Type="http://schemas.openxmlformats.org/officeDocument/2006/relationships/slide" Target="/ppt/slides/slide12.xml" Id="Re2a86801663b45af" /><Relationship Type="http://schemas.openxmlformats.org/officeDocument/2006/relationships/slide" Target="/ppt/slides/slide13.xml" Id="R5a183cfb26c14da0" /><Relationship Type="http://schemas.openxmlformats.org/officeDocument/2006/relationships/slide" Target="/ppt/slides/slide14.xml" Id="Rebd7ee2b3cca4016" /><Relationship Type="http://schemas.openxmlformats.org/officeDocument/2006/relationships/slide" Target="/ppt/slides/slide15.xml" Id="Ra4395b5f70124f9e" /><Relationship Type="http://schemas.openxmlformats.org/officeDocument/2006/relationships/slide" Target="/ppt/slides/slide16.xml" Id="R4782f4ec7096480a" /><Relationship Type="http://schemas.openxmlformats.org/officeDocument/2006/relationships/slide" Target="/ppt/slides/slide17.xml" Id="R64f1062801734326" /><Relationship Type="http://schemas.openxmlformats.org/officeDocument/2006/relationships/slide" Target="/ppt/slides/slide18.xml" Id="Ra0a642401ad645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b50078de0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27d2f58e840a3" /><Relationship Type="http://schemas.openxmlformats.org/officeDocument/2006/relationships/notesMaster" Target="/ppt/notesMasters/notesMaster1.xml" Id="R004f3bf7fca745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9ba6d887da43ee" /><Relationship Type="http://schemas.openxmlformats.org/officeDocument/2006/relationships/notesMaster" Target="/ppt/notesMasters/notesMaster1.xml" Id="R504729b04dab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986c9b2b3b4771" /><Relationship Type="http://schemas.openxmlformats.org/officeDocument/2006/relationships/notesMaster" Target="/ppt/notesMasters/notesMaster1.xml" Id="Rac574a28081f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fa2d7f36d4bb7" /><Relationship Type="http://schemas.openxmlformats.org/officeDocument/2006/relationships/notesMaster" Target="/ppt/notesMasters/notesMaster1.xml" Id="R7c6cddac991b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df0f5d74de402b" /><Relationship Type="http://schemas.openxmlformats.org/officeDocument/2006/relationships/notesMaster" Target="/ppt/notesMasters/notesMaster1.xml" Id="R6bce911edc0c41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427edd342e4a3a" /><Relationship Type="http://schemas.openxmlformats.org/officeDocument/2006/relationships/notesMaster" Target="/ppt/notesMasters/notesMaster1.xml" Id="Ra026824e022a41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3ff41dfce44193" /><Relationship Type="http://schemas.openxmlformats.org/officeDocument/2006/relationships/notesMaster" Target="/ppt/notesMasters/notesMaster1.xml" Id="R05c244e351e642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5cba2971a548ec" /><Relationship Type="http://schemas.openxmlformats.org/officeDocument/2006/relationships/notesMaster" Target="/ppt/notesMasters/notesMaster1.xml" Id="R78f63730292047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757418dbd5499c" /><Relationship Type="http://schemas.openxmlformats.org/officeDocument/2006/relationships/notesMaster" Target="/ppt/notesMasters/notesMaster1.xml" Id="R3b7e862f0de042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34a830f7d546b9" /><Relationship Type="http://schemas.openxmlformats.org/officeDocument/2006/relationships/notesMaster" Target="/ppt/notesMasters/notesMaster1.xml" Id="Ra647465f502445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e30213610949af" /><Relationship Type="http://schemas.openxmlformats.org/officeDocument/2006/relationships/notesMaster" Target="/ppt/notesMasters/notesMaster1.xml" Id="R2508ab29f7114c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9bd2574ef642ed" /><Relationship Type="http://schemas.openxmlformats.org/officeDocument/2006/relationships/notesMaster" Target="/ppt/notesMasters/notesMaster1.xml" Id="Raf44e8f8df4147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a94f31b9384577" /><Relationship Type="http://schemas.openxmlformats.org/officeDocument/2006/relationships/notesMaster" Target="/ppt/notesMasters/notesMaster1.xml" Id="R3666eeb1176e40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aea3356a394fbd" /><Relationship Type="http://schemas.openxmlformats.org/officeDocument/2006/relationships/notesMaster" Target="/ppt/notesMasters/notesMaster1.xml" Id="R786f88cdafd240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6fc4527bbd4442" /><Relationship Type="http://schemas.openxmlformats.org/officeDocument/2006/relationships/notesMaster" Target="/ppt/notesMasters/notesMaster1.xml" Id="R03a7d2148ee546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3efa08760c48eb" /><Relationship Type="http://schemas.openxmlformats.org/officeDocument/2006/relationships/notesMaster" Target="/ppt/notesMasters/notesMaster1.xml" Id="R76ddb46502444c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9e50a20b90415b" /><Relationship Type="http://schemas.openxmlformats.org/officeDocument/2006/relationships/notesMaster" Target="/ppt/notesMasters/notesMaster1.xml" Id="R8ac2e8a29fd446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93d09654844312" /><Relationship Type="http://schemas.openxmlformats.org/officeDocument/2006/relationships/notesMaster" Target="/ppt/notesMasters/notesMaster1.xml" Id="Reec2e3710b67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spiegando il cambio rispetto alla famiglia media: qui non vendiamo acqua calda gratis, vendiamo un generatore di calore digitale per clienti che consumano calore molte ore.</a:t>
            </a:r>
          </a:p>
          <a:p xmlns:a="http://schemas.openxmlformats.org/drawingml/2006/main">
            <a:r>
              <a:t>Il deck confronta due modelli: hospitality/lavanderia/spa e processi di essiccazione agricola/legno/erbe.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sintesi brutale: il business non e 'minare Bitcoin', e vendere calore misurabile dove il cliente lo comprerebbe comunque.</a:t>
            </a:r>
          </a:p>
          <a:p xmlns:a="http://schemas.openxmlformats.org/drawingml/2006/main">
            <a:r>
              <a:t>Con 25-50k possiamo validare, non costruire una societa con magazzino, certificazioni proprietarie e rete installatori nazionale.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una frase semplice: un miner e una resistenza elettrica intelligente. Produce calore e contemporaneamente partecipa al mining.</a:t>
            </a:r>
          </a:p>
          <a:p xmlns:a="http://schemas.openxmlformats.org/drawingml/2006/main">
            <a:r>
              <a:t>Il recupero non crea energia gratis: sposta calore che altrimenti sarebbe buttato via. Il vantaggio nasce se quel calore sostituisce un costo reale.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rende il modello comprensibile: il cliente compra kWh elettrici e riceve BTC piu calore.</a:t>
            </a:r>
          </a:p>
          <a:p xmlns:a="http://schemas.openxmlformats.org/drawingml/2006/main">
            <a:r>
              <a:t>La soglia dipende da hashprice, rendimento termico e valore del calore sostituito. Se il cliente scalda gia a basso costo, il progetto diventa debole.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25-50k non devi inventare un miner. Devi mettere insieme componenti esistenti, sicurezza, dashboard e un sito pilota pagante.</a:t>
            </a:r>
          </a:p>
          <a:p xmlns:a="http://schemas.openxmlformats.org/drawingml/2006/main">
            <a:r>
              <a:t>Il rischio non e solo tecnico: se allaghi un locale tecnico o fai saltare un quadro, il prodotto e morto.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e il modello piu semplice da spiegare a un partner commerciale: il cliente ha acqua calda e biancheria, noi riduciamo una parte del costo creando BTC come sottoprodotto.</a:t>
            </a:r>
          </a:p>
          <a:p xmlns:a="http://schemas.openxmlformats.org/drawingml/2006/main">
            <a:r>
              <a:t>Il vero prodotto e un servizio misurato, non il 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devi essere netto: se l'impianto lavora 3.000 ore o meno, il modello e fragile.</a:t>
            </a:r>
          </a:p>
          <a:p xmlns:a="http://schemas.openxmlformats.org/drawingml/2006/main">
            <a:r>
              <a:t>Con 4.500 ore diventa una proposta borderline ma spiegabile; con 6.500 ore e buona energia diventa interessante.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i numeri ISTAT per mostrare che il mercato generale esiste.</a:t>
            </a:r>
          </a:p>
          <a:p xmlns:a="http://schemas.openxmlformats.org/drawingml/2006/main">
            <a:r>
              <a:t>Poi restringi subito: il nostro mercato servibile non sono 265 mila strutture, ma poche migliaia con profilo tecnico e commerciale adatto.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differenza: nel modello hospitality vendiamo calore ricorrente; nel modello essiccazione vendiamo capacita produttiva.</a:t>
            </a:r>
          </a:p>
          <a:p xmlns:a="http://schemas.openxmlformats.org/drawingml/2006/main">
            <a:r>
              <a:t>Il cliente compra se l'essiccazione gli aumenta margine, velocita o qualita, non solo se risparmia energia.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conclusione e meno comoda ma piu vera: l'essiccazione e ottima solo se il ciclo e lungo o il valore del prodotto e alto.</a:t>
            </a:r>
          </a:p>
          <a:p xmlns:a="http://schemas.openxmlformats.org/drawingml/2006/main">
            <a:r>
              <a:t>Per un agricoltore stagionale con 500-1000 ore, non venderlo come impianto: al massimo noleggio stagionale o servizio condiviso.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numero grande delle aziende agricole non va venduto come TAM vero: la maggior parte non ha bisogno o capitale.</a:t>
            </a:r>
          </a:p>
          <a:p xmlns:a="http://schemas.openxmlformats.org/drawingml/2006/main">
            <a:r>
              <a:t>La parte interessante e il 6% che gia fa attivita connesse: trasformazione, energia, agriturismo, filiere locali.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aiuta il partner a scegliere focus: non si devono lanciare due mercati insieme con 50k.</a:t>
            </a:r>
          </a:p>
          <a:p xmlns:a="http://schemas.openxmlformats.org/drawingml/2006/main">
            <a:r>
              <a:t>Consiglio pragmatico: hospitality come wedge, essiccazione come opzione pilota dove c'e gia processo e alto valore prodotto.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startup guadagna su installazione, standardizzazione e servizio ricorrente. Non deve speculare sui BTC del cliente.</a:t>
            </a:r>
          </a:p>
          <a:p xmlns:a="http://schemas.openxmlformats.org/drawingml/2006/main">
            <a:r>
              <a:t>Il margine lordo deve stare sopra il 30%, altrimenti l'assistenza mangia tutto.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serve correre: il vincolo e fare installazioni ripetibili e sicure.</a:t>
            </a:r>
          </a:p>
          <a:p xmlns:a="http://schemas.openxmlformats.org/drawingml/2006/main">
            <a:r>
              <a:t>La scalabilita arriva quando un installatore terzo puo montare il kit senza il founder in cantiere.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proiezione e volutamente non da pitch gonfiato: Y1 perde soldi, Y2 pareggia solo se si vendono 30 impianti mixati.</a:t>
            </a:r>
          </a:p>
          <a:p xmlns:a="http://schemas.openxmlformats.org/drawingml/2006/main">
            <a:r>
              <a:t>La leva e vendere ticket piu alti a clienti B2B, non fare micro-installazioni domestiche.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serve a far vedere maturita: il business ha rischi fisici, non solo finanziari.</a:t>
            </a:r>
          </a:p>
          <a:p xmlns:a="http://schemas.openxmlformats.org/drawingml/2006/main">
            <a:r>
              <a:t>Non bisogna mai toccare custodia BTC o promettere rendimenti: diventerebbe un altro mestiere e un altro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risorse concrete: clienti, installatore e budget. Se il partner porta solo entusiasmo, non basta.</a:t>
            </a:r>
          </a:p>
          <a:p xmlns:a="http://schemas.openxmlformats.org/drawingml/2006/main">
            <a:r>
              <a:t>La domanda finale e: abbiamo 5 siti adatti da misurare entro 90 giorni?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il partner chiede precisione assoluta, ribadisci che il deck e un business plan per decidere un pilota, non un'offerta tecnica definitiva.</a:t>
            </a:r>
          </a:p>
          <a:p xmlns:a="http://schemas.openxmlformats.org/drawingml/2006/main">
            <a:r>
              <a:t>Ogni cliente va modellato con la sua bolletta e il suo carico termico.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58d9f72a2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511abd9eb46c5" /><Relationship Type="http://schemas.openxmlformats.org/officeDocument/2006/relationships/slideLayout" Target="/ppt/slideLayouts/slideLayout1.xml" Id="Rfb8a9ab97f8d45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8a9ab97f8d45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09e66764b4751" /><Relationship Type="http://schemas.openxmlformats.org/officeDocument/2006/relationships/notesSlide" Target="/ppt/notesSlides/notesSlide1.xml" Id="R44e526347334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1d596241f4c61" /><Relationship Type="http://schemas.openxmlformats.org/officeDocument/2006/relationships/notesSlide" Target="/ppt/notesSlides/notesSlide2.xml" Id="R5bdb34d55e9a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6c774bdbd404d" /><Relationship Type="http://schemas.openxmlformats.org/officeDocument/2006/relationships/notesSlide" Target="/ppt/notesSlides/notesSlide3.xml" Id="R18f49d9e7562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1303424644b5a" /><Relationship Type="http://schemas.openxmlformats.org/officeDocument/2006/relationships/notesSlide" Target="/ppt/notesSlides/notesSlide4.xml" Id="R71711a28e0194f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8812262ff4b1b" /><Relationship Type="http://schemas.openxmlformats.org/officeDocument/2006/relationships/notesSlide" Target="/ppt/notesSlides/notesSlide5.xml" Id="R0cde4a3145cf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e2374530c472f" /><Relationship Type="http://schemas.openxmlformats.org/officeDocument/2006/relationships/notesSlide" Target="/ppt/notesSlides/notesSlide6.xml" Id="R62712d1c6e4e4a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658cbd4b84458" /><Relationship Type="http://schemas.openxmlformats.org/officeDocument/2006/relationships/notesSlide" Target="/ppt/notesSlides/notesSlide7.xml" Id="R8e5e5129d8444a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3593edb7c42bf" /><Relationship Type="http://schemas.openxmlformats.org/officeDocument/2006/relationships/notesSlide" Target="/ppt/notesSlides/notesSlide8.xml" Id="R7cd4ae8f590245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7af5ecad745ea" /><Relationship Type="http://schemas.openxmlformats.org/officeDocument/2006/relationships/notesSlide" Target="/ppt/notesSlides/notesSlide9.xml" Id="R21625d976f18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2f28ed9ae41d2" /><Relationship Type="http://schemas.openxmlformats.org/officeDocument/2006/relationships/notesSlide" Target="/ppt/notesSlides/notesSlide10.xml" Id="R36eaf15d2da74f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2ec003a6c4e36" /><Relationship Type="http://schemas.openxmlformats.org/officeDocument/2006/relationships/notesSlide" Target="/ppt/notesSlides/notesSlide11.xml" Id="Rd87a5f8fbb3047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2fe71b60846b2" /><Relationship Type="http://schemas.openxmlformats.org/officeDocument/2006/relationships/notesSlide" Target="/ppt/notesSlides/notesSlide12.xml" Id="R8385151b75e640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8c22e597241a4" /><Relationship Type="http://schemas.openxmlformats.org/officeDocument/2006/relationships/notesSlide" Target="/ppt/notesSlides/notesSlide13.xml" Id="R26fa388939b949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8dca59bc04ce7" /><Relationship Type="http://schemas.openxmlformats.org/officeDocument/2006/relationships/notesSlide" Target="/ppt/notesSlides/notesSlide14.xml" Id="Rb347a8416c474d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5e8c126b54d62" /><Relationship Type="http://schemas.openxmlformats.org/officeDocument/2006/relationships/notesSlide" Target="/ppt/notesSlides/notesSlide15.xml" Id="Re13663b87c1642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1523c260422b" /><Relationship Type="http://schemas.openxmlformats.org/officeDocument/2006/relationships/notesSlide" Target="/ppt/notesSlides/notesSlide16.xml" Id="R6fac79ef36ed4b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413cd80994679" /><Relationship Type="http://schemas.openxmlformats.org/officeDocument/2006/relationships/notesSlide" Target="/ppt/notesSlides/notesSlide17.xml" Id="Re7ace590762747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faee6ecf74896" /><Relationship Type="http://schemas.openxmlformats.org/officeDocument/2006/relationships/notesSlide" Target="/ppt/notesSlides/notesSlide18.xml" Id="R10760351ea614b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24C431-7A92-4B7D-BC6A-C1EAB494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46B"/>
                </a:solidFill>
              </a:defRPr>
            </a:pPr>
            <a:r>
              <a:rPr sz="1500" b="1">
                <a:solidFill>
                  <a:srgbClr val="5A646B"/>
                </a:solidFill>
              </a:rPr>
              <a:t>Business plan verticale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F7D22-6F05-4370-BF45-C23CFDCF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334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11111"/>
                </a:solidFill>
              </a:defRPr>
            </a:pPr>
            <a:r>
              <a:rPr sz="4050" b="0">
                <a:solidFill>
                  <a:srgbClr val="111111"/>
                </a:solidFill>
              </a:rPr>
              <a:t>ASIC heat per hospitality e processi di essiccazione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ADE95-88C8-402B-8088-E56ECBF3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6B"/>
                </a:solidFill>
              </a:defRPr>
            </a:pPr>
            <a:r>
              <a:rPr sz="1800" b="0">
                <a:solidFill>
                  <a:srgbClr val="5A646B"/>
                </a:solidFill>
              </a:rPr>
              <a:t>Due servizi reali in Italia: calore da mining Bitcoin usato dove serve molte ore, non come gadget domestico.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F7B6C-A152-4821-BDCE-028E677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Preparato per partner non tecnico + discussione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5C1E2-0243-45D5-8209-A6F0AE37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6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583289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D775E-873B-49A4-890D-7727BAED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30540-0617-4C70-89ED-C62DD13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Verdetto: pilota si, business solo con calore usato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8D51B-C65B-417A-91F8-A99A02C0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L'idea diventa business quando il calore e usato davvero. Il BTC e upside, non la scusa per ignorare l'economia energetica.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A2C9C-D6C6-4403-93A6-AB8946F1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9DBD1-8721-4CCC-950F-2F55D8D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6C62"/>
                </a:solidFill>
              </a:defRPr>
            </a:pPr>
            <a:r>
              <a:rPr sz="3150" b="0">
                <a:solidFill>
                  <a:srgbClr val="176C62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1D0ED-E918-4C24-BB51-B4A42E4C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Hospitality e lavanderie: modello piu vendibile, perche ACS e biancheria creano domanda termica ricorrente.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1CC5D-07AB-4BC3-9134-0A5BC37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21C77-A8EC-4693-A56A-A6C4E1B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27A29"/>
                </a:solidFill>
              </a:defRPr>
            </a:pPr>
            <a:r>
              <a:rPr sz="3150" b="0">
                <a:solidFill>
                  <a:srgbClr val="D27A29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32725-4071-44E6-9991-16F8C6D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Essiccazione: upside alto, ma solo se le ore annue sono tante o il processo ha valore elevato.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98BAD-76A0-43CA-9EEF-F21CDFB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60F61-B845-428E-94E9-EF85ED25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84B3A"/>
                </a:solidFill>
              </a:defRPr>
            </a:pPr>
            <a:r>
              <a:rPr sz="2700" b="0">
                <a:solidFill>
                  <a:srgbClr val="B84B3A"/>
                </a:solidFill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3CED0-0093-48D9-8329-B1554BC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Non lanciare come prodotto per famiglia media o mining finanziario: troppa volatilita e payback debole.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633AE-EFF6-4C7F-911E-AA1322E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5CF78-3F20-495B-A407-43DD2DE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6AAA7-F918-4F60-9489-38D978FB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Con EUR 25-50k fai 1 dimostratore + 2 LOI paganti. Non fai industrializzazione.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F6280-6748-4BD5-8711-807BBB8C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Tesi investibile: kit standard + installatori partner + dashboard che prova kWh termici, BTC prodotti e costo energia.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6E957-4E26-41E3-81ED-34929FE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7A5C0-8A05-4CB5-9209-36BD2EA0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9303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ED29F8-265D-4643-B0E7-1060519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48745-8C9A-4E2B-BF04-50B593C6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Spiegazione da zero: un ASIC e una stufa che produce anche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A393B-D4DD-4D59-908B-5772855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Un ASIC usa elettricita per fare calcoli della rete Bitcoin. Quasi tutta quell'elettricita diventa calore. Il nostro servizio cattura il calore e lo manda dove 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21FF0-02C0-4A35-9F11-D477DBB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855BE-A4FA-4270-B9DF-DFB9FE37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Elettricita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E0AD4-872F-45C0-81CD-6A896AEB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 rete, FV o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EA08A-47B2-4977-BDAC-BCBBC07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0FD60-AEE4-4390-B2E4-D293554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42F27-CDED-499C-A518-56C75EBD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ASIC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121A8-E865-4163-8444-DF01DB99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calcolo Bitcoin + calore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A3D59-E609-4198-969D-146EA46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36F58-83AF-46BF-B5C1-E4B3BD0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E09B2-6A57-4061-A2C1-4C761A9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Scambio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7DA08-4045-42EE-AE27-52712ABF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separa miner e impianto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39983-1EA4-451C-9531-B355570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609FD-0270-480B-B070-33D5E68A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5AE8D-7707-48BC-930E-976C1124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Accumulo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A47BB-262D-4BEE-814F-B7D31755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acqua o aria calda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7EFFE-0282-4204-BACB-9552F341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E1896-D34E-4EA3-9C94-7AC77A29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8B65E-8F97-4FCD-A0ED-DB83D96D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Cliente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EF32F-A78D-42EA-A704-9A3ABD92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ACS, lavanderia, spa, essiccazione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23633-D426-4777-A687-049A5C8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 S21 assorbe 3.56 kW: circa 3 kW diventano calore utile se il recupero rende 85%.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0D29F-28A6-4717-9161-BCCB5D6B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D109E-47B5-4069-A7C9-A3A6BD4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2206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00321-5648-4327-B3E3-8C5E573E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C5170-A691-425F-8D0A-0D67B2E2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La regola economica: elettricita sotto la soglia, oppure non funziona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7F33A-51D2-409E-87E9-75FF210E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Ogni kWh elettrico speso produce due ritorni: BTC e calore utile. Se il costo del kWh supera questi ritorni, il cliente perde soldi.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64000-7689-4B34-98D5-F2DB087A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AB73F-1C45-4D81-A6F5-02984F6A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F4C9B"/>
                </a:solidFill>
              </a:defRPr>
            </a:pPr>
            <a:r>
              <a:rPr sz="2550" b="0">
                <a:solidFill>
                  <a:srgbClr val="2F4C9B"/>
                </a:solidFill>
              </a:rPr>
              <a:t>BTC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2C140-39F7-4CE7-8955-3C656E08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62 per MWh elettrico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alle condizioni modello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FD5F4-74DD-4EE9-B0DA-A5954A9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853E3-9E10-4C6C-BEA7-68BA3B1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6A3C5-9031-46D1-BDB8-68784C9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6C62"/>
                </a:solidFill>
              </a:defRPr>
            </a:pPr>
            <a:r>
              <a:rPr sz="2550" b="0">
                <a:solidFill>
                  <a:srgbClr val="176C62"/>
                </a:solidFill>
              </a:rPr>
              <a:t>Calore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8DDD2-4597-4F0C-9455-E106ACAE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85% del kWh diventa calore utile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 il sito lo assorbe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79C67-C6F3-49E4-AFF7-3A019519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854A7-21C3-4D7F-BC0E-ABDDF721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775A4-F9E7-402A-98A5-4A638026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4B3A"/>
                </a:solidFill>
              </a:defRPr>
            </a:pPr>
            <a:r>
              <a:rPr sz="2550" b="0">
                <a:solidFill>
                  <a:srgbClr val="B84B3A"/>
                </a:solidFill>
              </a:rPr>
              <a:t>Soglia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00B1A-FA05-4809-829C-33F2774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Con calore a EUR 0,16/kWh: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energia max 19,8 cent/kWh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37D2A-C5C1-4135-B0DC-35D08A0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Tradotto: con energia industriale a 18-25 cent/kWh serve calore molto prezioso; con FV/surplus o contratti buoni diventa molto piu realistico.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37DEF-7FD4-4A5C-82EB-3D16C6A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DE998-0716-45B6-AEC4-612845A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5751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3FD71-F80D-4FEF-B4F7-1AE962D7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636E3-417A-4364-8DB4-CB3DEB6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Cosa serve per iniziare: non hardware proprietario, ma un kit integrato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1B96A-20D2-47B6-9E73-E0D4F09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7A101-0B58-4A47-AE7F-1E33B0E2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Blocco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E1116-0D70-4CEA-A59F-013011B7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Cosa include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7F3FB-1B7D-4F7F-BB5E-34F7DF04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44474-F06C-4E89-94C7-65648EA9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56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C6CB8-7EF8-46FB-880E-F36A2826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18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Miner + raffreddamento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29901-F710-436E-BD69-8BEFBF29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18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1-2 ASIC, airflow/hydro/immersione leggera, isolamento acustico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AA652-DD2C-4CA6-911F-CA032FB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18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4-10k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C22D4-AC59-4825-800B-D4438BF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495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C4BFA-1742-4C96-8D71-CC1BB8F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115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Termotecnica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F3CCF-FC47-49C4-BE49-B6CBA8E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115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Scambiatore, pompe, valvole, puffer/boiler, sensori temperatura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AD776-93CB-42D0-8E18-3D07207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115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6-14k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867F5-B621-4C8B-A8F8-5A296E4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B5607-DBD5-4F6D-AD25-EB0B50E2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Elettrico/sicurezza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EE6B0-BC65-45E8-B1D2-4ACEA3D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042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Linea dedicata, quadro, protezioni, sezionamento, allarmi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C6738-C610-42E2-96B4-0EDDB103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042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E505C-42D4-461F-A84F-FF7C685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35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FD1F2-87BD-4E12-A12F-AD42D3A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97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524B1-AEAB-4404-B524-DEB98C53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97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Dashboard, log energia, allarmi, spegnimento automatico,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D0A12-7639-446E-AF1E-249A58E9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97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5-15k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3280A-7C83-4E8A-A028-0366FF7F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27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12166-7E56-48BE-A615-A68C2AC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89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Assicurazione/legale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E50D0-C867-49D8-82C1-B80B194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89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RC installazione, contratti, privacy, non-custody BTC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E6195-F5C5-4568-92D5-4CCE5F8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89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3CA20-3117-4B5D-A01E-27072CA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95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3EC77-96B9-45C5-9F0B-86886A1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76400"/>
            <a:ext cx="7048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D8B03-4738-4BFE-986A-F6872EE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22479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855F50-A93C-420A-937E-53E7515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Budget 25-50k: un dimostratore serio + telemetria + vendita pilota. Lancio commerciale minimo: 120-250k.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24557-1689-4524-911D-2121EAF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9A328-7395-41CA-A412-FB10B970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8822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B276C-8E7C-4501-B015-D75060F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7047F-EF22-4242-A4C6-8D2C9F6B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1: agriturismi, B&amp;B, spa e lavanderie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81378-F0E0-4E34-9FCC-5BFCE6E1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servizio installa uno o piu moduli ASIC termici per coprire acqua calda, lavanderia, spa/piscina o integrazione di puffer esistenti.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C2B77-2375-4E0E-AD25-890D1146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4FDCC-796C-47DB-A67A-A7EAC6E8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Cliente ideale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B5878-E20B-49E2-AEA1-1D403D0D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Proprietario presente, FV o energia buona, ACS alta, lavanderia, locale tecnico e sensibilita a costi energia.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23298-4263-452C-A71B-E622E4FF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57D06-52D3-4407-8BCA-2FB52DF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Offerta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5ED36-2802-4907-A93A-065B6CD9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Vendita/installazione kit + dashboard + manutenzione mensile. Nessuna custodia BTC.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B2B4A-5245-4841-ABED-215478F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E3A2D-C46B-4148-BC01-A9EFAF0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Prezzo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73C10-C6F7-4DDA-AF77-A1F44AEF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18-30k per 1-2 ASIC installati; EUR 99-250/mese monitoring e assistenza.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2067E-2E4B-405A-939C-A22A802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7A4FF-A67B-4082-BBA7-B9F308C5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D4B96"/>
                </a:solidFill>
              </a:defRPr>
            </a:pPr>
            <a:r>
              <a:rPr sz="2100" b="0">
                <a:solidFill>
                  <a:srgbClr val="6D4B96"/>
                </a:solidFill>
              </a:rPr>
              <a:t>Perche 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2722-9B3D-47D0-B3E9-D77E4C2B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Turismo record, extra-alberghiero in crescita, costi energia ancora sensibili.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DD867-3881-4F50-9FF0-EEA3D398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Go-to-market iniziale: 5 piloti in strutture con bollette reali e contatore termico. Senza dati kWh, niente promessa commerciale.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99197-3090-42CB-B8A7-D4B49AC6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mercato: ISTAT ASI 2025 Turismo; modello economico interno BTC/ASIC.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E21B7-E95A-45C6-BAC7-6F6DEB9C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16456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166E2-0AAC-410F-890A-03E9F1EE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D591A-06DE-4BF5-9424-9D6F273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cliente hospitality: funziona solo sopra 4.000 ore utili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695DA-CD9F-4388-9F84-D7CE7EC7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1EC9A-E312-4ACD-94DE-99553DF0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 2 ASIC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DC959-E907-412C-8A01-91F463C1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175260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CF712-0C8E-4EF9-9439-36AB2D9B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Energia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3B418-A689-4B0C-BE8A-FFB025F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0F8D-9DCC-4764-BC5D-4BADAEAE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6ACE3-C387-44E3-8BD8-976EEDA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A46FB-0406-46C7-92DE-C090F3A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9EE00-1C11-4641-8618-B69CB2F4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911A5-A1D7-496F-A087-B9E5ADF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256222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3.000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708FE-114E-4A97-9147-873CFC3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21.360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73740-ED62-414B-8746-6CB7D11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18,2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39B7E-CC7A-40C1-AABB-C01FAF26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36D55-15E7-4961-9B69-E39FEEB6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2F912-1A2B-46A8-9CED-7EEDFCC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914C3-3B97-48FA-8C4C-D0A82C27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15DC4-0F1E-45EE-9082-16949EDD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337185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4.500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255A0-C322-4736-BD30-A1E557F2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32.040 kWh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265D8-CC3E-40BE-8A23-59AB587D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27,2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6FAFF-9154-4640-90E7-0AFF7ED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170B2-1794-42AA-9526-543D0647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9,5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2FDAD-48A9-47F2-8901-8244B0A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5632E-9F8B-4C30-813E-0C0DD17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4D7A4-94D5-4521-A37B-CA91FCE2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418147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6.500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E715E-67BD-4CA4-A3F1-A752002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46.280 kWh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CDC88-57F6-4465-AC3F-9638894C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39,3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D8923-C434-4210-9780-3A995056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A4EDEC-4D1F-4A35-B37F-7A3C0F49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4,1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E7F3F-394C-49CC-8B77-41A6A8F4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6A128-0174-4EC8-857B-43AC95D3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179" y="1676400"/>
            <a:ext cx="1449878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849036-3196-4143-B8F3-9B11ABBF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057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E3A5FC-6E5F-40D9-A7D5-A3FF7BF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875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462DDB-C59D-4A8B-A7B9-6048DA0F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004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CC7D8B-3E42-421F-A26F-15A12684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821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88095F-174D-4B88-89B1-72F76CB2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6561CC-C90E-48B9-9AAC-7952FB5D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A1671B-712E-47FC-AF36-ABBE67E2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EB35DB-3A20-4375-99E5-FCB6EF75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64D1D7-6E46-4343-A53B-060960A8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2389"/>
            <a:ext cx="2959100" cy="120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6E7FFE-AC9A-434A-AC4E-DA998450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568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452F38-336D-4DD9-AF37-BCC7A9AF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302F5A-2AA7-46D4-BF4C-679AC4F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74329"/>
            <a:ext cx="2959100" cy="278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2F9570-824E-4049-B7FE-8670026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500762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CE106E-C673-4179-A5F1-48CB08E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EFF886-700A-48B7-97D8-1DECB74B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0DDB9A-842B-4214-95CC-2CDE7EE7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7964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AD85E-4AA5-4D36-B5D3-C76BC8AD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A77B0-1996-4FD5-B1BD-EE343035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hospitality: grande in superficie, selettivo nella pratica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99020-FB58-4FDA-BFFC-F43DA151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ISTAT 2024 fotografa un mercato ricettivo enorme, ma il nostro cliente non e ogni struttura: serve carico termico, spazio tecnico e decisione rapida.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5DEE7-F2FE-49CE-9A4E-40C29B0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70738-8041-426C-867B-8BA9199B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466,2M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87DC4-9FAA-45FB-8D0B-BF2778C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Presenze turistiche Italia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B56E2-6BD3-49E8-BE5F-122EDFFD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BF37-F77A-4BCE-952A-90B2DFB8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32.943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96322-1062-4A9F-9E6E-4DA7DAC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Esercizi alberghieri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904CF-C716-4F8C-B9DB-992A059A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72FD2-8F83-4EF0-B41A-CAA2A43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21.215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A371A-26D6-4FCE-A697-6F6D2EFB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Agriturismi ricettivi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C6787-1E68-40CE-B355-5CA1B227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1BB72-A858-40A1-A542-F8A47F5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D4B96"/>
                </a:solidFill>
              </a:defRPr>
            </a:pPr>
            <a:r>
              <a:rPr sz="2700" b="0">
                <a:solidFill>
                  <a:srgbClr val="6D4B96"/>
                </a:solidFill>
              </a:rPr>
              <a:t>35.015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CBE8D-0D39-4CCB-BC25-21018042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B&amp;B rilevati da ISTAT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42042-1FFB-4630-9DE4-35707574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344F5-E1DC-40B7-A0AE-584B270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Filtro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9043A-CFED-4925-86CE-FBC0A09A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Italia stimata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6470D-A2CE-4531-A8C0-C3AE68CE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Perche entra nel SAM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E998C-3001-4090-A2CD-DCD24071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1FC4A-F080-4251-93E3-E573E58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Carico termico alto + FV/energia buona + proprietario operativo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4EF56-FE30-4C05-B4F0-8014E7E3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2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3.000-8.000 siti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BF853-97D6-4E97-923A-9174CCFC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244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agriturismi, piccoli hotel, spa, lavanderie, strutture montane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16169-2985-4F60-8220-773F5D3C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530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C92DD-B34A-4601-9478-406F1E42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SOM 3 anni realistico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B797D-E210-420D-9D94-5B697EF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100-250 installazioni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B76942-4719-448D-9178-D5FA165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292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dipende da installatori e casi studio misurati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B50B8-93E9-4056-BAE6-5A01B82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37DB3B-4388-437B-B1F7-CFC954C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434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26D87-994F-438C-8270-10A134AB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565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C4E2F-18D9-44D8-8559-D5744332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Turismo, Prospetto 19.1 e 19.2; stime SAM/SOM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23F9D5-4CEF-4AC3-B6FC-BC3C02FE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99381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7630BE-6A70-4AF1-BF0F-718EA83B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8F5DB-7DD0-4850-AE01-E777782D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2: essiccazione agricola, legno ed erbe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8B2D9-1D19-42F6-9FC0-A49D6791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Qui il calore non serve per comfort, ma per processo: asciugare prodotto, ridurre tempi, stabilizzare qualita e liberare spazio di magazzino.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FD113-68A5-4627-8CB7-0C90674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9698A-50A7-4BC3-99BF-6728E23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Agricolo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B5041-CFC2-4FEE-B2E4-D540694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Erbe officinali, peperoncino, frutta, funghi, piccoli lotti premium, foraggio di nicchia.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79A3A-199A-4D32-85BA-286349C4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011E7-2B71-4515-9598-179C39F8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Legno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8BAEA-CA76-4B3C-A3BA-56559BF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Legna da ardere premium, tavole piccole, falegnamerie e micro-sawmill con cella.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44AD-EDDC-4CA7-9E77-2344175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7B345-4FF8-4CF9-B868-E6D42D84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Servizio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10538-F1C6-463E-ACED-D51B3CC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Modulo aria calda 2-6 ASIC + sensori umidita/temperatura + ricette di processo.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F6F33-BFA8-4549-B134-AD31C720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C66B1-4B7A-40FD-BDB3-FC4B55B9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4B3A"/>
                </a:solidFill>
              </a:defRPr>
            </a:pPr>
            <a:r>
              <a:rPr sz="2100" b="0">
                <a:solidFill>
                  <a:srgbClr val="B84B3A"/>
                </a:solidFill>
              </a:rPr>
              <a:t>Rischio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F5CCC-4EFD-4333-BF7A-D9B06DB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Stagionalita: se lavora poche settimane, il payback crolla.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681FB-B142-4033-A67C-86A0A1F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Questo modello puo battere hospitality solo se il processo gira 3.500-5.000 ore/anno o se il prodotto essiccato ha alto margine.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7FED9-F281-482F-AC33-C43E04EB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assunzioni operative interne su essiccazione.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5A2B8-5C08-42DA-8612-CC45018C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08592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9402B-7386-44ED-801B-3C6B150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96D88-E681-4B95-A57A-EEC9DCC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essiccazione: ore e valore del calore decidono tutto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9FD8-3928-40A7-91EC-361616D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63C15-91D6-46E7-B406-878151E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679C7-E41B-4071-A1AD-2198080C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Modulo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C0FEB-688C-449C-A0CC-2BC05509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5482E-C6D9-4889-800D-2A8CBDF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175260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1E5E1-B5A2-429A-A287-779CFF22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175260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6BE7C-C38B-4B43-B713-FBBD8D9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175260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5647D-83D0-46E3-9B7E-08974F72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D0B2A-26BE-4069-874E-1943884A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Stagionale 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A1825-DA30-411E-BE07-0D37489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799EE-752C-45A0-B625-F2B1D286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2.000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10644-2EE0-4C15-A1D4-ABD0CF46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256222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24,2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0843C-5675-4543-9C8E-5FA66A7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256222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6A895-655B-4417-A954-F041B062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256222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25,7 anni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E33D5-1080-4E63-877E-F14609A1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E1118-DAF8-43B7-8894-EAD39D24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 difendibile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2EFB6-DC84-481E-8C76-C9A41EEA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18D51-96E4-400A-9F30-AC43F22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4.000 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36C5F-9347-4E98-8B80-454CE94E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337185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48,4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8E620-B4C3-4DA2-A825-3614F07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337185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DD3DE-45A7-437B-B03A-D6C290B4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337185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8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0DFF2-2184-40BA-A984-729B2F5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6ABE6-680C-4008-8433-D1137D6D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1659B-B6B1-4007-9D4A-DD09080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ASIC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AA3F4-8006-48FC-8583-92ADB27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5.000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15EFA-10A1-42BD-8CD1-1D9B152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418147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90,8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437DC8-58CF-4251-83B9-0CDD532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418147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2F7D8-81B4-4DF7-9A2E-C18815AE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418147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4,7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6DCA5-BDE3-4175-9E32-730516A9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5259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4247D-61D5-41DF-A1AE-5C7EDEB6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45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A5EC2-A54B-4801-9DBF-893C6840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091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D01438-589C-4FE7-8C4F-D1E429B6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36" y="1676400"/>
            <a:ext cx="215522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64CA30-E932-4EA4-A900-91784197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761" y="1676400"/>
            <a:ext cx="225785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932CC8-4AAA-4717-A081-AC8FC53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15" y="1676400"/>
            <a:ext cx="184733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E1BD4-3109-4E91-A258-324E7388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B33C77-FB61-47C5-A2A8-A0FD1395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426516-87BF-4C8A-B5AB-30B30AA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3AFEFF-3ED9-4286-AE18-94A7702E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F3EF0C-EF73-4908-BDE2-FB1C37DC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6403"/>
            <a:ext cx="2959100" cy="11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0C674A-7377-4DDF-854D-888008D3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9703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B36928-C4FD-46D0-B9E0-CF252696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4E29BD-2E7B-48D0-A927-EBE97319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52112"/>
            <a:ext cx="2959100" cy="300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72D4B2-9FF1-4829-BE06-8855B5B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985412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42F891-2492-49AF-A007-A98F22D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C31795-521B-40C9-BEBC-C11787D9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03C5FF-3D0C-463F-96B8-1B32A576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05590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01914-22F1-45C3-82F5-172F654B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28A1D-493B-4D05-899A-E6ACA1D9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essiccazione: non enorme, ma molto piu verticale e B2B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EB8B6-73B5-47E3-9E4B-9CD0C25E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mercato va cercato tra aziende che gia diversificano, trasformano prodotto o hanno bisogno di asciugatura controllata.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C89F8-825C-4B08-A5FA-21456042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E1FF-036D-40FC-8E2A-FC489CB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1,13M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EFCAC-46AD-42CE-A9B8-46D99921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Unita produttive agricole in Italia secondo ISTAT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B18A1-F8C7-4300-8BF2-90C12D6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C52F5-4D2D-4C25-AF0C-EAF9EA65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62A45-3853-4539-9171-AA07F42C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Aziende agricole con attivita remunerative connesse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4C13C-4391-4DBA-97A4-24FC009E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9D611-DE90-4A32-8374-2E7B9AC5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Nord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041E6-2BA5-46FE-AB3F-BB12E10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Quota attivita connesse piu alta: 12-13% nel Nord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A2514-B881-4241-B9BD-0B359FE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17B9E-FD4F-43C2-8131-F748D07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D4B96"/>
                </a:solidFill>
              </a:defRPr>
            </a:pPr>
            <a:r>
              <a:rPr sz="2400" b="0">
                <a:solidFill>
                  <a:srgbClr val="6D4B96"/>
                </a:solidFill>
              </a:rPr>
              <a:t>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B7CE0-C0CC-41DF-8D53-11492CF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1.000-3.000 siti potenziali: erbe, legno, frutta, funghi, piccoli processi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B0266-4D3B-4595-9F0A-99E3112B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16E15-FC1B-4841-BEFC-3802B76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Segmento migliore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DA54F-CEAF-4B57-A50F-653D5B5B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958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Motivo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D19A6-C261-4555-A963-819C19D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958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Problema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24655-3598-42D7-8C8E-20042EE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90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1876B-01C8-4895-A702-7ADBB7EF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52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Erbe/prodotti premium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CB10C-0873-4D46-9929-FEFC2C0B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752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Valore prodotto alto, basse temperature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B4890-3E6F-4A97-A661-17935E4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52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volumi piccoli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78272-E4EE-492A-BB74-946117E0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84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6169C-005D-4E92-8D14-CA1EB195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46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Legno/legna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BA724-A06A-405C-B933-E8E72C5F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546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lunghe e calore continuo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94C6B-5C3C-4DEA-BD79-521185B6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546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essiccazione critica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29B631-86F1-4F2A-BDF0-FE894A33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59512-D3FC-4D4B-807F-E5CBEC8C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6A79E-2482-4DF2-A1C7-A98CFC59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66F09-8001-468C-886F-D36F5E1C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stime SAM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99D79-A2B7-4B42-BBF0-9C0D36F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09884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79A4C-0273-48F2-A34E-B80EE0D1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4D58C-4C7D-4B25-834F-4BD9558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Confronto dei due modelli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AFA06-EC37-4A21-8A22-4193A36B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DCA95-8B54-4C79-A07E-1AC50EF3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Criterio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E700C-AF3D-4A83-B39B-D999C3B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Hospitality / lavanderia / 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360AD-233C-4F86-A47F-5E63CE43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Essiccazione agricola / legno / erbe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6EAD3-717B-42E3-AECA-2E2CC0C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FE192-F9BA-4458-B9B7-1100943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Facilita vendita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6E69-18C2-4D86-9376-0DF05ACA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Alta: problema chiaro, bollette e ACS visibili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2D877-AABC-4E05-AB00-2DCE3BE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Media: cliente piu tecnico e processo-specifico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56CDB-FE4D-449F-BA03-C7F2F81C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6456B-5325-4F39-910F-9D3CD097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5149F-E73F-4F3D-9EBE-054B29A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4.000-7.000 se il sito e giusto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7C0DF-CD5B-42D7-AD84-825FD53A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2.000-5.000; spesso stagionale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15406-D6D7-446E-A7DC-3C17E87B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B4B41-1570-4557-8ECD-8E79A95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Ticket installato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FC5D6-8691-464D-A162-2467829B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18-30k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1544E-E7CA-4441-BE0A-67F6D36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35-70k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69AEE-D5DF-42DD-A55C-89F4C27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07D67-1080-4BF3-8937-EDE7FE4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Payback realistico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8AC76-DF78-44A6-B811-5A0225C4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4-10 anni nei siti buoni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2F46E-4630-4205-8D77-5DFE54BB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5-12 anni, ma solo con ore/processo adatto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E028F-EBF1-4116-8699-CB5C987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9D21A-59FA-4C11-8197-FF4FA57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354DD-F29E-4FC8-AC1F-5C88D2B9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Migliore: installatori termotecnici e casi studio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5C214-C79D-453B-B32B-F475C07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Piu verticale: necessita ricette di processo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06C66-2110-478B-9287-B8701E7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3CF29-3E14-4FDB-9FAC-37599275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Rischio maggiore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9D6A3-BAA3-497A-A9C1-7F9DB4A9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sottoutilizzato fuori stagione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0FDC3-72FE-4408-B7BA-3C8B2C8E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prodotto e cicli troppo brevi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48DCB-1BBA-493A-A566-85D739E1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79AA2-8F3F-48C2-BD62-7A178596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DB612-B249-45B8-8E5C-C6AE1CB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3BC004-42E4-4CBA-A37D-963CFA24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Priorita consigliata: partire da hospitality per validare vendita/installazione; usare essiccazione come seconda linea su 2-3 pilot premium.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1FAD8D-9471-4EF5-94B7-62AA1771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556A99-94A7-40E3-BD50-5894D918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6820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99A2E-66FB-4AC8-B270-D50B7472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E24AA-0602-4094-BF17-0CDC1BB8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ricavi e margini per la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9099B-DC7B-42E3-A97A-F66821DD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9010A-339B-4D21-BA5F-A4C8F4E0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Prodotto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40005-C7C1-46DB-9EDC-54BD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Prezzo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3F11F-F31A-429C-AE07-6B6AA33B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diretto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EDF1D-6A81-40C4-88ED-9F63132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Margine lordo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7FE2F-5FC8-4822-B489-342AC93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Ricorrente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849F6-E47B-4C06-B3CC-D5343E1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EAB8F-9543-4DAD-B25F-A6CA15C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Kit hospitality 1-2 ASIC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218AC-1764-4C76-8FE9-03394765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24k medio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1BF74-6495-4FA1-90A4-28463BB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17,2k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FA81E-A65F-42D9-AB74-E63715FC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6,8k / 28%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96AB5-DEE3-4DFA-8661-7E08A248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99-250/mese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7AEE2-4BE1-44FA-95C7-E5FA8A1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D4B65-E2E6-4129-BDBF-6BB6ED9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Modulo essiccazione 4 ASIC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48895-06C1-47DB-BC88-4681B920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55k medio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23595-8FBD-4406-A579-AB001F09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39k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DB438-8F81-48C9-B8D9-AA422C4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16k / 29%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3D594-705F-434A-B867-86F3B900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200-400/mese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CCC7E-0587-4694-9A9D-916B78AB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6119A-CB0D-439C-ADEE-4FB15E78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8622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Dashboard/assistenza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6FB3E-81F0-4D21-9E24-F3DC0AD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inclusa o SaaS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A3602-1BB0-4ABC-A491-97DAC8F3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hosting + supporto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B8F47-2434-4C5E-95E9-BAFAAA3A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60-65%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F9460-EC57-45A5-B3F2-AA13EC95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8622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report kWh/BTC/allarmi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CDA6D-01E3-4C20-8286-1D34A924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2381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95780-08EC-4FC5-9755-4196AC62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D38AE-73FA-45BC-A8D2-E5E9C8D9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B7283-DB63-4C72-AEEF-9C0E99F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2B68D-79EF-4749-BA26-1899E6B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3009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ABCB3-0FEB-4DC9-9D2D-FD6EFAC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8A12F4-0206-4B83-8F1C-3075A85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C62"/>
                </a:solidFill>
              </a:defRPr>
            </a:pPr>
            <a:r>
              <a:rPr sz="1650" b="0">
                <a:solidFill>
                  <a:srgbClr val="176C62"/>
                </a:solidFill>
              </a:rPr>
              <a:t>Margine obiettivo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ABA034-4D6F-4EB1-9421-37FCA4F7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30-35% hardware+installazione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992261-C155-47C9-B125-E4236EC1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0421D-E8E2-4E1B-B3FE-99EFAFF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7A29"/>
                </a:solidFill>
              </a:defRPr>
            </a:pPr>
            <a:r>
              <a:rPr sz="1650" b="0">
                <a:solidFill>
                  <a:srgbClr val="D27A29"/>
                </a:solidFill>
              </a:rPr>
              <a:t>Break-even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85805E-26BD-478D-8565-9B5FB8F6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25-35 installazioni/anno mixate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42DBED-A616-4453-83DD-ADFA1C20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4BBD3B-1BE9-42D1-A058-01882B95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4B3A"/>
                </a:solidFill>
              </a:defRPr>
            </a:pPr>
            <a:r>
              <a:rPr sz="1650" b="0">
                <a:solidFill>
                  <a:srgbClr val="B84B3A"/>
                </a:solidFill>
              </a:rPr>
              <a:t>Nemico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5BCC88-2F48-4DF4-B1EE-8BA0CDDD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installazioni custom non standard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DC26FD-5429-4FC0-960A-7B54E27B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91698-94BD-4160-A4D4-06F7B7F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8688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73F65-2520-4CC8-AF95-03F7B7F2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FF028-D797-461C-B2D8-59D10FE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Scalabilita: da artigianato tecnico a rete installatori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CC046-1A55-4B50-B088-9653933F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0-3 mesi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D22EB-7FCB-465F-A864-6B956EC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Dimostratore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79E7F-3415-4A76-828A-06C768DB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25-50k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4E743-12AB-41FB-B9DC-C744A3C7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 sito visibile, dashboard, sicurezza, primi dati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7D8F8-DCBF-4F54-A806-FA3A629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3DCB3-D132-4485-A035-00B200C0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3-9 mesi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702FC-1204-40C5-BE90-0CDDAEA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5 piloti paganti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BC383-6880-423D-B071-77E8D556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80-150k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64E06-74CD-4450-876A-3ABEFFC1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 hospitality + 2 essiccazione; contratti veri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46CBE-790A-4163-9BF1-7A953DA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A4795-E985-458D-A9B4-AD3699C3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9-18 mesi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7A8EC-B00D-4D10-8689-222884DD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25 installazioni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53615-8D71-4D25-86C9-F716B876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200-350k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B2C99-DB8F-490D-B14B-9CB71998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manuale installatori, kit standard, casi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03B28-938D-46DC-931C-E4E26DA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920F9-2C7C-4F7D-BF3C-F9D000CF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18-36 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E56C7-773A-454E-B492-861BE91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100+ installazioni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575DC-8142-4426-9D8D-35EC155D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500k-1M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A78B4-70C5-444D-AFDB-9060D72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partner regionali, stock componenti, service desk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B463D-16AE-4BE3-9063-4F9184D6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A9278-7BA7-4366-AB35-0B0716AE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Prima assunzione full-time solo dopo 5 siti paganti e zero incidenti. Prima rete installatori solo dopo kit ripetibile.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FF619-19D9-493A-98EE-A0F3F7DD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C4F82-6D42-41BD-942A-03BFA148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492729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BEE30-BB4A-449D-BF30-B60E233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4EE45-2AC1-42A7-AF13-FD36D77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Proiezione startup: possibile solo con disciplina commerciale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611B-F7E6-46FB-872B-EBDBFAA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2926C-17F5-4871-B76D-15AA2CA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Anno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88D22-7E88-4F1C-85D6-A5D2BB09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Mix installazioni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91C1A-95F9-4206-8D87-DC047A2F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Ricavi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0B0CA-2389-4B31-B4FE-13027E45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Gross profit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E78D0-91CE-4B3A-B94F-9913807A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11603-F280-4442-816F-9D39732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EBITDA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EBA7A-4A8D-48B6-AE22-E8582FBD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5AB80-3B08-4AAB-AFA0-6F898C53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2B52B-989E-4D97-99A0-D4695172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hospitality + 2 essiccazione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BE8E3-1719-4D1E-81BF-8E818486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264k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60AC8-E05D-4F10-950A-AA3C284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79k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6F028-35C8-4CC0-98D9-F71856BB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180k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10E25-3AEF-4298-B312-B4D7A50F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-101k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2D476-7058-4A4E-B734-89B631E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6BD32-27E3-45A5-AB22-4CAE603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C472A-B6B4-46E5-B8AA-1FAB6FF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20 hospitality + 10 essiccazione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3A1BF-A2FF-42B0-8B6F-C5E2DB8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1,10M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AF194-770B-4D26-9CA4-E2D9DD4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341k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184CC-30D2-41DA-987C-8D5CD881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300k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00653-AADC-40FF-951F-A880ACAD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E62D3-E33A-4C42-A846-3246F17D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6DEE7-1292-44A9-9A40-C617D78A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880FB-ACCD-474B-8AE0-63B9E50D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45 hospitality + 25 essiccazione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73CFF-D3D7-462A-9525-A80A387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2,64M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7B8F1-0B1E-4913-8105-2EB64505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823k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52B3E-A348-42E6-A310-4D9466C5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500k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0FFC8-99BE-41BD-A4D7-6D30584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243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323k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EBA91-013A-4059-91E4-F36889A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4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0193C-85B8-4790-96F4-66733006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7640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9112D3-D8ED-4E43-B51E-360676A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57819F-D8D0-4292-89CB-C2E176C7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CB827-64A5-49B9-BB52-5AB00FA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1619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C3E2ED-3DD3-4E9A-A975-75973A9D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19621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24DF34-5FB9-47C5-BA2E-3A61A85D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44D8DB-590C-4F3F-AC7A-1597EC5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2451100" cy="8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19EB32-EE95-46D2-A24D-FAB8A39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9555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-101.000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ADDA1F-531A-461D-8102-04A88BA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C64FE9-244C-4059-AD89-B9F6AA39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5686425"/>
            <a:ext cx="245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986D24-8DD2-4C7F-A7C7-5EAA121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419725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41.000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40ED70-0E0F-4041-8A72-FBCCF4D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9031E4-26B0-4B49-8A41-C725455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461260"/>
            <a:ext cx="2451100" cy="272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610FD8-A152-4DD3-A3CC-674529F6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519456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323.000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84CFFB-EA68-4F4E-9BAB-07C51520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D8E6A-4238-4CCC-80C9-C64514F6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46B"/>
                </a:solidFill>
              </a:defRPr>
            </a:pPr>
            <a:r>
              <a:rPr sz="1200" b="1">
                <a:solidFill>
                  <a:srgbClr val="5A646B"/>
                </a:solidFill>
              </a:rPr>
              <a:t>EBITDA scenario disciplinato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462EB9-09B3-4B82-A697-B0C69F9B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16D74D-FD1A-4735-B552-F2ABF5D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02576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CBDF78-106A-4EC6-8A83-F28BA67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9C41F-F246-44D3-9E5E-934B38DA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Rischi, compliance e kill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EC06C-B173-426D-848F-FE67D9F2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EE51B-7F6D-4BF4-9754-1AF6BBD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Rischio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6A2DB-5B9A-4139-995C-A9A86539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Come si controlla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8DB86-1D76-4128-9B24-3FE7163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Stop se...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E1CC1-2118-422C-A664-4E709979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A33BA-8AE6-4673-B73C-B440FC4D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Energia cara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2C6BD-56E9-4068-86B0-4202B8DD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82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cliente con FV/contratto buono; soglia kWh calcolata da bolletta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5AF8A-9BD4-4F1A-AD1A-D05A9E2E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82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costo energia &gt; soglia per 6 mesi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6D099-2822-41F9-8706-1947F69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765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A75A8-861E-4941-B948-FE6C0F6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385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non usato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5E4D4-EF28-49B5-A268-FAB4AC6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6385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contatore termico e log ore utili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5C1BB-78A0-4F9D-AF62-81A056A8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6385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 &lt;3.500 hospitality o &lt;3.000 essiccazione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08F93-6EA7-4C11-B392-0CCB27F3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1C05A-FDE7-457D-8B73-9D24C91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Installazione pericolosa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2CBE-29A1-49D1-A2C0-F75DDF8F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1947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DICO, elettricista/termotecnico, assicurazione 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20597-118C-49C2-9D38-B3560D02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1947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 incidente grave o near-miss ripetuto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232DC-DC92-4E86-BEAF-C52A538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89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8BAFF-4774-45AE-ABA8-F12C76AB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51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BTC/difficulty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A6C9F-B5F0-4BFF-862F-5DE7DD2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51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basare vendita su prezzo BTC; sensitivity trasparente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E552C-4B9E-44C9-8F33-7E0E48D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751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ROI dipende solo da BTC alto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0A529-E4DD-413C-B26A-A30F5D11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45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B6995-74DC-44C9-9942-E8D2DA3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07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Regolatorio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F34BD-D42B-45A9-A0BA-F67D2A5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07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 custody, no gestione fondi, wallet/pool intestati al cliente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AF9BDC-AA0C-435D-BC67-90F65C59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07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serve autorizzazione finanziaria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B2BBC2-B255-406A-BB9D-EDFDF94C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B974D-F0BB-475B-9DE2-24F6FCB1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57530-C845-4A56-B0C8-B42DD1B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962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D4202-241C-4334-957A-C68A0AA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Kill criteria principale: 5 siti paganti devono dimostrare beneficio netto &gt; EUR 1.500/anno o valore produttivo documentato.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193FD-BD00-4055-9A66-3890AE3D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regolatorie: modello evita custodia/servizi finanziari; impianti da eseguire con professionisti abilitati.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114BE-CAA3-49F0-BCAB-5BC8E62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983157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D4F08-4D24-4675-87E2-B100219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5A1A0-4BF4-4DFA-9FB3-B9345490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Decisione proposta e richiesta al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EF177-AA5D-492B-B139-49140D7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Procedere con un pilota commerciale, non con una startup industriale 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B71E8-7582-4AB0-850B-F83597BC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1F1AE-CCE1-4860-9E58-880F9CF8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6C62"/>
                </a:solidFill>
              </a:defRPr>
            </a:pPr>
            <a:r>
              <a:rPr sz="2250" b="0">
                <a:solidFill>
                  <a:srgbClr val="176C62"/>
                </a:solidFill>
              </a:rPr>
              <a:t>Fare 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F06B9-BFBD-4724-880F-502D206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 dimostratore + 3 strutture hospitality + 2 siti essiccazione. Tutti con contatore termico e dati pubblicabili.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54E38-D8FB-4C3C-8A82-26BEAE9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7AAE6-FA19-4231-9E1D-CCFA683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F4C9B"/>
                </a:solidFill>
              </a:defRPr>
            </a:pPr>
            <a:r>
              <a:rPr sz="2250" b="0">
                <a:solidFill>
                  <a:srgbClr val="2F4C9B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05B82-66CF-4EC6-BD7F-2C72C585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per MVP; EUR 120-250k per 5 piloti paganti e manuale installazione.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5DCAA-A927-4534-BD56-A1C11A3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77B9D-6C6E-4725-96A5-E97E0C8A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4B3A"/>
                </a:solidFill>
              </a:defRPr>
            </a:pPr>
            <a:r>
              <a:rPr sz="2250" b="0">
                <a:solidFill>
                  <a:srgbClr val="B84B3A"/>
                </a:solidFill>
              </a:rPr>
              <a:t>Non fare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18DD5-E00B-425A-AE86-ED8868CA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Hardware proprietario, vendita B2C larga, promessa di rendita BTC o acqua calda gratis.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B6060-433E-45DD-84E1-5B42A3C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Ask: accesso a 5 clienti pilota, installatore termotecnico partner, budget MVP e disponibilita a fermarsi se i dati non tengono.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805C9-D68E-4CD2-B993-32102DCC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0D52A-6E43-4BC8-9B9E-58D758F2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219343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352F4-D26B-4438-8DFF-A629850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55B2E-E24A-40DC-8AFA-C55A749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Appendice fonti e assunzioni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C6C37-40B6-4A22-9146-4989C02F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9C3DB-67FB-4E9D-A90C-8DD5A6E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Fonte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FC005-132F-45C2-887F-526403A6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Uso nel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5559C-F96F-4445-A19F-689E76C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953CC-9CFB-4AF1-A748-C877CDEA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Turismo C19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0A48A-C061-4F79-9DDB-176BBEB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82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466,2M presenze; 32.943 alberghi; 232.376 extra-alberghieri; agriturismi e B&amp;B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57F62-C916-43C7-86D0-D8BE1CCC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480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9B970-811F-42E7-B113-6E04284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100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Agricoltura C13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722A8-9142-4CCD-9306-7309191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100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1,13M aziende agricole; 6% attivita connesse; agriturismi &gt;26k; struttura agricola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9BAA0-9930-44B3-9246-51788931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EBAE7-BCF8-4821-B92E-E3A0673E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377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GSE Solare FV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E48FD-E2F4-489F-8997-B7E7CC13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1,875M impianti FV Italia; 50.297 impianti FV Trentino-Alto Adige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80617-1D93-48D7-89E4-38DD1CE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03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8C413-BECA-4736-9C03-F6C2979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65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Modello BTC/ASIC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1EE64-924A-49CE-96E2-A354EA0C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65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ASIC S21 200 TH/s, 3,56 kW; BTC EUR 55.889; ricavo mining EUR 62/MWh elettrico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0955F-E7A0-4F49-BD49-5BC3E0E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77141-A8EF-4A65-A749-67AC2F8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93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Benchmark competitor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BDCFF-D23B-4D99-8081-24B397F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93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Heatbit, 21Energy, RY3T: heater/miner aria e soluzioni idroniche come validazione di mercato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7F205-4DA6-486D-8B15-C280E35D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6E2FC-8824-446D-A488-B00F4F17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83439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88604-B19C-40C6-9570-632F860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 stime SAM/SOM, payback e proiezioni sono derivate: vanno validate con bollette, ore termiche e dati di processo dei singoli siti pilota.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F832F-628B-4159-847F-B849139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Link principali: istat.it/storage/ASI/2025/capitoli/C19.pdf; C13.pdf; research/output/model_data.json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EB6FC-4E2F-4A87-A2EB-571427C2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2851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2026-06-21T14:40:49.2620000Z</dcterms:created>
  <dcterms:modified xsi:type="dcterms:W3CDTF">2026-06-21T14:40:49.2620000Z</dcterms:modified>
</coreProperties>
</file>